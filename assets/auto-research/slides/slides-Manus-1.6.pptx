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05"/>
    <p:restoredTop sz="94610"/>
  </p:normalViewPr>
  <p:slideViewPr>
    <p:cSldViewPr snapToGrid="0" snapToObjects="1">
      <p:cViewPr>
        <p:scale>
          <a:sx n="121" d="100"/>
          <a:sy n="121" d="100"/>
        </p:scale>
        <p:origin x="3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24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14350" y="614363"/>
            <a:ext cx="4929188" cy="146447"/>
          </a:xfrm>
          <a:prstGeom prst="rect">
            <a:avLst/>
          </a:prstGeom>
          <a:noFill/>
          <a:ln/>
        </p:spPr>
        <p:txBody>
          <a:bodyPr wrap="square" lIns="0" tIns="0" rIns="0" bIns="0" rtlCol="0" anchor="t">
            <a:spAutoFit/>
          </a:bodyPr>
          <a:lstStyle/>
          <a:p>
            <a:pPr marL="0" indent="0" algn="l">
              <a:buNone/>
            </a:pPr>
            <a:r>
              <a:rPr lang="en-US" sz="900" b="1" kern="0" spc="2" dirty="0">
                <a:solidFill>
                  <a:srgbClr val="2F6F73"/>
                </a:solidFill>
                <a:latin typeface="Space Grotesk Bold" pitchFamily="34" charset="0"/>
                <a:ea typeface="Space Grotesk Bold" pitchFamily="34" charset="-122"/>
                <a:cs typeface="Space Grotesk Bold" pitchFamily="34" charset="-120"/>
              </a:rPr>
              <a:t>PAPER INTRODUCTION DECK</a:t>
            </a:r>
            <a:endParaRPr lang="en-US" sz="900" dirty="0"/>
          </a:p>
        </p:txBody>
      </p:sp>
      <p:sp>
        <p:nvSpPr>
          <p:cNvPr id="4" name="Text 1"/>
          <p:cNvSpPr/>
          <p:nvPr/>
        </p:nvSpPr>
        <p:spPr>
          <a:xfrm>
            <a:off x="514350" y="1146572"/>
            <a:ext cx="4822031" cy="849015"/>
          </a:xfrm>
          <a:prstGeom prst="rect">
            <a:avLst/>
          </a:prstGeom>
          <a:noFill/>
          <a:ln/>
        </p:spPr>
        <p:txBody>
          <a:bodyPr wrap="square" lIns="0" tIns="0" rIns="0" bIns="0" rtlCol="0" anchor="t">
            <a:spAutoFit/>
          </a:bodyPr>
          <a:lstStyle/>
          <a:p>
            <a:pPr marL="0" indent="0" algn="l">
              <a:lnSpc>
                <a:spcPct val="75200"/>
              </a:lnSpc>
              <a:buNone/>
            </a:pPr>
            <a:r>
              <a:rPr lang="en-US" sz="3600" b="1" kern="0" spc="-3" dirty="0">
                <a:solidFill>
                  <a:srgbClr val="1B2430"/>
                </a:solidFill>
                <a:latin typeface="Space Grotesk Bold" pitchFamily="34" charset="0"/>
                <a:ea typeface="Space Grotesk Bold" pitchFamily="34" charset="-122"/>
                <a:cs typeface="Space Grotesk Bold" pitchFamily="34" charset="-120"/>
              </a:rPr>
              <a:t>AI for Auto-Research: </a:t>
            </a:r>
          </a:p>
          <a:p>
            <a:pPr marL="0" indent="0" algn="l">
              <a:lnSpc>
                <a:spcPct val="75200"/>
              </a:lnSpc>
              <a:buNone/>
            </a:pPr>
            <a:r>
              <a:rPr lang="en-US" sz="3600" b="1" kern="0" spc="-3" dirty="0">
                <a:solidFill>
                  <a:srgbClr val="1B2430"/>
                </a:solidFill>
                <a:latin typeface="Space Grotesk Bold" pitchFamily="34" charset="0"/>
                <a:ea typeface="Space Grotesk Bold" pitchFamily="34" charset="-122"/>
                <a:cs typeface="Space Grotesk Bold" pitchFamily="34" charset="-120"/>
              </a:rPr>
              <a:t>A Survey</a:t>
            </a:r>
            <a:endParaRPr lang="en-US" sz="3600" dirty="0"/>
          </a:p>
        </p:txBody>
      </p:sp>
      <p:sp>
        <p:nvSpPr>
          <p:cNvPr id="5" name="Text 2"/>
          <p:cNvSpPr/>
          <p:nvPr/>
        </p:nvSpPr>
        <p:spPr>
          <a:xfrm>
            <a:off x="514350" y="2286670"/>
            <a:ext cx="4429125" cy="482203"/>
          </a:xfrm>
          <a:prstGeom prst="rect">
            <a:avLst/>
          </a:prstGeom>
          <a:noFill/>
          <a:ln/>
        </p:spPr>
        <p:txBody>
          <a:bodyPr wrap="square" lIns="0" tIns="0" rIns="0" bIns="0" rtlCol="0" anchor="t">
            <a:spAutoFit/>
          </a:bodyPr>
          <a:lstStyle/>
          <a:p>
            <a:pPr marL="0" indent="0" algn="l">
              <a:lnSpc>
                <a:spcPct val="100000"/>
              </a:lnSpc>
              <a:buNone/>
            </a:pPr>
            <a:r>
              <a:rPr lang="en-US" sz="1450" dirty="0">
                <a:solidFill>
                  <a:srgbClr val="1B2430">
                    <a:alpha val="82000"/>
                  </a:srgbClr>
                </a:solidFill>
                <a:latin typeface="Inter" pitchFamily="34" charset="0"/>
                <a:ea typeface="Inter" pitchFamily="34" charset="-122"/>
                <a:cs typeface="Inter" pitchFamily="34" charset="-120"/>
              </a:rPr>
              <a:t>Introducing the complete lifecycle of AI-assisted academic research</a:t>
            </a:r>
            <a:endParaRPr lang="en-US" sz="1450" dirty="0"/>
          </a:p>
        </p:txBody>
      </p:sp>
      <p:sp>
        <p:nvSpPr>
          <p:cNvPr id="6" name="Text 3"/>
          <p:cNvSpPr/>
          <p:nvPr/>
        </p:nvSpPr>
        <p:spPr>
          <a:xfrm>
            <a:off x="514350" y="3383235"/>
            <a:ext cx="4357688" cy="246459"/>
          </a:xfrm>
          <a:prstGeom prst="rect">
            <a:avLst/>
          </a:prstGeom>
          <a:noFill/>
          <a:ln/>
        </p:spPr>
        <p:txBody>
          <a:bodyPr wrap="square" lIns="0" tIns="119126" rIns="0" bIns="0" rtlCol="0" anchor="t">
            <a:spAutoFit/>
          </a:bodyPr>
          <a:lstStyle/>
          <a:p>
            <a:pPr marL="0" indent="0" algn="l">
              <a:buNone/>
            </a:pPr>
            <a:r>
              <a:rPr lang="en-US" sz="850" dirty="0">
                <a:solidFill>
                  <a:srgbClr val="1B2430">
                    <a:alpha val="68000"/>
                  </a:srgbClr>
                </a:solidFill>
                <a:latin typeface="Inter" pitchFamily="34" charset="0"/>
                <a:ea typeface="Inter" pitchFamily="34" charset="-122"/>
                <a:cs typeface="Inter" pitchFamily="34" charset="-120"/>
              </a:rPr>
              <a:t>Prepared from Kong et al., </a:t>
            </a:r>
            <a:r>
              <a:rPr lang="en-US" sz="850" i="1" dirty="0">
                <a:solidFill>
                  <a:srgbClr val="1B2430">
                    <a:alpha val="68000"/>
                  </a:srgbClr>
                </a:solidFill>
                <a:latin typeface="Inter" pitchFamily="34" charset="0"/>
                <a:ea typeface="Inter" pitchFamily="34" charset="-122"/>
                <a:cs typeface="Inter" pitchFamily="34" charset="-120"/>
              </a:rPr>
              <a:t>AI for Auto-Research: A Survey</a:t>
            </a:r>
            <a:r>
              <a:rPr lang="en-US" sz="850" dirty="0">
                <a:solidFill>
                  <a:srgbClr val="1B2430">
                    <a:alpha val="68000"/>
                  </a:srgbClr>
                </a:solidFill>
                <a:latin typeface="Inter" pitchFamily="34" charset="0"/>
                <a:ea typeface="Inter" pitchFamily="34" charset="-122"/>
                <a:cs typeface="Inter" pitchFamily="34" charset="-120"/>
              </a:rPr>
              <a:t> (2026)</a:t>
            </a:r>
            <a:endParaRPr lang="en-US" sz="850" dirty="0"/>
          </a:p>
        </p:txBody>
      </p:sp>
      <p:sp>
        <p:nvSpPr>
          <p:cNvPr id="7" name="Shape 4"/>
          <p:cNvSpPr/>
          <p:nvPr/>
        </p:nvSpPr>
        <p:spPr>
          <a:xfrm>
            <a:off x="7343775" y="807244"/>
            <a:ext cx="385763" cy="385763"/>
          </a:xfrm>
          <a:prstGeom prst="ellipse">
            <a:avLst/>
          </a:prstGeom>
          <a:solidFill>
            <a:srgbClr val="F7F2E8"/>
          </a:solidFill>
          <a:ln w="18288">
            <a:solidFill>
              <a:srgbClr val="1B2430"/>
            </a:solidFill>
            <a:prstDash val="solid"/>
          </a:ln>
        </p:spPr>
        <p:txBody>
          <a:bodyPr/>
          <a:lstStyle/>
          <a:p>
            <a:endParaRPr lang="en-US"/>
          </a:p>
        </p:txBody>
      </p:sp>
      <p:sp>
        <p:nvSpPr>
          <p:cNvPr id="8" name="Text 5"/>
          <p:cNvSpPr/>
          <p:nvPr/>
        </p:nvSpPr>
        <p:spPr>
          <a:xfrm>
            <a:off x="7343775" y="807244"/>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S1</a:t>
            </a:r>
            <a:endParaRPr lang="en-US" sz="900" dirty="0"/>
          </a:p>
        </p:txBody>
      </p:sp>
      <p:sp>
        <p:nvSpPr>
          <p:cNvPr id="9" name="Shape 6"/>
          <p:cNvSpPr/>
          <p:nvPr/>
        </p:nvSpPr>
        <p:spPr>
          <a:xfrm>
            <a:off x="8365331" y="1271588"/>
            <a:ext cx="385763" cy="385763"/>
          </a:xfrm>
          <a:prstGeom prst="ellipse">
            <a:avLst/>
          </a:prstGeom>
          <a:solidFill>
            <a:srgbClr val="F7F2E8"/>
          </a:solidFill>
          <a:ln w="18288">
            <a:solidFill>
              <a:srgbClr val="1B2430"/>
            </a:solidFill>
            <a:prstDash val="solid"/>
          </a:ln>
        </p:spPr>
        <p:txBody>
          <a:bodyPr/>
          <a:lstStyle/>
          <a:p>
            <a:endParaRPr lang="en-US"/>
          </a:p>
        </p:txBody>
      </p:sp>
      <p:sp>
        <p:nvSpPr>
          <p:cNvPr id="10" name="Text 7"/>
          <p:cNvSpPr/>
          <p:nvPr/>
        </p:nvSpPr>
        <p:spPr>
          <a:xfrm>
            <a:off x="8365331" y="1271588"/>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S2</a:t>
            </a:r>
            <a:endParaRPr lang="en-US" sz="900" dirty="0"/>
          </a:p>
        </p:txBody>
      </p:sp>
      <p:sp>
        <p:nvSpPr>
          <p:cNvPr id="11" name="Shape 8"/>
          <p:cNvSpPr/>
          <p:nvPr/>
        </p:nvSpPr>
        <p:spPr>
          <a:xfrm>
            <a:off x="8758238" y="2300288"/>
            <a:ext cx="385763" cy="385763"/>
          </a:xfrm>
          <a:prstGeom prst="ellipse">
            <a:avLst/>
          </a:prstGeom>
          <a:solidFill>
            <a:srgbClr val="F7F2E8"/>
          </a:solidFill>
          <a:ln w="18288">
            <a:solidFill>
              <a:srgbClr val="1B2430"/>
            </a:solidFill>
            <a:prstDash val="solid"/>
          </a:ln>
        </p:spPr>
        <p:txBody>
          <a:bodyPr/>
          <a:lstStyle/>
          <a:p>
            <a:endParaRPr lang="en-US"/>
          </a:p>
        </p:txBody>
      </p:sp>
      <p:sp>
        <p:nvSpPr>
          <p:cNvPr id="12" name="Text 9"/>
          <p:cNvSpPr/>
          <p:nvPr/>
        </p:nvSpPr>
        <p:spPr>
          <a:xfrm>
            <a:off x="8758238" y="2300288"/>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S3</a:t>
            </a:r>
            <a:endParaRPr lang="en-US" sz="900" dirty="0"/>
          </a:p>
        </p:txBody>
      </p:sp>
      <p:sp>
        <p:nvSpPr>
          <p:cNvPr id="13" name="Shape 10"/>
          <p:cNvSpPr/>
          <p:nvPr/>
        </p:nvSpPr>
        <p:spPr>
          <a:xfrm>
            <a:off x="8272463" y="3278981"/>
            <a:ext cx="385763" cy="385763"/>
          </a:xfrm>
          <a:prstGeom prst="ellipse">
            <a:avLst/>
          </a:prstGeom>
          <a:solidFill>
            <a:srgbClr val="F7F2E8"/>
          </a:solidFill>
          <a:ln w="18288">
            <a:solidFill>
              <a:srgbClr val="1B2430"/>
            </a:solidFill>
            <a:prstDash val="solid"/>
          </a:ln>
        </p:spPr>
        <p:txBody>
          <a:bodyPr/>
          <a:lstStyle/>
          <a:p>
            <a:endParaRPr lang="en-US"/>
          </a:p>
        </p:txBody>
      </p:sp>
      <p:sp>
        <p:nvSpPr>
          <p:cNvPr id="14" name="Text 11"/>
          <p:cNvSpPr/>
          <p:nvPr/>
        </p:nvSpPr>
        <p:spPr>
          <a:xfrm>
            <a:off x="8272463" y="3278981"/>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S4</a:t>
            </a:r>
            <a:endParaRPr lang="en-US" sz="900" dirty="0"/>
          </a:p>
        </p:txBody>
      </p:sp>
      <p:sp>
        <p:nvSpPr>
          <p:cNvPr id="15" name="Shape 12"/>
          <p:cNvSpPr/>
          <p:nvPr/>
        </p:nvSpPr>
        <p:spPr>
          <a:xfrm>
            <a:off x="7286625" y="3657600"/>
            <a:ext cx="385763" cy="385763"/>
          </a:xfrm>
          <a:prstGeom prst="ellipse">
            <a:avLst/>
          </a:prstGeom>
          <a:solidFill>
            <a:srgbClr val="F7F2E8"/>
          </a:solidFill>
          <a:ln w="18288">
            <a:solidFill>
              <a:srgbClr val="1B2430"/>
            </a:solidFill>
            <a:prstDash val="solid"/>
          </a:ln>
        </p:spPr>
        <p:txBody>
          <a:bodyPr/>
          <a:lstStyle/>
          <a:p>
            <a:endParaRPr lang="en-US"/>
          </a:p>
        </p:txBody>
      </p:sp>
      <p:sp>
        <p:nvSpPr>
          <p:cNvPr id="16" name="Text 13"/>
          <p:cNvSpPr/>
          <p:nvPr/>
        </p:nvSpPr>
        <p:spPr>
          <a:xfrm>
            <a:off x="7286625" y="3657600"/>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S5</a:t>
            </a:r>
            <a:endParaRPr lang="en-US" sz="900" dirty="0"/>
          </a:p>
        </p:txBody>
      </p:sp>
      <p:sp>
        <p:nvSpPr>
          <p:cNvPr id="17" name="Shape 14"/>
          <p:cNvSpPr/>
          <p:nvPr/>
        </p:nvSpPr>
        <p:spPr>
          <a:xfrm>
            <a:off x="6293644" y="3236119"/>
            <a:ext cx="385763" cy="385763"/>
          </a:xfrm>
          <a:prstGeom prst="ellipse">
            <a:avLst/>
          </a:prstGeom>
          <a:solidFill>
            <a:srgbClr val="F7F2E8"/>
          </a:solidFill>
          <a:ln w="18288">
            <a:solidFill>
              <a:srgbClr val="1B2430"/>
            </a:solidFill>
            <a:prstDash val="solid"/>
          </a:ln>
        </p:spPr>
        <p:txBody>
          <a:bodyPr/>
          <a:lstStyle/>
          <a:p>
            <a:endParaRPr lang="en-US"/>
          </a:p>
        </p:txBody>
      </p:sp>
      <p:sp>
        <p:nvSpPr>
          <p:cNvPr id="18" name="Text 15"/>
          <p:cNvSpPr/>
          <p:nvPr/>
        </p:nvSpPr>
        <p:spPr>
          <a:xfrm>
            <a:off x="6293644" y="3236119"/>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S6</a:t>
            </a:r>
            <a:endParaRPr lang="en-US" sz="900" dirty="0"/>
          </a:p>
        </p:txBody>
      </p:sp>
      <p:sp>
        <p:nvSpPr>
          <p:cNvPr id="19" name="Shape 16"/>
          <p:cNvSpPr/>
          <p:nvPr/>
        </p:nvSpPr>
        <p:spPr>
          <a:xfrm>
            <a:off x="5886450" y="2228850"/>
            <a:ext cx="385763" cy="385763"/>
          </a:xfrm>
          <a:prstGeom prst="ellipse">
            <a:avLst/>
          </a:prstGeom>
          <a:solidFill>
            <a:srgbClr val="F7F2E8"/>
          </a:solidFill>
          <a:ln w="18288">
            <a:solidFill>
              <a:srgbClr val="1B2430"/>
            </a:solidFill>
            <a:prstDash val="solid"/>
          </a:ln>
        </p:spPr>
        <p:txBody>
          <a:bodyPr/>
          <a:lstStyle/>
          <a:p>
            <a:endParaRPr lang="en-US"/>
          </a:p>
        </p:txBody>
      </p:sp>
      <p:sp>
        <p:nvSpPr>
          <p:cNvPr id="20" name="Text 17"/>
          <p:cNvSpPr/>
          <p:nvPr/>
        </p:nvSpPr>
        <p:spPr>
          <a:xfrm>
            <a:off x="5886450" y="2228850"/>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S7</a:t>
            </a:r>
            <a:endParaRPr lang="en-US" sz="900" dirty="0"/>
          </a:p>
        </p:txBody>
      </p:sp>
      <p:sp>
        <p:nvSpPr>
          <p:cNvPr id="21" name="Shape 18"/>
          <p:cNvSpPr/>
          <p:nvPr/>
        </p:nvSpPr>
        <p:spPr>
          <a:xfrm>
            <a:off x="6315075" y="1243013"/>
            <a:ext cx="385763" cy="385763"/>
          </a:xfrm>
          <a:prstGeom prst="ellipse">
            <a:avLst/>
          </a:prstGeom>
          <a:solidFill>
            <a:srgbClr val="F7F2E8"/>
          </a:solidFill>
          <a:ln w="18288">
            <a:solidFill>
              <a:srgbClr val="1B2430"/>
            </a:solidFill>
            <a:prstDash val="solid"/>
          </a:ln>
        </p:spPr>
        <p:txBody>
          <a:bodyPr/>
          <a:lstStyle/>
          <a:p>
            <a:endParaRPr lang="en-US"/>
          </a:p>
        </p:txBody>
      </p:sp>
      <p:sp>
        <p:nvSpPr>
          <p:cNvPr id="22" name="Text 19"/>
          <p:cNvSpPr/>
          <p:nvPr/>
        </p:nvSpPr>
        <p:spPr>
          <a:xfrm>
            <a:off x="6315075" y="1243013"/>
            <a:ext cx="385763" cy="385763"/>
          </a:xfrm>
          <a:prstGeom prst="rect">
            <a:avLst/>
          </a:prstGeom>
          <a:noFill/>
          <a:ln/>
        </p:spPr>
        <p:txBody>
          <a:bodyPr wrap="none" lIns="0" tIns="0" rIns="0" bIns="0" rtlCol="0" anchor="ctr">
            <a:spAutoFit/>
          </a:bodyPr>
          <a:lstStyle/>
          <a:p>
            <a:pPr marL="0" indent="0" algn="ctr">
              <a:buNone/>
            </a:pPr>
            <a:r>
              <a:rPr lang="en-US" sz="900" b="1" dirty="0">
                <a:solidFill>
                  <a:srgbClr val="C06C3E"/>
                </a:solidFill>
                <a:latin typeface="Space Grotesk Bold" pitchFamily="34" charset="0"/>
                <a:ea typeface="Space Grotesk Bold" pitchFamily="34" charset="-122"/>
                <a:cs typeface="Space Grotesk Bold" pitchFamily="34" charset="-120"/>
              </a:rPr>
              <a:t>S8</a:t>
            </a:r>
            <a:endParaRPr lang="en-US" sz="900" dirty="0"/>
          </a:p>
        </p:txBody>
      </p:sp>
      <p:sp>
        <p:nvSpPr>
          <p:cNvPr id="23" name="Text 20"/>
          <p:cNvSpPr/>
          <p:nvPr/>
        </p:nvSpPr>
        <p:spPr>
          <a:xfrm>
            <a:off x="7294428" y="1957388"/>
            <a:ext cx="413575" cy="115416"/>
          </a:xfrm>
          <a:prstGeom prst="rect">
            <a:avLst/>
          </a:prstGeom>
          <a:noFill/>
          <a:ln/>
        </p:spPr>
        <p:txBody>
          <a:bodyPr wrap="none" lIns="0" tIns="0" rIns="0" bIns="0" rtlCol="0" anchor="t">
            <a:spAutoFit/>
          </a:bodyPr>
          <a:lstStyle/>
          <a:p>
            <a:pPr marL="0" indent="0" algn="ctr">
              <a:buNone/>
            </a:pPr>
            <a:r>
              <a:rPr lang="en-US" sz="750" b="1" dirty="0">
                <a:solidFill>
                  <a:srgbClr val="2F6F73"/>
                </a:solidFill>
                <a:latin typeface="Inter Bold" pitchFamily="34" charset="0"/>
                <a:ea typeface="Inter Bold" pitchFamily="34" charset="-122"/>
                <a:cs typeface="Inter Bold" pitchFamily="34" charset="-120"/>
              </a:rPr>
              <a:t>CREATION</a:t>
            </a:r>
            <a:endParaRPr lang="en-US" sz="750" dirty="0"/>
          </a:p>
        </p:txBody>
      </p:sp>
      <p:sp>
        <p:nvSpPr>
          <p:cNvPr id="24" name="Text 21"/>
          <p:cNvSpPr/>
          <p:nvPr/>
        </p:nvSpPr>
        <p:spPr>
          <a:xfrm>
            <a:off x="8129795" y="2400300"/>
            <a:ext cx="494286" cy="123230"/>
          </a:xfrm>
          <a:prstGeom prst="rect">
            <a:avLst/>
          </a:prstGeom>
          <a:noFill/>
          <a:ln/>
        </p:spPr>
        <p:txBody>
          <a:bodyPr wrap="none" lIns="0" tIns="0" rIns="0" bIns="0" rtlCol="0" anchor="t">
            <a:spAutoFit/>
          </a:bodyPr>
          <a:lstStyle/>
          <a:p>
            <a:pPr marL="0" indent="0" algn="l">
              <a:buNone/>
            </a:pPr>
            <a:r>
              <a:rPr lang="en-US" sz="750" b="1" dirty="0">
                <a:solidFill>
                  <a:srgbClr val="2F6F73"/>
                </a:solidFill>
                <a:latin typeface="Inter Bold" pitchFamily="34" charset="0"/>
                <a:ea typeface="Inter Bold" pitchFamily="34" charset="-122"/>
                <a:cs typeface="Inter Bold" pitchFamily="34" charset="-120"/>
              </a:rPr>
              <a:t>WRITING</a:t>
            </a:r>
            <a:endParaRPr lang="en-US" sz="750" dirty="0"/>
          </a:p>
        </p:txBody>
      </p:sp>
      <p:sp>
        <p:nvSpPr>
          <p:cNvPr id="25" name="Text 22"/>
          <p:cNvSpPr/>
          <p:nvPr/>
        </p:nvSpPr>
        <p:spPr>
          <a:xfrm>
            <a:off x="7291129" y="2857500"/>
            <a:ext cx="501740" cy="115416"/>
          </a:xfrm>
          <a:prstGeom prst="rect">
            <a:avLst/>
          </a:prstGeom>
          <a:noFill/>
          <a:ln/>
        </p:spPr>
        <p:txBody>
          <a:bodyPr wrap="none" lIns="0" tIns="0" rIns="0" bIns="0" rtlCol="0" anchor="t">
            <a:spAutoFit/>
          </a:bodyPr>
          <a:lstStyle/>
          <a:p>
            <a:pPr marL="0" indent="0" algn="ctr">
              <a:buNone/>
            </a:pPr>
            <a:r>
              <a:rPr lang="en-US" sz="750" b="1" dirty="0">
                <a:solidFill>
                  <a:srgbClr val="2F6F73"/>
                </a:solidFill>
                <a:latin typeface="Inter Bold" pitchFamily="34" charset="0"/>
                <a:ea typeface="Inter Bold" pitchFamily="34" charset="-122"/>
                <a:cs typeface="Inter Bold" pitchFamily="34" charset="-120"/>
              </a:rPr>
              <a:t>VALIDATION</a:t>
            </a:r>
            <a:endParaRPr lang="en-US" sz="750" dirty="0"/>
          </a:p>
        </p:txBody>
      </p:sp>
      <p:sp>
        <p:nvSpPr>
          <p:cNvPr id="26" name="Text 23"/>
          <p:cNvSpPr/>
          <p:nvPr/>
        </p:nvSpPr>
        <p:spPr>
          <a:xfrm>
            <a:off x="6594183" y="2400300"/>
            <a:ext cx="899108" cy="123230"/>
          </a:xfrm>
          <a:prstGeom prst="rect">
            <a:avLst/>
          </a:prstGeom>
          <a:noFill/>
          <a:ln/>
        </p:spPr>
        <p:txBody>
          <a:bodyPr wrap="none" lIns="0" tIns="0" rIns="0" bIns="0" rtlCol="0" anchor="t">
            <a:spAutoFit/>
          </a:bodyPr>
          <a:lstStyle/>
          <a:p>
            <a:pPr marL="0" indent="0" algn="l">
              <a:buNone/>
            </a:pPr>
            <a:r>
              <a:rPr lang="en-US" sz="750" b="1" dirty="0">
                <a:solidFill>
                  <a:srgbClr val="2F6F73"/>
                </a:solidFill>
                <a:latin typeface="Inter Bold" pitchFamily="34" charset="0"/>
                <a:ea typeface="Inter Bold" pitchFamily="34" charset="-122"/>
                <a:cs typeface="Inter Bold" pitchFamily="34" charset="-120"/>
              </a:rPr>
              <a:t>DISSEMINATION</a:t>
            </a:r>
            <a:endParaRPr lang="en-US" sz="750" dirty="0"/>
          </a:p>
        </p:txBody>
      </p:sp>
      <p:sp>
        <p:nvSpPr>
          <p:cNvPr id="27" name="Text 24"/>
          <p:cNvSpPr/>
          <p:nvPr/>
        </p:nvSpPr>
        <p:spPr>
          <a:xfrm>
            <a:off x="6229350" y="4300538"/>
            <a:ext cx="2800350" cy="540051"/>
          </a:xfrm>
          <a:prstGeom prst="rect">
            <a:avLst/>
          </a:prstGeom>
          <a:noFill/>
          <a:ln/>
        </p:spPr>
        <p:txBody>
          <a:bodyPr wrap="square" lIns="0" tIns="102108" rIns="0" bIns="0" rtlCol="0" anchor="t">
            <a:spAutoFit/>
          </a:bodyPr>
          <a:lstStyle/>
          <a:p>
            <a:pPr marL="0" indent="0" algn="l">
              <a:lnSpc>
                <a:spcPct val="110400"/>
              </a:lnSpc>
              <a:buNone/>
            </a:pPr>
            <a:r>
              <a:rPr lang="en-US" sz="800" dirty="0">
                <a:solidFill>
                  <a:srgbClr val="1B2430">
                    <a:alpha val="72000"/>
                  </a:srgbClr>
                </a:solidFill>
                <a:latin typeface="Inter" pitchFamily="34" charset="0"/>
                <a:ea typeface="Inter" pitchFamily="34" charset="-122"/>
                <a:cs typeface="Inter" pitchFamily="34" charset="-120"/>
              </a:rPr>
              <a:t>Lifecycle view: from ideation and evidence gathering to manuscript writing, validation, revision, and Paper2X communication.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42913" y="328613"/>
            <a:ext cx="8258175" cy="116086"/>
          </a:xfrm>
          <a:prstGeom prst="rect">
            <a:avLst/>
          </a:prstGeom>
          <a:noFill/>
          <a:ln/>
        </p:spPr>
        <p:txBody>
          <a:bodyPr wrap="square" lIns="0" tIns="0" rIns="0" bIns="0" rtlCol="0" anchor="t">
            <a:spAutoFit/>
          </a:bodyPr>
          <a:lstStyle/>
          <a:p>
            <a:pPr marL="0" indent="0" algn="l">
              <a:buNone/>
            </a:pPr>
            <a:r>
              <a:rPr lang="en-US" sz="700" b="1" kern="0" spc="2" dirty="0">
                <a:solidFill>
                  <a:srgbClr val="2F6F73"/>
                </a:solidFill>
                <a:latin typeface="Space Grotesk Bold" pitchFamily="34" charset="0"/>
                <a:ea typeface="Space Grotesk Bold" pitchFamily="34" charset="-122"/>
                <a:cs typeface="Space Grotesk Bold" pitchFamily="34" charset="-120"/>
              </a:rPr>
              <a:t>WHY THIS SURVEY MATTERS</a:t>
            </a:r>
            <a:endParaRPr lang="en-US" sz="700" dirty="0"/>
          </a:p>
        </p:txBody>
      </p:sp>
      <p:sp>
        <p:nvSpPr>
          <p:cNvPr id="4" name="Text 1"/>
          <p:cNvSpPr/>
          <p:nvPr/>
        </p:nvSpPr>
        <p:spPr>
          <a:xfrm>
            <a:off x="442913" y="530423"/>
            <a:ext cx="6786563" cy="315023"/>
          </a:xfrm>
          <a:prstGeom prst="rect">
            <a:avLst/>
          </a:prstGeom>
          <a:noFill/>
          <a:ln/>
        </p:spPr>
        <p:txBody>
          <a:bodyPr wrap="none" lIns="0" tIns="0" rIns="0" bIns="0" rtlCol="0" anchor="t">
            <a:spAutoFit/>
          </a:bodyPr>
          <a:lstStyle/>
          <a:p>
            <a:pPr marL="0" indent="0" algn="l">
              <a:lnSpc>
                <a:spcPct val="84000"/>
              </a:lnSpc>
              <a:buNone/>
            </a:pPr>
            <a:r>
              <a:rPr lang="en-US" sz="2100" b="1" kern="0" spc="-1" dirty="0">
                <a:solidFill>
                  <a:srgbClr val="1B2430"/>
                </a:solidFill>
                <a:latin typeface="Space Grotesk Bold" pitchFamily="34" charset="0"/>
                <a:ea typeface="Space Grotesk Bold" pitchFamily="34" charset="-122"/>
                <a:cs typeface="Space Grotesk Bold" pitchFamily="34" charset="-120"/>
              </a:rPr>
              <a:t>Research automation is crossing a threshold</a:t>
            </a:r>
            <a:endParaRPr lang="en-US" sz="2100" dirty="0"/>
          </a:p>
        </p:txBody>
      </p:sp>
      <p:sp>
        <p:nvSpPr>
          <p:cNvPr id="5" name="Text 2"/>
          <p:cNvSpPr/>
          <p:nvPr/>
        </p:nvSpPr>
        <p:spPr>
          <a:xfrm>
            <a:off x="442913" y="1203610"/>
            <a:ext cx="2893219" cy="871538"/>
          </a:xfrm>
          <a:prstGeom prst="rect">
            <a:avLst/>
          </a:prstGeom>
          <a:noFill/>
          <a:ln/>
        </p:spPr>
        <p:txBody>
          <a:bodyPr wrap="square" lIns="0" tIns="0" rIns="0" bIns="0" rtlCol="0" anchor="t">
            <a:spAutoFit/>
          </a:bodyPr>
          <a:lstStyle/>
          <a:p>
            <a:pPr marL="0" indent="0" algn="l">
              <a:lnSpc>
                <a:spcPct val="97600"/>
              </a:lnSpc>
              <a:buNone/>
            </a:pPr>
            <a:r>
              <a:rPr lang="en-US" sz="1250" b="1" dirty="0">
                <a:solidFill>
                  <a:srgbClr val="C06C3E"/>
                </a:solidFill>
                <a:latin typeface="Inter Bold" pitchFamily="34" charset="0"/>
                <a:ea typeface="Inter Bold" pitchFamily="34" charset="-122"/>
                <a:cs typeface="Inter Bold" pitchFamily="34" charset="-120"/>
              </a:rPr>
              <a:t>AI systems can now produce research-like artifacts quickly, but scientific reliability has not advanced at the same pace.</a:t>
            </a:r>
            <a:endParaRPr lang="en-US" sz="1250" dirty="0"/>
          </a:p>
        </p:txBody>
      </p:sp>
      <p:sp>
        <p:nvSpPr>
          <p:cNvPr id="6" name="Text 3"/>
          <p:cNvSpPr/>
          <p:nvPr/>
        </p:nvSpPr>
        <p:spPr>
          <a:xfrm>
            <a:off x="442913" y="2246598"/>
            <a:ext cx="2893219" cy="762930"/>
          </a:xfrm>
          <a:prstGeom prst="rect">
            <a:avLst/>
          </a:prstGeom>
          <a:noFill/>
          <a:ln/>
        </p:spPr>
        <p:txBody>
          <a:bodyPr wrap="square" lIns="0" tIns="102108" rIns="0" bIns="0" rtlCol="0" anchor="t">
            <a:spAutoFit/>
          </a:bodyPr>
          <a:lstStyle/>
          <a:p>
            <a:pPr marL="0" indent="0" algn="l">
              <a:lnSpc>
                <a:spcPct val="116000"/>
              </a:lnSpc>
              <a:buNone/>
            </a:pPr>
            <a:r>
              <a:rPr lang="en-US" sz="850" dirty="0">
                <a:solidFill>
                  <a:srgbClr val="1B2430">
                    <a:alpha val="74000"/>
                  </a:srgbClr>
                </a:solidFill>
                <a:latin typeface="Inter" pitchFamily="34" charset="0"/>
                <a:ea typeface="Inter" pitchFamily="34" charset="-122"/>
                <a:cs typeface="Inter" pitchFamily="34" charset="-120"/>
              </a:rPr>
              <a:t>The survey frames the field around a central tension: generation is becoming cheap and scalable, while verification, provenance, and accountability remain difficult.</a:t>
            </a:r>
            <a:endParaRPr lang="en-US" sz="850" dirty="0"/>
          </a:p>
        </p:txBody>
      </p:sp>
      <p:sp>
        <p:nvSpPr>
          <p:cNvPr id="7" name="Text 4"/>
          <p:cNvSpPr/>
          <p:nvPr/>
        </p:nvSpPr>
        <p:spPr>
          <a:xfrm>
            <a:off x="3736181" y="1210754"/>
            <a:ext cx="1343025" cy="821531"/>
          </a:xfrm>
          <a:prstGeom prst="rect">
            <a:avLst/>
          </a:prstGeom>
          <a:noFill/>
          <a:ln/>
        </p:spPr>
        <p:txBody>
          <a:bodyPr wrap="square" lIns="0" tIns="102108" rIns="153035" bIns="8509" rtlCol="0" anchor="t">
            <a:spAutoFit/>
          </a:bodyPr>
          <a:lstStyle/>
          <a:p>
            <a:pPr marL="0" indent="0" algn="l">
              <a:lnSpc>
                <a:spcPct val="80000"/>
              </a:lnSpc>
              <a:buNone/>
            </a:pPr>
            <a:r>
              <a:rPr lang="en-US" sz="1900" b="1" kern="0" spc="-1" dirty="0">
                <a:solidFill>
                  <a:srgbClr val="C06C3E"/>
                </a:solidFill>
                <a:latin typeface="Space Grotesk Bold" pitchFamily="34" charset="0"/>
                <a:ea typeface="Space Grotesk Bold" pitchFamily="34" charset="-122"/>
                <a:cs typeface="Space Grotesk Bold" pitchFamily="34" charset="-120"/>
              </a:rPr>
              <a:t>$15</a:t>
            </a:r>
            <a:endParaRPr lang="en-US" sz="1900" dirty="0"/>
          </a:p>
        </p:txBody>
      </p:sp>
      <p:sp>
        <p:nvSpPr>
          <p:cNvPr id="8" name="Text 5"/>
          <p:cNvSpPr/>
          <p:nvPr/>
        </p:nvSpPr>
        <p:spPr>
          <a:xfrm>
            <a:off x="5079206" y="1303623"/>
            <a:ext cx="3100388" cy="155432"/>
          </a:xfrm>
          <a:prstGeom prst="rect">
            <a:avLst/>
          </a:prstGeom>
          <a:noFill/>
          <a:ln/>
        </p:spPr>
        <p:txBody>
          <a:bodyPr wrap="none" lIns="0" tIns="0" rIns="0" bIns="0" rtlCol="0" anchor="t">
            <a:spAutoFit/>
          </a:bodyPr>
          <a:lstStyle/>
          <a:p>
            <a:pPr marL="0" indent="0" algn="l">
              <a:lnSpc>
                <a:spcPct val="102400"/>
              </a:lnSpc>
              <a:buNone/>
            </a:pPr>
            <a:r>
              <a:rPr lang="en-US" sz="850" b="1" dirty="0">
                <a:solidFill>
                  <a:srgbClr val="1B2430"/>
                </a:solidFill>
                <a:latin typeface="Inter Bold" pitchFamily="34" charset="0"/>
                <a:ea typeface="Inter Bold" pitchFamily="34" charset="-122"/>
                <a:cs typeface="Inter Bold" pitchFamily="34" charset="-120"/>
              </a:rPr>
              <a:t>Approximate cost per full paper in The AI Scientist.</a:t>
            </a:r>
            <a:endParaRPr lang="en-US" sz="850" dirty="0"/>
          </a:p>
        </p:txBody>
      </p:sp>
      <p:sp>
        <p:nvSpPr>
          <p:cNvPr id="9" name="Text 6"/>
          <p:cNvSpPr/>
          <p:nvPr/>
        </p:nvSpPr>
        <p:spPr>
          <a:xfrm>
            <a:off x="5079206" y="1516205"/>
            <a:ext cx="3100388" cy="135006"/>
          </a:xfrm>
          <a:prstGeom prst="rect">
            <a:avLst/>
          </a:prstGeom>
          <a:noFill/>
          <a:ln/>
        </p:spPr>
        <p:txBody>
          <a:bodyPr wrap="none" lIns="0" tIns="0" rIns="0" bIns="0" rtlCol="0" anchor="t">
            <a:spAutoFit/>
          </a:bodyPr>
          <a:lstStyle/>
          <a:p>
            <a:pPr marL="0" indent="0" algn="l">
              <a:lnSpc>
                <a:spcPct val="108000"/>
              </a:lnSpc>
              <a:buNone/>
            </a:pPr>
            <a:r>
              <a:rPr lang="en-US" sz="750" dirty="0">
                <a:solidFill>
                  <a:srgbClr val="1B2430">
                    <a:alpha val="68000"/>
                  </a:srgbClr>
                </a:solidFill>
                <a:latin typeface="Inter" pitchFamily="34" charset="0"/>
                <a:ea typeface="Inter" pitchFamily="34" charset="-122"/>
                <a:cs typeface="Inter" pitchFamily="34" charset="-120"/>
              </a:rPr>
              <a:t>Signals that end-to-end production is becoming economically feasible.</a:t>
            </a:r>
            <a:endParaRPr lang="en-US" sz="750" dirty="0"/>
          </a:p>
        </p:txBody>
      </p:sp>
      <p:sp>
        <p:nvSpPr>
          <p:cNvPr id="10" name="Text 7"/>
          <p:cNvSpPr/>
          <p:nvPr/>
        </p:nvSpPr>
        <p:spPr>
          <a:xfrm>
            <a:off x="3736181" y="2032285"/>
            <a:ext cx="1343025" cy="821531"/>
          </a:xfrm>
          <a:prstGeom prst="rect">
            <a:avLst/>
          </a:prstGeom>
          <a:noFill/>
          <a:ln/>
        </p:spPr>
        <p:txBody>
          <a:bodyPr wrap="square" lIns="0" tIns="102108" rIns="153035" bIns="8509" rtlCol="0" anchor="t">
            <a:spAutoFit/>
          </a:bodyPr>
          <a:lstStyle/>
          <a:p>
            <a:pPr marL="0" indent="0" algn="l">
              <a:lnSpc>
                <a:spcPct val="80000"/>
              </a:lnSpc>
              <a:buNone/>
            </a:pPr>
            <a:r>
              <a:rPr lang="en-US" sz="1900" b="1" kern="0" spc="-1" dirty="0">
                <a:solidFill>
                  <a:srgbClr val="C06C3E"/>
                </a:solidFill>
                <a:latin typeface="Space Grotesk Bold" pitchFamily="34" charset="0"/>
                <a:ea typeface="Space Grotesk Bold" pitchFamily="34" charset="-122"/>
                <a:cs typeface="Space Grotesk Bold" pitchFamily="34" charset="-120"/>
              </a:rPr>
              <a:t>100</a:t>
            </a:r>
            <a:endParaRPr lang="en-US" sz="1900" dirty="0"/>
          </a:p>
        </p:txBody>
      </p:sp>
      <p:sp>
        <p:nvSpPr>
          <p:cNvPr id="11" name="Text 8"/>
          <p:cNvSpPr/>
          <p:nvPr/>
        </p:nvSpPr>
        <p:spPr>
          <a:xfrm>
            <a:off x="5079206" y="2125154"/>
            <a:ext cx="3100388" cy="310865"/>
          </a:xfrm>
          <a:prstGeom prst="rect">
            <a:avLst/>
          </a:prstGeom>
          <a:noFill/>
          <a:ln/>
        </p:spPr>
        <p:txBody>
          <a:bodyPr wrap="square" lIns="0" tIns="0" rIns="0" bIns="0" rtlCol="0" anchor="t">
            <a:spAutoFit/>
          </a:bodyPr>
          <a:lstStyle/>
          <a:p>
            <a:pPr marL="0" indent="0" algn="l">
              <a:lnSpc>
                <a:spcPct val="102400"/>
              </a:lnSpc>
              <a:buNone/>
            </a:pPr>
            <a:r>
              <a:rPr lang="en-US" sz="850" b="1" dirty="0">
                <a:solidFill>
                  <a:srgbClr val="1B2430"/>
                </a:solidFill>
                <a:latin typeface="Inter Bold" pitchFamily="34" charset="0"/>
                <a:ea typeface="Inter Bold" pitchFamily="34" charset="-122"/>
                <a:cs typeface="Inter Bold" pitchFamily="34" charset="-120"/>
              </a:rPr>
              <a:t>Papers generated by FARS after 228 hours and 11.4B tokens.</a:t>
            </a:r>
            <a:endParaRPr lang="en-US" sz="850" dirty="0"/>
          </a:p>
        </p:txBody>
      </p:sp>
      <p:sp>
        <p:nvSpPr>
          <p:cNvPr id="12" name="Text 9"/>
          <p:cNvSpPr/>
          <p:nvPr/>
        </p:nvSpPr>
        <p:spPr>
          <a:xfrm>
            <a:off x="5079206" y="2493169"/>
            <a:ext cx="3100388" cy="270011"/>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68000"/>
                  </a:srgbClr>
                </a:solidFill>
                <a:latin typeface="Inter" pitchFamily="34" charset="0"/>
                <a:ea typeface="Inter" pitchFamily="34" charset="-122"/>
                <a:cs typeface="Inter" pitchFamily="34" charset="-120"/>
              </a:rPr>
              <a:t>Shows that long-horizon agents can sustain large-scale research production.</a:t>
            </a:r>
            <a:endParaRPr lang="en-US" sz="750" dirty="0"/>
          </a:p>
        </p:txBody>
      </p:sp>
      <p:sp>
        <p:nvSpPr>
          <p:cNvPr id="13" name="Text 10"/>
          <p:cNvSpPr/>
          <p:nvPr/>
        </p:nvSpPr>
        <p:spPr>
          <a:xfrm>
            <a:off x="3736181" y="2853817"/>
            <a:ext cx="1343025" cy="821531"/>
          </a:xfrm>
          <a:prstGeom prst="rect">
            <a:avLst/>
          </a:prstGeom>
          <a:noFill/>
          <a:ln/>
        </p:spPr>
        <p:txBody>
          <a:bodyPr wrap="square" lIns="0" tIns="102108" rIns="153035" bIns="8509" rtlCol="0" anchor="t">
            <a:spAutoFit/>
          </a:bodyPr>
          <a:lstStyle/>
          <a:p>
            <a:pPr marL="0" indent="0" algn="l">
              <a:lnSpc>
                <a:spcPct val="80000"/>
              </a:lnSpc>
              <a:buNone/>
            </a:pPr>
            <a:r>
              <a:rPr lang="en-US" sz="1900" b="1" kern="0" spc="-1" dirty="0">
                <a:solidFill>
                  <a:srgbClr val="C06C3E"/>
                </a:solidFill>
                <a:latin typeface="Space Grotesk Bold" pitchFamily="34" charset="0"/>
                <a:ea typeface="Space Grotesk Bold" pitchFamily="34" charset="-122"/>
                <a:cs typeface="Space Grotesk Bold" pitchFamily="34" charset="-120"/>
              </a:rPr>
              <a:t>5.0→7.5</a:t>
            </a:r>
            <a:endParaRPr lang="en-US" sz="1900" dirty="0"/>
          </a:p>
        </p:txBody>
      </p:sp>
      <p:sp>
        <p:nvSpPr>
          <p:cNvPr id="14" name="Text 11"/>
          <p:cNvSpPr/>
          <p:nvPr/>
        </p:nvSpPr>
        <p:spPr>
          <a:xfrm>
            <a:off x="5079206" y="2946685"/>
            <a:ext cx="3100388" cy="310865"/>
          </a:xfrm>
          <a:prstGeom prst="rect">
            <a:avLst/>
          </a:prstGeom>
          <a:noFill/>
          <a:ln/>
        </p:spPr>
        <p:txBody>
          <a:bodyPr wrap="square" lIns="0" tIns="0" rIns="0" bIns="0" rtlCol="0" anchor="t">
            <a:spAutoFit/>
          </a:bodyPr>
          <a:lstStyle/>
          <a:p>
            <a:pPr marL="0" indent="0" algn="l">
              <a:lnSpc>
                <a:spcPct val="102400"/>
              </a:lnSpc>
              <a:buNone/>
            </a:pPr>
            <a:r>
              <a:rPr lang="en-US" sz="850" b="1" dirty="0">
                <a:solidFill>
                  <a:srgbClr val="1B2430"/>
                </a:solidFill>
                <a:latin typeface="Inter Bold" pitchFamily="34" charset="0"/>
                <a:ea typeface="Inter Bold" pitchFamily="34" charset="-122"/>
                <a:cs typeface="Inter Bold" pitchFamily="34" charset="-120"/>
              </a:rPr>
              <a:t>ARIS improved a draft score after 20+ GPU experiments.</a:t>
            </a:r>
            <a:endParaRPr lang="en-US" sz="850" dirty="0"/>
          </a:p>
        </p:txBody>
      </p:sp>
      <p:sp>
        <p:nvSpPr>
          <p:cNvPr id="15" name="Text 12"/>
          <p:cNvSpPr/>
          <p:nvPr/>
        </p:nvSpPr>
        <p:spPr>
          <a:xfrm>
            <a:off x="5079206" y="3314700"/>
            <a:ext cx="3100388" cy="270011"/>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68000"/>
                  </a:srgbClr>
                </a:solidFill>
                <a:latin typeface="Inter" pitchFamily="34" charset="0"/>
                <a:ea typeface="Inter" pitchFamily="34" charset="-122"/>
                <a:cs typeface="Inter" pitchFamily="34" charset="-120"/>
              </a:rPr>
              <a:t>Points toward connected loops of experimentation, review, and revision.</a:t>
            </a:r>
            <a:endParaRPr lang="en-US" sz="750" dirty="0"/>
          </a:p>
        </p:txBody>
      </p:sp>
      <p:sp>
        <p:nvSpPr>
          <p:cNvPr id="16" name="Text 13"/>
          <p:cNvSpPr/>
          <p:nvPr/>
        </p:nvSpPr>
        <p:spPr>
          <a:xfrm>
            <a:off x="442913" y="4750594"/>
            <a:ext cx="2528720" cy="98227"/>
          </a:xfrm>
          <a:prstGeom prst="rect">
            <a:avLst/>
          </a:prstGeom>
          <a:noFill/>
          <a:ln/>
        </p:spPr>
        <p:txBody>
          <a:bodyPr wrap="square" lIns="0" tIns="0" rIns="0" bIns="0" rtlCol="0" anchor="t">
            <a:spAutoFit/>
          </a:bodyPr>
          <a:lstStyle/>
          <a:p>
            <a:pPr marL="0" indent="0" algn="l">
              <a:buNone/>
            </a:pPr>
            <a:r>
              <a:rPr lang="en-US" sz="600" dirty="0">
                <a:solidFill>
                  <a:srgbClr val="1B2430">
                    <a:alpha val="55000"/>
                  </a:srgbClr>
                </a:solidFill>
                <a:latin typeface="Inter" pitchFamily="34" charset="0"/>
                <a:ea typeface="Inter" pitchFamily="34" charset="-122"/>
                <a:cs typeface="Inter" pitchFamily="34" charset="-120"/>
              </a:rPr>
              <a:t>KONG ET AL., AI FOR AUTO-RESEARCH: A SURVEY, 2026</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CORE FRAMING</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The paper reframes research as a lifecycle</a:t>
            </a:r>
            <a:endParaRPr lang="en-US" sz="1950" dirty="0"/>
          </a:p>
        </p:txBody>
      </p:sp>
      <p:sp>
        <p:nvSpPr>
          <p:cNvPr id="5" name="Text 2"/>
          <p:cNvSpPr/>
          <p:nvPr/>
        </p:nvSpPr>
        <p:spPr>
          <a:xfrm>
            <a:off x="428625" y="957821"/>
            <a:ext cx="7572375" cy="172287"/>
          </a:xfrm>
          <a:prstGeom prst="rect">
            <a:avLst/>
          </a:prstGeom>
          <a:noFill/>
          <a:ln/>
        </p:spPr>
        <p:txBody>
          <a:bodyPr wrap="none" lIns="0" tIns="0" rIns="0" bIns="0" rtlCol="0" anchor="t">
            <a:spAutoFit/>
          </a:bodyPr>
          <a:lstStyle/>
          <a:p>
            <a:pPr marL="0" indent="0" algn="l">
              <a:lnSpc>
                <a:spcPct val="107200"/>
              </a:lnSpc>
              <a:buNone/>
            </a:pPr>
            <a:r>
              <a:rPr lang="en-US" sz="950" dirty="0">
                <a:solidFill>
                  <a:srgbClr val="1B2430">
                    <a:alpha val="78000"/>
                  </a:srgbClr>
                </a:solidFill>
                <a:latin typeface="Inter" pitchFamily="34" charset="0"/>
                <a:ea typeface="Inter" pitchFamily="34" charset="-122"/>
                <a:cs typeface="Inter" pitchFamily="34" charset="-120"/>
              </a:rPr>
              <a:t>The survey’s main contribution is a four-phase, eight-stage taxonomy that connects tools usually studied in isolation.</a:t>
            </a:r>
            <a:endParaRPr lang="en-US" sz="950" dirty="0"/>
          </a:p>
        </p:txBody>
      </p:sp>
      <p:sp>
        <p:nvSpPr>
          <p:cNvPr id="6" name="Text 3"/>
          <p:cNvSpPr/>
          <p:nvPr/>
        </p:nvSpPr>
        <p:spPr>
          <a:xfrm>
            <a:off x="428625" y="1351564"/>
            <a:ext cx="1996678" cy="196453"/>
          </a:xfrm>
          <a:prstGeom prst="rect">
            <a:avLst/>
          </a:prstGeom>
          <a:noFill/>
          <a:ln/>
        </p:spPr>
        <p:txBody>
          <a:bodyPr wrap="square" lIns="0" tIns="0" rIns="0" bIns="0" rtlCol="0" anchor="t">
            <a:spAutoFit/>
          </a:bodyPr>
          <a:lstStyle/>
          <a:p>
            <a:pPr marL="0" indent="0" algn="l">
              <a:buNone/>
            </a:pPr>
            <a:r>
              <a:rPr lang="en-US" sz="1200" b="1" dirty="0">
                <a:solidFill>
                  <a:srgbClr val="2F6F73"/>
                </a:solidFill>
                <a:latin typeface="Space Grotesk Bold" pitchFamily="34" charset="0"/>
                <a:ea typeface="Space Grotesk Bold" pitchFamily="34" charset="-122"/>
                <a:cs typeface="Space Grotesk Bold" pitchFamily="34" charset="-120"/>
              </a:rPr>
              <a:t>Creation</a:t>
            </a:r>
            <a:endParaRPr lang="en-US" sz="1200" dirty="0"/>
          </a:p>
        </p:txBody>
      </p:sp>
      <p:sp>
        <p:nvSpPr>
          <p:cNvPr id="7" name="Text 4"/>
          <p:cNvSpPr/>
          <p:nvPr/>
        </p:nvSpPr>
        <p:spPr>
          <a:xfrm>
            <a:off x="428625" y="1648030"/>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S1</a:t>
            </a:r>
            <a:r>
              <a:rPr lang="en-US" sz="750" b="1" dirty="0">
                <a:solidFill>
                  <a:srgbClr val="1B2430"/>
                </a:solidFill>
                <a:latin typeface="Inter Bold" pitchFamily="34" charset="0"/>
                <a:ea typeface="Inter Bold" pitchFamily="34" charset="-122"/>
                <a:cs typeface="Inter Bold" pitchFamily="34" charset="-120"/>
              </a:rPr>
              <a:t> Idea generation</a:t>
            </a:r>
            <a:endParaRPr lang="en-US" sz="750" dirty="0"/>
          </a:p>
        </p:txBody>
      </p:sp>
      <p:sp>
        <p:nvSpPr>
          <p:cNvPr id="8" name="Text 5"/>
          <p:cNvSpPr/>
          <p:nvPr/>
        </p:nvSpPr>
        <p:spPr>
          <a:xfrm>
            <a:off x="428625" y="1835553"/>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S2</a:t>
            </a:r>
            <a:r>
              <a:rPr lang="en-US" sz="750" b="1" dirty="0">
                <a:solidFill>
                  <a:srgbClr val="1B2430"/>
                </a:solidFill>
                <a:latin typeface="Inter Bold" pitchFamily="34" charset="0"/>
                <a:ea typeface="Inter Bold" pitchFamily="34" charset="-122"/>
                <a:cs typeface="Inter Bold" pitchFamily="34" charset="-120"/>
              </a:rPr>
              <a:t> Literature review</a:t>
            </a:r>
            <a:endParaRPr lang="en-US" sz="750" dirty="0"/>
          </a:p>
        </p:txBody>
      </p:sp>
      <p:sp>
        <p:nvSpPr>
          <p:cNvPr id="9" name="Text 6"/>
          <p:cNvSpPr/>
          <p:nvPr/>
        </p:nvSpPr>
        <p:spPr>
          <a:xfrm>
            <a:off x="428625" y="2023077"/>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S3</a:t>
            </a:r>
            <a:r>
              <a:rPr lang="en-US" sz="750" b="1" dirty="0">
                <a:solidFill>
                  <a:srgbClr val="1B2430"/>
                </a:solidFill>
                <a:latin typeface="Inter Bold" pitchFamily="34" charset="0"/>
                <a:ea typeface="Inter Bold" pitchFamily="34" charset="-122"/>
                <a:cs typeface="Inter Bold" pitchFamily="34" charset="-120"/>
              </a:rPr>
              <a:t> Coding &amp; experiments</a:t>
            </a:r>
            <a:endParaRPr lang="en-US" sz="750" dirty="0"/>
          </a:p>
        </p:txBody>
      </p:sp>
      <p:sp>
        <p:nvSpPr>
          <p:cNvPr id="10" name="Text 7"/>
          <p:cNvSpPr/>
          <p:nvPr/>
        </p:nvSpPr>
        <p:spPr>
          <a:xfrm>
            <a:off x="428625" y="2210600"/>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S4</a:t>
            </a:r>
            <a:r>
              <a:rPr lang="en-US" sz="750" b="1" dirty="0">
                <a:solidFill>
                  <a:srgbClr val="1B2430"/>
                </a:solidFill>
                <a:latin typeface="Inter Bold" pitchFamily="34" charset="0"/>
                <a:ea typeface="Inter Bold" pitchFamily="34" charset="-122"/>
                <a:cs typeface="Inter Bold" pitchFamily="34" charset="-120"/>
              </a:rPr>
              <a:t> Tables &amp; figures</a:t>
            </a:r>
            <a:endParaRPr lang="en-US" sz="750" dirty="0"/>
          </a:p>
        </p:txBody>
      </p:sp>
      <p:sp>
        <p:nvSpPr>
          <p:cNvPr id="11" name="Text 8"/>
          <p:cNvSpPr/>
          <p:nvPr/>
        </p:nvSpPr>
        <p:spPr>
          <a:xfrm>
            <a:off x="428625" y="2483848"/>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AI ROLE</a:t>
            </a:r>
            <a:endParaRPr lang="en-US" sz="600" dirty="0"/>
          </a:p>
        </p:txBody>
      </p:sp>
      <p:sp>
        <p:nvSpPr>
          <p:cNvPr id="12" name="Text 9"/>
          <p:cNvSpPr/>
          <p:nvPr/>
        </p:nvSpPr>
        <p:spPr>
          <a:xfrm>
            <a:off x="428625" y="2624937"/>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Produce hypotheses, evidence, code, analyses, and visual research artifacts.</a:t>
            </a:r>
            <a:endParaRPr lang="en-US" sz="750" dirty="0"/>
          </a:p>
        </p:txBody>
      </p:sp>
      <p:sp>
        <p:nvSpPr>
          <p:cNvPr id="13" name="Text 10"/>
          <p:cNvSpPr/>
          <p:nvPr/>
        </p:nvSpPr>
        <p:spPr>
          <a:xfrm>
            <a:off x="428625" y="3029508"/>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RISK</a:t>
            </a:r>
            <a:endParaRPr lang="en-US" sz="600" dirty="0"/>
          </a:p>
        </p:txBody>
      </p:sp>
      <p:sp>
        <p:nvSpPr>
          <p:cNvPr id="14" name="Text 11"/>
          <p:cNvSpPr/>
          <p:nvPr/>
        </p:nvSpPr>
        <p:spPr>
          <a:xfrm>
            <a:off x="428625" y="3170597"/>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Plausible artifacts may be non-novel, unfaithful, or scientifically wrong.</a:t>
            </a:r>
            <a:endParaRPr lang="en-US" sz="750" dirty="0"/>
          </a:p>
        </p:txBody>
      </p:sp>
      <p:sp>
        <p:nvSpPr>
          <p:cNvPr id="15" name="Text 12"/>
          <p:cNvSpPr/>
          <p:nvPr/>
        </p:nvSpPr>
        <p:spPr>
          <a:xfrm>
            <a:off x="2525316" y="1351564"/>
            <a:ext cx="1996678" cy="196453"/>
          </a:xfrm>
          <a:prstGeom prst="rect">
            <a:avLst/>
          </a:prstGeom>
          <a:noFill/>
          <a:ln/>
        </p:spPr>
        <p:txBody>
          <a:bodyPr wrap="square" lIns="0" tIns="0" rIns="0" bIns="0" rtlCol="0" anchor="t">
            <a:spAutoFit/>
          </a:bodyPr>
          <a:lstStyle/>
          <a:p>
            <a:pPr marL="0" indent="0" algn="l">
              <a:buNone/>
            </a:pPr>
            <a:r>
              <a:rPr lang="en-US" sz="1200" b="1" dirty="0">
                <a:solidFill>
                  <a:srgbClr val="2F6F73"/>
                </a:solidFill>
                <a:latin typeface="Space Grotesk Bold" pitchFamily="34" charset="0"/>
                <a:ea typeface="Space Grotesk Bold" pitchFamily="34" charset="-122"/>
                <a:cs typeface="Space Grotesk Bold" pitchFamily="34" charset="-120"/>
              </a:rPr>
              <a:t>Writing</a:t>
            </a:r>
            <a:endParaRPr lang="en-US" sz="1200" dirty="0"/>
          </a:p>
        </p:txBody>
      </p:sp>
      <p:sp>
        <p:nvSpPr>
          <p:cNvPr id="16" name="Text 13"/>
          <p:cNvSpPr/>
          <p:nvPr/>
        </p:nvSpPr>
        <p:spPr>
          <a:xfrm>
            <a:off x="2525316" y="1648030"/>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S5</a:t>
            </a:r>
            <a:r>
              <a:rPr lang="en-US" sz="750" b="1" dirty="0">
                <a:solidFill>
                  <a:srgbClr val="1B2430"/>
                </a:solidFill>
                <a:latin typeface="Inter Bold" pitchFamily="34" charset="0"/>
                <a:ea typeface="Inter Bold" pitchFamily="34" charset="-122"/>
                <a:cs typeface="Inter Bold" pitchFamily="34" charset="-120"/>
              </a:rPr>
              <a:t> Paper writing</a:t>
            </a:r>
            <a:endParaRPr lang="en-US" sz="750" dirty="0"/>
          </a:p>
        </p:txBody>
      </p:sp>
      <p:sp>
        <p:nvSpPr>
          <p:cNvPr id="17" name="Text 14"/>
          <p:cNvSpPr/>
          <p:nvPr/>
        </p:nvSpPr>
        <p:spPr>
          <a:xfrm>
            <a:off x="2525316" y="217666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AI ROLE</a:t>
            </a:r>
            <a:endParaRPr lang="en-US" sz="600" dirty="0"/>
          </a:p>
        </p:txBody>
      </p:sp>
      <p:sp>
        <p:nvSpPr>
          <p:cNvPr id="18" name="Text 15"/>
          <p:cNvSpPr/>
          <p:nvPr/>
        </p:nvSpPr>
        <p:spPr>
          <a:xfrm>
            <a:off x="2525316" y="231775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Convert artifacts into scholarly narratives, sections, citations, and revisions.</a:t>
            </a:r>
            <a:endParaRPr lang="en-US" sz="750" dirty="0"/>
          </a:p>
        </p:txBody>
      </p:sp>
      <p:sp>
        <p:nvSpPr>
          <p:cNvPr id="19" name="Text 16"/>
          <p:cNvSpPr/>
          <p:nvPr/>
        </p:nvSpPr>
        <p:spPr>
          <a:xfrm>
            <a:off x="2525316" y="272232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RISK</a:t>
            </a:r>
            <a:endParaRPr lang="en-US" sz="600" dirty="0"/>
          </a:p>
        </p:txBody>
      </p:sp>
      <p:sp>
        <p:nvSpPr>
          <p:cNvPr id="20" name="Text 17"/>
          <p:cNvSpPr/>
          <p:nvPr/>
        </p:nvSpPr>
        <p:spPr>
          <a:xfrm>
            <a:off x="2525316" y="286341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Fluent prose can conceal weak reasoning or unsupported claims.</a:t>
            </a:r>
            <a:endParaRPr lang="en-US" sz="750" dirty="0"/>
          </a:p>
        </p:txBody>
      </p:sp>
      <p:sp>
        <p:nvSpPr>
          <p:cNvPr id="21" name="Text 18"/>
          <p:cNvSpPr/>
          <p:nvPr/>
        </p:nvSpPr>
        <p:spPr>
          <a:xfrm>
            <a:off x="4622006" y="1351564"/>
            <a:ext cx="1996678" cy="196453"/>
          </a:xfrm>
          <a:prstGeom prst="rect">
            <a:avLst/>
          </a:prstGeom>
          <a:noFill/>
          <a:ln/>
        </p:spPr>
        <p:txBody>
          <a:bodyPr wrap="square" lIns="0" tIns="0" rIns="0" bIns="0" rtlCol="0" anchor="t">
            <a:spAutoFit/>
          </a:bodyPr>
          <a:lstStyle/>
          <a:p>
            <a:pPr marL="0" indent="0" algn="l">
              <a:buNone/>
            </a:pPr>
            <a:r>
              <a:rPr lang="en-US" sz="1200" b="1" dirty="0">
                <a:solidFill>
                  <a:srgbClr val="2F6F73"/>
                </a:solidFill>
                <a:latin typeface="Space Grotesk Bold" pitchFamily="34" charset="0"/>
                <a:ea typeface="Space Grotesk Bold" pitchFamily="34" charset="-122"/>
                <a:cs typeface="Space Grotesk Bold" pitchFamily="34" charset="-120"/>
              </a:rPr>
              <a:t>Validation</a:t>
            </a:r>
            <a:endParaRPr lang="en-US" sz="1200" dirty="0"/>
          </a:p>
        </p:txBody>
      </p:sp>
      <p:sp>
        <p:nvSpPr>
          <p:cNvPr id="22" name="Text 19"/>
          <p:cNvSpPr/>
          <p:nvPr/>
        </p:nvSpPr>
        <p:spPr>
          <a:xfrm>
            <a:off x="4622006" y="1648030"/>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S6</a:t>
            </a:r>
            <a:r>
              <a:rPr lang="en-US" sz="750" b="1" dirty="0">
                <a:solidFill>
                  <a:srgbClr val="1B2430"/>
                </a:solidFill>
                <a:latin typeface="Inter Bold" pitchFamily="34" charset="0"/>
                <a:ea typeface="Inter Bold" pitchFamily="34" charset="-122"/>
                <a:cs typeface="Inter Bold" pitchFamily="34" charset="-120"/>
              </a:rPr>
              <a:t> Peer review</a:t>
            </a:r>
            <a:endParaRPr lang="en-US" sz="750" dirty="0"/>
          </a:p>
        </p:txBody>
      </p:sp>
      <p:sp>
        <p:nvSpPr>
          <p:cNvPr id="23" name="Text 20"/>
          <p:cNvSpPr/>
          <p:nvPr/>
        </p:nvSpPr>
        <p:spPr>
          <a:xfrm>
            <a:off x="4622006" y="1835553"/>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S7</a:t>
            </a:r>
            <a:r>
              <a:rPr lang="en-US" sz="750" b="1" dirty="0">
                <a:solidFill>
                  <a:srgbClr val="1B2430"/>
                </a:solidFill>
                <a:latin typeface="Inter Bold" pitchFamily="34" charset="0"/>
                <a:ea typeface="Inter Bold" pitchFamily="34" charset="-122"/>
                <a:cs typeface="Inter Bold" pitchFamily="34" charset="-120"/>
              </a:rPr>
              <a:t> Rebuttal &amp; revision</a:t>
            </a:r>
            <a:endParaRPr lang="en-US" sz="750" dirty="0"/>
          </a:p>
        </p:txBody>
      </p:sp>
      <p:sp>
        <p:nvSpPr>
          <p:cNvPr id="24" name="Text 21"/>
          <p:cNvSpPr/>
          <p:nvPr/>
        </p:nvSpPr>
        <p:spPr>
          <a:xfrm>
            <a:off x="4622006" y="217666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AI ROLE</a:t>
            </a:r>
            <a:endParaRPr lang="en-US" sz="600" dirty="0"/>
          </a:p>
        </p:txBody>
      </p:sp>
      <p:sp>
        <p:nvSpPr>
          <p:cNvPr id="25" name="Text 22"/>
          <p:cNvSpPr/>
          <p:nvPr/>
        </p:nvSpPr>
        <p:spPr>
          <a:xfrm>
            <a:off x="4622006" y="231775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Critique, score, synthesize reviews, draft responses, and track revisions.</a:t>
            </a:r>
            <a:endParaRPr lang="en-US" sz="750" dirty="0"/>
          </a:p>
        </p:txBody>
      </p:sp>
      <p:sp>
        <p:nvSpPr>
          <p:cNvPr id="26" name="Text 23"/>
          <p:cNvSpPr/>
          <p:nvPr/>
        </p:nvSpPr>
        <p:spPr>
          <a:xfrm>
            <a:off x="4622006" y="272232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RISK</a:t>
            </a:r>
            <a:endParaRPr lang="en-US" sz="600" dirty="0"/>
          </a:p>
        </p:txBody>
      </p:sp>
      <p:sp>
        <p:nvSpPr>
          <p:cNvPr id="27" name="Text 24"/>
          <p:cNvSpPr/>
          <p:nvPr/>
        </p:nvSpPr>
        <p:spPr>
          <a:xfrm>
            <a:off x="4622006" y="286341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Review-like or rebuttal-like text may not be fair, grounded, or fulfilled.</a:t>
            </a:r>
            <a:endParaRPr lang="en-US" sz="750" dirty="0"/>
          </a:p>
        </p:txBody>
      </p:sp>
      <p:sp>
        <p:nvSpPr>
          <p:cNvPr id="28" name="Text 25"/>
          <p:cNvSpPr/>
          <p:nvPr/>
        </p:nvSpPr>
        <p:spPr>
          <a:xfrm>
            <a:off x="6718697" y="1351564"/>
            <a:ext cx="1996678" cy="196453"/>
          </a:xfrm>
          <a:prstGeom prst="rect">
            <a:avLst/>
          </a:prstGeom>
          <a:noFill/>
          <a:ln/>
        </p:spPr>
        <p:txBody>
          <a:bodyPr wrap="square" lIns="0" tIns="0" rIns="0" bIns="0" rtlCol="0" anchor="t">
            <a:spAutoFit/>
          </a:bodyPr>
          <a:lstStyle/>
          <a:p>
            <a:pPr marL="0" indent="0" algn="l">
              <a:buNone/>
            </a:pPr>
            <a:r>
              <a:rPr lang="en-US" sz="1200" b="1" dirty="0">
                <a:solidFill>
                  <a:srgbClr val="2F6F73"/>
                </a:solidFill>
                <a:latin typeface="Space Grotesk Bold" pitchFamily="34" charset="0"/>
                <a:ea typeface="Space Grotesk Bold" pitchFamily="34" charset="-122"/>
                <a:cs typeface="Space Grotesk Bold" pitchFamily="34" charset="-120"/>
              </a:rPr>
              <a:t>Dissemination</a:t>
            </a:r>
            <a:endParaRPr lang="en-US" sz="1200" dirty="0"/>
          </a:p>
        </p:txBody>
      </p:sp>
      <p:sp>
        <p:nvSpPr>
          <p:cNvPr id="29" name="Text 26"/>
          <p:cNvSpPr/>
          <p:nvPr/>
        </p:nvSpPr>
        <p:spPr>
          <a:xfrm>
            <a:off x="6718697" y="1648030"/>
            <a:ext cx="1996678" cy="144661"/>
          </a:xfrm>
          <a:prstGeom prst="rect">
            <a:avLst/>
          </a:prstGeom>
          <a:noFill/>
          <a:ln/>
        </p:spPr>
        <p:txBody>
          <a:bodyPr wrap="none" lIns="0" tIns="0" rIns="0" bIns="0" rtlCol="0" anchor="t">
            <a:spAutoFit/>
          </a:bodyPr>
          <a:lstStyle/>
          <a:p>
            <a:pPr marL="0" indent="0" algn="l">
              <a:lnSpc>
                <a:spcPct val="108000"/>
              </a:lnSpc>
              <a:buNone/>
            </a:pPr>
            <a:r>
              <a:rPr lang="en-US" sz="750" b="1" dirty="0">
                <a:solidFill>
                  <a:srgbClr val="C06C3E"/>
                </a:solidFill>
                <a:latin typeface="Space Grotesk Bold" pitchFamily="34" charset="0"/>
                <a:ea typeface="Space Grotesk Bold" pitchFamily="34" charset="-122"/>
                <a:cs typeface="Space Grotesk Bold" pitchFamily="34" charset="-120"/>
              </a:rPr>
              <a:t>S8</a:t>
            </a:r>
            <a:r>
              <a:rPr lang="en-US" sz="750" b="1" dirty="0">
                <a:solidFill>
                  <a:srgbClr val="1B2430"/>
                </a:solidFill>
                <a:latin typeface="Inter Bold" pitchFamily="34" charset="0"/>
                <a:ea typeface="Inter Bold" pitchFamily="34" charset="-122"/>
                <a:cs typeface="Inter Bold" pitchFamily="34" charset="-120"/>
              </a:rPr>
              <a:t> Paper2X</a:t>
            </a:r>
            <a:endParaRPr lang="en-US" sz="750" dirty="0"/>
          </a:p>
        </p:txBody>
      </p:sp>
      <p:sp>
        <p:nvSpPr>
          <p:cNvPr id="30" name="Text 27"/>
          <p:cNvSpPr/>
          <p:nvPr/>
        </p:nvSpPr>
        <p:spPr>
          <a:xfrm>
            <a:off x="6718697" y="217666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AI ROLE</a:t>
            </a:r>
            <a:endParaRPr lang="en-US" sz="600" dirty="0"/>
          </a:p>
        </p:txBody>
      </p:sp>
      <p:sp>
        <p:nvSpPr>
          <p:cNvPr id="31" name="Text 28"/>
          <p:cNvSpPr/>
          <p:nvPr/>
        </p:nvSpPr>
        <p:spPr>
          <a:xfrm>
            <a:off x="6718697" y="231775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Transform papers into slides, posters, talks, websites, social posts, and agents.</a:t>
            </a:r>
            <a:endParaRPr lang="en-US" sz="750" dirty="0"/>
          </a:p>
        </p:txBody>
      </p:sp>
      <p:sp>
        <p:nvSpPr>
          <p:cNvPr id="32" name="Text 29"/>
          <p:cNvSpPr/>
          <p:nvPr/>
        </p:nvSpPr>
        <p:spPr>
          <a:xfrm>
            <a:off x="6718697" y="2722327"/>
            <a:ext cx="1996678"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8000"/>
                  </a:srgbClr>
                </a:solidFill>
                <a:latin typeface="Inter ExtraBold" pitchFamily="34" charset="0"/>
                <a:ea typeface="Inter ExtraBold" pitchFamily="34" charset="-122"/>
                <a:cs typeface="Inter ExtraBold" pitchFamily="34" charset="-120"/>
              </a:rPr>
              <a:t>RISK</a:t>
            </a:r>
            <a:endParaRPr lang="en-US" sz="600" dirty="0"/>
          </a:p>
        </p:txBody>
      </p:sp>
      <p:sp>
        <p:nvSpPr>
          <p:cNvPr id="33" name="Text 30"/>
          <p:cNvSpPr/>
          <p:nvPr/>
        </p:nvSpPr>
        <p:spPr>
          <a:xfrm>
            <a:off x="6718697" y="2863416"/>
            <a:ext cx="1996678" cy="27598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80000"/>
                  </a:srgbClr>
                </a:solidFill>
                <a:latin typeface="Inter" pitchFamily="34" charset="0"/>
                <a:ea typeface="Inter" pitchFamily="34" charset="-122"/>
                <a:cs typeface="Inter" pitchFamily="34" charset="-120"/>
              </a:rPr>
              <a:t>Format shifts can distort claims, evidence, or limitations.</a:t>
            </a:r>
            <a:endParaRPr lang="en-US" sz="750" dirty="0"/>
          </a:p>
        </p:txBody>
      </p:sp>
      <p:sp>
        <p:nvSpPr>
          <p:cNvPr id="34" name="Text 31"/>
          <p:cNvSpPr/>
          <p:nvPr/>
        </p:nvSpPr>
        <p:spPr>
          <a:xfrm>
            <a:off x="428625" y="3809014"/>
            <a:ext cx="1285875" cy="164306"/>
          </a:xfrm>
          <a:prstGeom prst="rect">
            <a:avLst/>
          </a:prstGeom>
          <a:noFill/>
          <a:ln/>
        </p:spPr>
        <p:txBody>
          <a:bodyPr wrap="none" lIns="0" tIns="0" rIns="0" bIns="0" rtlCol="0" anchor="t">
            <a:spAutoFit/>
          </a:bodyPr>
          <a:lstStyle/>
          <a:p>
            <a:pPr marL="0" indent="0" algn="l">
              <a:buNone/>
            </a:pPr>
            <a:r>
              <a:rPr lang="en-US" sz="1000" b="1" dirty="0">
                <a:solidFill>
                  <a:srgbClr val="C06C3E"/>
                </a:solidFill>
                <a:latin typeface="Space Grotesk Bold" pitchFamily="34" charset="0"/>
                <a:ea typeface="Space Grotesk Bold" pitchFamily="34" charset="-122"/>
                <a:cs typeface="Space Grotesk Bold" pitchFamily="34" charset="-120"/>
              </a:rPr>
              <a:t>Lifecycle lens</a:t>
            </a:r>
            <a:endParaRPr lang="en-US" sz="1000" dirty="0"/>
          </a:p>
        </p:txBody>
      </p:sp>
      <p:sp>
        <p:nvSpPr>
          <p:cNvPr id="35" name="Text 32"/>
          <p:cNvSpPr/>
          <p:nvPr/>
        </p:nvSpPr>
        <p:spPr>
          <a:xfrm>
            <a:off x="1900238" y="3809014"/>
            <a:ext cx="6729413" cy="164306"/>
          </a:xfrm>
          <a:prstGeom prst="rect">
            <a:avLst/>
          </a:prstGeom>
          <a:noFill/>
          <a:ln/>
        </p:spPr>
        <p:txBody>
          <a:bodyPr wrap="none" lIns="0" tIns="0"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The taxonomy reveals not just stage-level capabilities, but how errors propagate when one artifact becomes input to the next.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METHODOLOGICAL SUBSTRATE</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Five method families recur across stages</a:t>
            </a:r>
            <a:endParaRPr lang="en-US" sz="1950" dirty="0"/>
          </a:p>
        </p:txBody>
      </p:sp>
      <p:sp>
        <p:nvSpPr>
          <p:cNvPr id="5" name="Text 2"/>
          <p:cNvSpPr/>
          <p:nvPr/>
        </p:nvSpPr>
        <p:spPr>
          <a:xfrm>
            <a:off x="428625" y="957821"/>
            <a:ext cx="7715250" cy="344574"/>
          </a:xfrm>
          <a:prstGeom prst="rect">
            <a:avLst/>
          </a:prstGeom>
          <a:noFill/>
          <a:ln/>
        </p:spPr>
        <p:txBody>
          <a:bodyPr wrap="square" lIns="0" tIns="0" rIns="0" bIns="0" rtlCol="0" anchor="t">
            <a:spAutoFit/>
          </a:bodyPr>
          <a:lstStyle/>
          <a:p>
            <a:pPr marL="0" indent="0" algn="l">
              <a:lnSpc>
                <a:spcPct val="107200"/>
              </a:lnSpc>
              <a:buNone/>
            </a:pPr>
            <a:r>
              <a:rPr lang="en-US" sz="950" dirty="0">
                <a:solidFill>
                  <a:srgbClr val="1B2430">
                    <a:alpha val="78000"/>
                  </a:srgbClr>
                </a:solidFill>
                <a:latin typeface="Inter" pitchFamily="34" charset="0"/>
                <a:ea typeface="Inter" pitchFamily="34" charset="-122"/>
                <a:cs typeface="Inter" pitchFamily="34" charset="-120"/>
              </a:rPr>
              <a:t>Current systems differ by lifecycle stage, but repeatedly combine the same building blocks for generation, grounding, orchestration, adaptation, and verification.</a:t>
            </a:r>
            <a:endParaRPr lang="en-US" sz="950" dirty="0"/>
          </a:p>
        </p:txBody>
      </p:sp>
      <p:sp>
        <p:nvSpPr>
          <p:cNvPr id="6" name="Text 3"/>
          <p:cNvSpPr/>
          <p:nvPr/>
        </p:nvSpPr>
        <p:spPr>
          <a:xfrm>
            <a:off x="428625" y="1552426"/>
            <a:ext cx="2750344" cy="264319"/>
          </a:xfrm>
          <a:prstGeom prst="rect">
            <a:avLst/>
          </a:prstGeom>
          <a:noFill/>
          <a:ln/>
        </p:spPr>
        <p:txBody>
          <a:bodyPr wrap="square" lIns="8509" tIns="51054" rIns="8509" bIns="8509" rtlCol="0" anchor="ctr">
            <a:spAutoFit/>
          </a:bodyPr>
          <a:lstStyle/>
          <a:p>
            <a:pPr marL="0" indent="0" algn="l">
              <a:buNone/>
            </a:pPr>
            <a:r>
              <a:rPr lang="en-US" sz="600" b="1" kern="0" spc="1" dirty="0">
                <a:solidFill>
                  <a:srgbClr val="1B2430">
                    <a:alpha val="62000"/>
                  </a:srgbClr>
                </a:solidFill>
                <a:latin typeface="Space Grotesk Bold" pitchFamily="34" charset="0"/>
                <a:ea typeface="Space Grotesk Bold" pitchFamily="34" charset="-122"/>
                <a:cs typeface="Space Grotesk Bold" pitchFamily="34" charset="-120"/>
              </a:rPr>
              <a:t>METHOD FAMILY</a:t>
            </a:r>
            <a:endParaRPr lang="en-US" sz="600" dirty="0"/>
          </a:p>
        </p:txBody>
      </p:sp>
      <p:sp>
        <p:nvSpPr>
          <p:cNvPr id="7" name="Text 4"/>
          <p:cNvSpPr/>
          <p:nvPr/>
        </p:nvSpPr>
        <p:spPr>
          <a:xfrm>
            <a:off x="3178969" y="1552426"/>
            <a:ext cx="2750344" cy="264319"/>
          </a:xfrm>
          <a:prstGeom prst="rect">
            <a:avLst/>
          </a:prstGeom>
          <a:noFill/>
          <a:ln/>
        </p:spPr>
        <p:txBody>
          <a:bodyPr wrap="square" lIns="8509" tIns="51054" rIns="8509" bIns="8509" rtlCol="0" anchor="ctr">
            <a:spAutoFit/>
          </a:bodyPr>
          <a:lstStyle/>
          <a:p>
            <a:pPr marL="0" indent="0" algn="l">
              <a:buNone/>
            </a:pPr>
            <a:r>
              <a:rPr lang="en-US" sz="600" b="1" kern="0" spc="1" dirty="0">
                <a:solidFill>
                  <a:srgbClr val="1B2430">
                    <a:alpha val="62000"/>
                  </a:srgbClr>
                </a:solidFill>
                <a:latin typeface="Space Grotesk Bold" pitchFamily="34" charset="0"/>
                <a:ea typeface="Space Grotesk Bold" pitchFamily="34" charset="-122"/>
                <a:cs typeface="Space Grotesk Bold" pitchFamily="34" charset="-120"/>
              </a:rPr>
              <a:t>STRENGTH</a:t>
            </a:r>
            <a:endParaRPr lang="en-US" sz="600" dirty="0"/>
          </a:p>
        </p:txBody>
      </p:sp>
      <p:sp>
        <p:nvSpPr>
          <p:cNvPr id="8" name="Text 5"/>
          <p:cNvSpPr/>
          <p:nvPr/>
        </p:nvSpPr>
        <p:spPr>
          <a:xfrm>
            <a:off x="5929313" y="1552426"/>
            <a:ext cx="2750344" cy="264319"/>
          </a:xfrm>
          <a:prstGeom prst="rect">
            <a:avLst/>
          </a:prstGeom>
          <a:noFill/>
          <a:ln/>
        </p:spPr>
        <p:txBody>
          <a:bodyPr wrap="square" lIns="8509" tIns="51054" rIns="8509" bIns="8509" rtlCol="0" anchor="ctr">
            <a:spAutoFit/>
          </a:bodyPr>
          <a:lstStyle/>
          <a:p>
            <a:pPr marL="0" indent="0" algn="l">
              <a:buNone/>
            </a:pPr>
            <a:r>
              <a:rPr lang="en-US" sz="600" b="1" kern="0" spc="1" dirty="0">
                <a:solidFill>
                  <a:srgbClr val="1B2430">
                    <a:alpha val="62000"/>
                  </a:srgbClr>
                </a:solidFill>
                <a:latin typeface="Space Grotesk Bold" pitchFamily="34" charset="0"/>
                <a:ea typeface="Space Grotesk Bold" pitchFamily="34" charset="-122"/>
                <a:cs typeface="Space Grotesk Bold" pitchFamily="34" charset="-120"/>
              </a:rPr>
              <a:t>LIMITATION</a:t>
            </a:r>
            <a:endParaRPr lang="en-US" sz="600" dirty="0"/>
          </a:p>
        </p:txBody>
      </p:sp>
      <p:sp>
        <p:nvSpPr>
          <p:cNvPr id="9" name="Text 6"/>
          <p:cNvSpPr/>
          <p:nvPr/>
        </p:nvSpPr>
        <p:spPr>
          <a:xfrm>
            <a:off x="428625" y="1816745"/>
            <a:ext cx="2750344" cy="405408"/>
          </a:xfrm>
          <a:prstGeom prst="rect">
            <a:avLst/>
          </a:prstGeom>
          <a:noFill/>
          <a:ln/>
        </p:spPr>
        <p:txBody>
          <a:bodyPr wrap="square" lIns="8509" tIns="51054" rIns="187071" bIns="8509" rtlCol="0" anchor="t">
            <a:spAutoFit/>
          </a:bodyPr>
          <a:lstStyle/>
          <a:p>
            <a:pPr marL="0" indent="0" algn="l">
              <a:lnSpc>
                <a:spcPct val="86400"/>
              </a:lnSpc>
              <a:buNone/>
            </a:pPr>
            <a:r>
              <a:rPr lang="en-US" sz="1000" b="1" dirty="0">
                <a:solidFill>
                  <a:srgbClr val="2F6F73"/>
                </a:solidFill>
                <a:latin typeface="Space Grotesk Bold" pitchFamily="34" charset="0"/>
                <a:ea typeface="Space Grotesk Bold" pitchFamily="34" charset="-122"/>
                <a:cs typeface="Space Grotesk Bold" pitchFamily="34" charset="-120"/>
              </a:rPr>
              <a:t>Prompt engineering</a:t>
            </a:r>
            <a:endParaRPr lang="en-US" sz="1000" dirty="0"/>
          </a:p>
        </p:txBody>
      </p:sp>
      <p:sp>
        <p:nvSpPr>
          <p:cNvPr id="10" name="Text 7"/>
          <p:cNvSpPr/>
          <p:nvPr/>
        </p:nvSpPr>
        <p:spPr>
          <a:xfrm>
            <a:off x="3178969" y="1816745"/>
            <a:ext cx="2750344" cy="405408"/>
          </a:xfrm>
          <a:prstGeom prst="rect">
            <a:avLst/>
          </a:prstGeom>
          <a:noFill/>
          <a:ln/>
        </p:spPr>
        <p:txBody>
          <a:bodyPr wrap="square" lIns="8509" tIns="51054" rIns="187071" bIns="8509" rtlCol="0" anchor="t">
            <a:spAutoFit/>
          </a:bodyPr>
          <a:lstStyle/>
          <a:p>
            <a:pPr marL="0" indent="0" algn="l">
              <a:lnSpc>
                <a:spcPct val="107200"/>
              </a:lnSpc>
              <a:buNone/>
            </a:pPr>
            <a:r>
              <a:rPr lang="en-US" sz="700" dirty="0">
                <a:solidFill>
                  <a:srgbClr val="1B2430">
                    <a:alpha val="84000"/>
                  </a:srgbClr>
                </a:solidFill>
                <a:latin typeface="Inter Bold" pitchFamily="34" charset="0"/>
                <a:ea typeface="Inter Bold" pitchFamily="34" charset="-122"/>
                <a:cs typeface="Inter Bold" pitchFamily="34" charset="-120"/>
              </a:rPr>
              <a:t>Fast, flexible, and usable without task-specific training.</a:t>
            </a:r>
            <a:endParaRPr lang="en-US" sz="700" dirty="0"/>
          </a:p>
        </p:txBody>
      </p:sp>
      <p:sp>
        <p:nvSpPr>
          <p:cNvPr id="11" name="Text 8"/>
          <p:cNvSpPr/>
          <p:nvPr/>
        </p:nvSpPr>
        <p:spPr>
          <a:xfrm>
            <a:off x="5929313" y="1816745"/>
            <a:ext cx="2750344" cy="405408"/>
          </a:xfrm>
          <a:prstGeom prst="rect">
            <a:avLst/>
          </a:prstGeom>
          <a:noFill/>
          <a:ln/>
        </p:spPr>
        <p:txBody>
          <a:bodyPr wrap="square" lIns="8509" tIns="51054" rIns="187071" bIns="8509"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Sensitive to wording, weakly grounded, and difficult to audit across long workflows.</a:t>
            </a:r>
            <a:endParaRPr lang="en-US" sz="750" dirty="0"/>
          </a:p>
        </p:txBody>
      </p:sp>
      <p:sp>
        <p:nvSpPr>
          <p:cNvPr id="12" name="Text 9"/>
          <p:cNvSpPr/>
          <p:nvPr/>
        </p:nvSpPr>
        <p:spPr>
          <a:xfrm>
            <a:off x="428625" y="2222153"/>
            <a:ext cx="2750344" cy="403622"/>
          </a:xfrm>
          <a:prstGeom prst="rect">
            <a:avLst/>
          </a:prstGeom>
          <a:noFill/>
          <a:ln/>
        </p:spPr>
        <p:txBody>
          <a:bodyPr wrap="square" lIns="8509" tIns="51054" rIns="187071" bIns="8509" rtlCol="0" anchor="t">
            <a:spAutoFit/>
          </a:bodyPr>
          <a:lstStyle/>
          <a:p>
            <a:pPr marL="0" indent="0" algn="l">
              <a:lnSpc>
                <a:spcPct val="86400"/>
              </a:lnSpc>
              <a:buNone/>
            </a:pPr>
            <a:r>
              <a:rPr lang="en-US" sz="1000" b="1" dirty="0">
                <a:solidFill>
                  <a:srgbClr val="2F6F73"/>
                </a:solidFill>
                <a:latin typeface="Space Grotesk Bold" pitchFamily="34" charset="0"/>
                <a:ea typeface="Space Grotesk Bold" pitchFamily="34" charset="-122"/>
                <a:cs typeface="Space Grotesk Bold" pitchFamily="34" charset="-120"/>
              </a:rPr>
              <a:t>Retrieval-augmented generation</a:t>
            </a:r>
            <a:endParaRPr lang="en-US" sz="1000" dirty="0"/>
          </a:p>
        </p:txBody>
      </p:sp>
      <p:sp>
        <p:nvSpPr>
          <p:cNvPr id="13" name="Text 10"/>
          <p:cNvSpPr/>
          <p:nvPr/>
        </p:nvSpPr>
        <p:spPr>
          <a:xfrm>
            <a:off x="3178969" y="2222153"/>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00" dirty="0">
                <a:solidFill>
                  <a:srgbClr val="1B2430">
                    <a:alpha val="84000"/>
                  </a:srgbClr>
                </a:solidFill>
                <a:latin typeface="Inter Bold" pitchFamily="34" charset="0"/>
                <a:ea typeface="Inter Bold" pitchFamily="34" charset="-122"/>
                <a:cs typeface="Inter Bold" pitchFamily="34" charset="-120"/>
              </a:rPr>
              <a:t>Grounds outputs in papers, citations, code, logs, or external records.</a:t>
            </a:r>
            <a:endParaRPr lang="en-US" sz="700" dirty="0"/>
          </a:p>
        </p:txBody>
      </p:sp>
      <p:sp>
        <p:nvSpPr>
          <p:cNvPr id="14" name="Text 11"/>
          <p:cNvSpPr/>
          <p:nvPr/>
        </p:nvSpPr>
        <p:spPr>
          <a:xfrm>
            <a:off x="5929313" y="2222153"/>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Sources may be incomplete, version-inconsistent, or faithfully retrieved but misused.</a:t>
            </a:r>
            <a:endParaRPr lang="en-US" sz="750" dirty="0"/>
          </a:p>
        </p:txBody>
      </p:sp>
      <p:sp>
        <p:nvSpPr>
          <p:cNvPr id="15" name="Text 12"/>
          <p:cNvSpPr/>
          <p:nvPr/>
        </p:nvSpPr>
        <p:spPr>
          <a:xfrm>
            <a:off x="428625" y="2625775"/>
            <a:ext cx="2750344" cy="403622"/>
          </a:xfrm>
          <a:prstGeom prst="rect">
            <a:avLst/>
          </a:prstGeom>
          <a:noFill/>
          <a:ln/>
        </p:spPr>
        <p:txBody>
          <a:bodyPr wrap="square" lIns="8509" tIns="51054" rIns="187071" bIns="8509" rtlCol="0" anchor="t">
            <a:spAutoFit/>
          </a:bodyPr>
          <a:lstStyle/>
          <a:p>
            <a:pPr marL="0" indent="0" algn="l">
              <a:lnSpc>
                <a:spcPct val="86400"/>
              </a:lnSpc>
              <a:buNone/>
            </a:pPr>
            <a:r>
              <a:rPr lang="en-US" sz="1000" b="1" dirty="0">
                <a:solidFill>
                  <a:srgbClr val="2F6F73"/>
                </a:solidFill>
                <a:latin typeface="Space Grotesk Bold" pitchFamily="34" charset="0"/>
                <a:ea typeface="Space Grotesk Bold" pitchFamily="34" charset="-122"/>
                <a:cs typeface="Space Grotesk Bold" pitchFamily="34" charset="-120"/>
              </a:rPr>
              <a:t>Training-free agents</a:t>
            </a:r>
            <a:endParaRPr lang="en-US" sz="1000" dirty="0"/>
          </a:p>
        </p:txBody>
      </p:sp>
      <p:sp>
        <p:nvSpPr>
          <p:cNvPr id="16" name="Text 13"/>
          <p:cNvSpPr/>
          <p:nvPr/>
        </p:nvSpPr>
        <p:spPr>
          <a:xfrm>
            <a:off x="3178969" y="2625775"/>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00" dirty="0">
                <a:solidFill>
                  <a:srgbClr val="1B2430">
                    <a:alpha val="84000"/>
                  </a:srgbClr>
                </a:solidFill>
                <a:latin typeface="Inter Bold" pitchFamily="34" charset="0"/>
                <a:ea typeface="Inter Bold" pitchFamily="34" charset="-122"/>
                <a:cs typeface="Inter Bold" pitchFamily="34" charset="-120"/>
              </a:rPr>
              <a:t>Plan, call tools, maintain state, and iterate across research subtasks.</a:t>
            </a:r>
            <a:endParaRPr lang="en-US" sz="700" dirty="0"/>
          </a:p>
        </p:txBody>
      </p:sp>
      <p:sp>
        <p:nvSpPr>
          <p:cNvPr id="17" name="Text 14"/>
          <p:cNvSpPr/>
          <p:nvPr/>
        </p:nvSpPr>
        <p:spPr>
          <a:xfrm>
            <a:off x="5929313" y="2625775"/>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Tool errors and weak self-critique can propagate through phase handoffs.</a:t>
            </a:r>
            <a:endParaRPr lang="en-US" sz="750" dirty="0"/>
          </a:p>
        </p:txBody>
      </p:sp>
      <p:sp>
        <p:nvSpPr>
          <p:cNvPr id="18" name="Text 15"/>
          <p:cNvSpPr/>
          <p:nvPr/>
        </p:nvSpPr>
        <p:spPr>
          <a:xfrm>
            <a:off x="428625" y="3029396"/>
            <a:ext cx="2750344" cy="403622"/>
          </a:xfrm>
          <a:prstGeom prst="rect">
            <a:avLst/>
          </a:prstGeom>
          <a:noFill/>
          <a:ln/>
        </p:spPr>
        <p:txBody>
          <a:bodyPr wrap="square" lIns="8509" tIns="51054" rIns="187071" bIns="8509" rtlCol="0" anchor="t">
            <a:spAutoFit/>
          </a:bodyPr>
          <a:lstStyle/>
          <a:p>
            <a:pPr marL="0" indent="0" algn="l">
              <a:lnSpc>
                <a:spcPct val="86400"/>
              </a:lnSpc>
              <a:buNone/>
            </a:pPr>
            <a:r>
              <a:rPr lang="en-US" sz="1000" b="1" dirty="0">
                <a:solidFill>
                  <a:srgbClr val="2F6F73"/>
                </a:solidFill>
                <a:latin typeface="Space Grotesk Bold" pitchFamily="34" charset="0"/>
                <a:ea typeface="Space Grotesk Bold" pitchFamily="34" charset="-122"/>
                <a:cs typeface="Space Grotesk Bold" pitchFamily="34" charset="-120"/>
              </a:rPr>
              <a:t>Training-based methods</a:t>
            </a:r>
            <a:endParaRPr lang="en-US" sz="1000" dirty="0"/>
          </a:p>
        </p:txBody>
      </p:sp>
      <p:sp>
        <p:nvSpPr>
          <p:cNvPr id="19" name="Text 16"/>
          <p:cNvSpPr/>
          <p:nvPr/>
        </p:nvSpPr>
        <p:spPr>
          <a:xfrm>
            <a:off x="3178969" y="3029396"/>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00" dirty="0">
                <a:solidFill>
                  <a:srgbClr val="1B2430">
                    <a:alpha val="84000"/>
                  </a:srgbClr>
                </a:solidFill>
                <a:latin typeface="Inter Bold" pitchFamily="34" charset="0"/>
                <a:ea typeface="Inter Bold" pitchFamily="34" charset="-122"/>
                <a:cs typeface="Inter Bold" pitchFamily="34" charset="-120"/>
              </a:rPr>
              <a:t>Improve task format, domain vocabulary, scoring consistency, and style control.</a:t>
            </a:r>
            <a:endParaRPr lang="en-US" sz="700" dirty="0"/>
          </a:p>
        </p:txBody>
      </p:sp>
      <p:sp>
        <p:nvSpPr>
          <p:cNvPr id="20" name="Text 17"/>
          <p:cNvSpPr/>
          <p:nvPr/>
        </p:nvSpPr>
        <p:spPr>
          <a:xfrm>
            <a:off x="5929313" y="3029396"/>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Depend on data quality and may overfit benchmark, venue, or reviewer norms.</a:t>
            </a:r>
            <a:endParaRPr lang="en-US" sz="750" dirty="0"/>
          </a:p>
        </p:txBody>
      </p:sp>
      <p:sp>
        <p:nvSpPr>
          <p:cNvPr id="21" name="Text 18"/>
          <p:cNvSpPr/>
          <p:nvPr/>
        </p:nvSpPr>
        <p:spPr>
          <a:xfrm>
            <a:off x="428625" y="3433018"/>
            <a:ext cx="2750344" cy="403622"/>
          </a:xfrm>
          <a:prstGeom prst="rect">
            <a:avLst/>
          </a:prstGeom>
          <a:noFill/>
          <a:ln/>
        </p:spPr>
        <p:txBody>
          <a:bodyPr wrap="square" lIns="8509" tIns="51054" rIns="187071" bIns="8509" rtlCol="0" anchor="t">
            <a:spAutoFit/>
          </a:bodyPr>
          <a:lstStyle/>
          <a:p>
            <a:pPr marL="0" indent="0" algn="l">
              <a:lnSpc>
                <a:spcPct val="86400"/>
              </a:lnSpc>
              <a:buNone/>
            </a:pPr>
            <a:r>
              <a:rPr lang="en-US" sz="1000" b="1" dirty="0">
                <a:solidFill>
                  <a:srgbClr val="2F6F73"/>
                </a:solidFill>
                <a:latin typeface="Space Grotesk Bold" pitchFamily="34" charset="0"/>
                <a:ea typeface="Space Grotesk Bold" pitchFamily="34" charset="-122"/>
                <a:cs typeface="Space Grotesk Bold" pitchFamily="34" charset="-120"/>
              </a:rPr>
              <a:t>Hybrid systems</a:t>
            </a:r>
            <a:endParaRPr lang="en-US" sz="1000" dirty="0"/>
          </a:p>
        </p:txBody>
      </p:sp>
      <p:sp>
        <p:nvSpPr>
          <p:cNvPr id="22" name="Text 19"/>
          <p:cNvSpPr/>
          <p:nvPr/>
        </p:nvSpPr>
        <p:spPr>
          <a:xfrm>
            <a:off x="3178969" y="3433018"/>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00" dirty="0">
                <a:solidFill>
                  <a:srgbClr val="1B2430">
                    <a:alpha val="84000"/>
                  </a:srgbClr>
                </a:solidFill>
                <a:latin typeface="Inter Bold" pitchFamily="34" charset="0"/>
                <a:ea typeface="Inter Bold" pitchFamily="34" charset="-122"/>
                <a:cs typeface="Inter Bold" pitchFamily="34" charset="-120"/>
              </a:rPr>
              <a:t>Combine grounding, execution, specialization, and orchestration in one workflow.</a:t>
            </a:r>
            <a:endParaRPr lang="en-US" sz="700" dirty="0"/>
          </a:p>
        </p:txBody>
      </p:sp>
      <p:sp>
        <p:nvSpPr>
          <p:cNvPr id="23" name="Text 20"/>
          <p:cNvSpPr/>
          <p:nvPr/>
        </p:nvSpPr>
        <p:spPr>
          <a:xfrm>
            <a:off x="5929313" y="3433018"/>
            <a:ext cx="2750344" cy="403622"/>
          </a:xfrm>
          <a:prstGeom prst="rect">
            <a:avLst/>
          </a:prstGeom>
          <a:noFill/>
          <a:ln/>
        </p:spPr>
        <p:txBody>
          <a:bodyPr wrap="square" lIns="8509" tIns="51054" rIns="187071" bIns="8509"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Require explicit state management, provenance, and verification design.</a:t>
            </a:r>
            <a:endParaRPr lang="en-US" sz="750" dirty="0"/>
          </a:p>
        </p:txBody>
      </p:sp>
      <p:sp>
        <p:nvSpPr>
          <p:cNvPr id="24" name="Text 21"/>
          <p:cNvSpPr/>
          <p:nvPr/>
        </p:nvSpPr>
        <p:spPr>
          <a:xfrm>
            <a:off x="428625" y="3949154"/>
            <a:ext cx="1964531" cy="735806"/>
          </a:xfrm>
          <a:prstGeom prst="rect">
            <a:avLst/>
          </a:prstGeom>
          <a:noFill/>
          <a:ln/>
        </p:spPr>
        <p:txBody>
          <a:bodyPr wrap="square" lIns="0" tIns="85090" rIns="0" bIns="0" rtlCol="0" anchor="t">
            <a:spAutoFit/>
          </a:bodyPr>
          <a:lstStyle/>
          <a:p>
            <a:pPr marL="0" indent="0" algn="l">
              <a:lnSpc>
                <a:spcPct val="84000"/>
              </a:lnSpc>
              <a:buNone/>
            </a:pPr>
            <a:r>
              <a:rPr lang="en-US" sz="1200" b="1" kern="0" spc="-1" dirty="0">
                <a:solidFill>
                  <a:srgbClr val="C06C3E"/>
                </a:solidFill>
                <a:latin typeface="Space Grotesk Bold" pitchFamily="34" charset="0"/>
                <a:ea typeface="Space Grotesk Bold" pitchFamily="34" charset="-122"/>
                <a:cs typeface="Space Grotesk Bold" pitchFamily="34" charset="-120"/>
              </a:rPr>
              <a:t>The recurring pattern</a:t>
            </a:r>
            <a:endParaRPr lang="en-US" sz="1200" dirty="0"/>
          </a:p>
        </p:txBody>
      </p:sp>
      <p:sp>
        <p:nvSpPr>
          <p:cNvPr id="25" name="Text 22"/>
          <p:cNvSpPr/>
          <p:nvPr/>
        </p:nvSpPr>
        <p:spPr>
          <a:xfrm>
            <a:off x="2636044" y="4020592"/>
            <a:ext cx="928688" cy="214313"/>
          </a:xfrm>
          <a:prstGeom prst="rect">
            <a:avLst/>
          </a:prstGeom>
          <a:noFill/>
          <a:ln/>
        </p:spPr>
        <p:txBody>
          <a:bodyPr wrap="none" lIns="0" tIns="51054" rIns="0" bIns="0" rtlCol="0" anchor="t">
            <a:spAutoFit/>
          </a:bodyPr>
          <a:lstStyle/>
          <a:p>
            <a:pPr marL="0" indent="0" algn="l">
              <a:buNone/>
            </a:pPr>
            <a:r>
              <a:rPr lang="en-US" sz="700" b="1" kern="0" spc="1" dirty="0">
                <a:solidFill>
                  <a:srgbClr val="2F6F73"/>
                </a:solidFill>
                <a:latin typeface="Space Grotesk Bold" pitchFamily="34" charset="0"/>
                <a:ea typeface="Space Grotesk Bold" pitchFamily="34" charset="-122"/>
                <a:cs typeface="Space Grotesk Bold" pitchFamily="34" charset="-120"/>
              </a:rPr>
              <a:t>EXPLORE</a:t>
            </a:r>
            <a:endParaRPr lang="en-US" sz="700" dirty="0"/>
          </a:p>
        </p:txBody>
      </p:sp>
      <p:sp>
        <p:nvSpPr>
          <p:cNvPr id="26" name="Text 23"/>
          <p:cNvSpPr/>
          <p:nvPr/>
        </p:nvSpPr>
        <p:spPr>
          <a:xfrm>
            <a:off x="3693319" y="4020592"/>
            <a:ext cx="4986338" cy="214313"/>
          </a:xfrm>
          <a:prstGeom prst="rect">
            <a:avLst/>
          </a:prstGeom>
          <a:noFill/>
          <a:ln/>
        </p:spPr>
        <p:txBody>
          <a:bodyPr wrap="square" lIns="0" tIns="51054" rIns="0" bIns="0" rtlCol="0" anchor="t">
            <a:spAutoFit/>
          </a:bodyPr>
          <a:lstStyle/>
          <a:p>
            <a:pPr marL="0" indent="0" algn="l">
              <a:lnSpc>
                <a:spcPct val="102400"/>
              </a:lnSpc>
              <a:buNone/>
            </a:pPr>
            <a:r>
              <a:rPr lang="en-US" sz="750" dirty="0">
                <a:solidFill>
                  <a:srgbClr val="1B2430">
                    <a:alpha val="78000"/>
                  </a:srgbClr>
                </a:solidFill>
                <a:latin typeface="Inter" pitchFamily="34" charset="0"/>
                <a:ea typeface="Inter" pitchFamily="34" charset="-122"/>
                <a:cs typeface="Inter" pitchFamily="34" charset="-120"/>
              </a:rPr>
              <a:t>Search over hypotheses, paper collections, code variants, response plans, or design alternatives.</a:t>
            </a:r>
            <a:endParaRPr lang="en-US" sz="750" dirty="0"/>
          </a:p>
        </p:txBody>
      </p:sp>
      <p:sp>
        <p:nvSpPr>
          <p:cNvPr id="27" name="Text 24"/>
          <p:cNvSpPr/>
          <p:nvPr/>
        </p:nvSpPr>
        <p:spPr>
          <a:xfrm>
            <a:off x="2636044" y="4245620"/>
            <a:ext cx="928688" cy="214313"/>
          </a:xfrm>
          <a:prstGeom prst="rect">
            <a:avLst/>
          </a:prstGeom>
          <a:noFill/>
          <a:ln/>
        </p:spPr>
        <p:txBody>
          <a:bodyPr wrap="none" lIns="0" tIns="51054" rIns="0" bIns="0" rtlCol="0" anchor="t">
            <a:spAutoFit/>
          </a:bodyPr>
          <a:lstStyle/>
          <a:p>
            <a:pPr marL="0" indent="0" algn="l">
              <a:buNone/>
            </a:pPr>
            <a:r>
              <a:rPr lang="en-US" sz="700" b="1" kern="0" spc="1" dirty="0">
                <a:solidFill>
                  <a:srgbClr val="2F6F73"/>
                </a:solidFill>
                <a:latin typeface="Space Grotesk Bold" pitchFamily="34" charset="0"/>
                <a:ea typeface="Space Grotesk Bold" pitchFamily="34" charset="-122"/>
                <a:cs typeface="Space Grotesk Bold" pitchFamily="34" charset="-120"/>
              </a:rPr>
              <a:t>EXECUTE</a:t>
            </a:r>
            <a:endParaRPr lang="en-US" sz="700" dirty="0"/>
          </a:p>
        </p:txBody>
      </p:sp>
      <p:sp>
        <p:nvSpPr>
          <p:cNvPr id="28" name="Text 25"/>
          <p:cNvSpPr/>
          <p:nvPr/>
        </p:nvSpPr>
        <p:spPr>
          <a:xfrm>
            <a:off x="3693319" y="4245620"/>
            <a:ext cx="4986338" cy="214313"/>
          </a:xfrm>
          <a:prstGeom prst="rect">
            <a:avLst/>
          </a:prstGeom>
          <a:noFill/>
          <a:ln/>
        </p:spPr>
        <p:txBody>
          <a:bodyPr wrap="square" lIns="0" tIns="51054" rIns="0" bIns="0" rtlCol="0" anchor="t">
            <a:spAutoFit/>
          </a:bodyPr>
          <a:lstStyle/>
          <a:p>
            <a:pPr marL="0" indent="0" algn="l">
              <a:lnSpc>
                <a:spcPct val="102400"/>
              </a:lnSpc>
              <a:buNone/>
            </a:pPr>
            <a:r>
              <a:rPr lang="en-US" sz="750" dirty="0">
                <a:solidFill>
                  <a:srgbClr val="1B2430">
                    <a:alpha val="78000"/>
                  </a:srgbClr>
                </a:solidFill>
                <a:latin typeface="Inter" pitchFamily="34" charset="0"/>
                <a:ea typeface="Inter" pitchFamily="34" charset="-122"/>
                <a:cs typeface="Inter" pitchFamily="34" charset="-120"/>
              </a:rPr>
              <a:t>Use retrieval engines, code interpreters, experiment runners, plotting tools, and editors.</a:t>
            </a:r>
            <a:endParaRPr lang="en-US" sz="750" dirty="0"/>
          </a:p>
        </p:txBody>
      </p:sp>
      <p:sp>
        <p:nvSpPr>
          <p:cNvPr id="29" name="Text 26"/>
          <p:cNvSpPr/>
          <p:nvPr/>
        </p:nvSpPr>
        <p:spPr>
          <a:xfrm>
            <a:off x="2636044" y="4470648"/>
            <a:ext cx="928688" cy="214313"/>
          </a:xfrm>
          <a:prstGeom prst="rect">
            <a:avLst/>
          </a:prstGeom>
          <a:noFill/>
          <a:ln/>
        </p:spPr>
        <p:txBody>
          <a:bodyPr wrap="none" lIns="0" tIns="51054" rIns="0" bIns="0" rtlCol="0" anchor="t">
            <a:spAutoFit/>
          </a:bodyPr>
          <a:lstStyle/>
          <a:p>
            <a:pPr marL="0" indent="0" algn="l">
              <a:buNone/>
            </a:pPr>
            <a:r>
              <a:rPr lang="en-US" sz="700" b="1" kern="0" spc="1" dirty="0">
                <a:solidFill>
                  <a:srgbClr val="2F6F73"/>
                </a:solidFill>
                <a:latin typeface="Space Grotesk Bold" pitchFamily="34" charset="0"/>
                <a:ea typeface="Space Grotesk Bold" pitchFamily="34" charset="-122"/>
                <a:cs typeface="Space Grotesk Bold" pitchFamily="34" charset="-120"/>
              </a:rPr>
              <a:t>VERIFY</a:t>
            </a:r>
            <a:endParaRPr lang="en-US" sz="700" dirty="0"/>
          </a:p>
        </p:txBody>
      </p:sp>
      <p:sp>
        <p:nvSpPr>
          <p:cNvPr id="30" name="Text 27"/>
          <p:cNvSpPr/>
          <p:nvPr/>
        </p:nvSpPr>
        <p:spPr>
          <a:xfrm>
            <a:off x="3693319" y="4470648"/>
            <a:ext cx="4986338" cy="214313"/>
          </a:xfrm>
          <a:prstGeom prst="rect">
            <a:avLst/>
          </a:prstGeom>
          <a:noFill/>
          <a:ln/>
        </p:spPr>
        <p:txBody>
          <a:bodyPr wrap="square" lIns="0" tIns="51054" rIns="0" bIns="0" rtlCol="0" anchor="t">
            <a:spAutoFit/>
          </a:bodyPr>
          <a:lstStyle/>
          <a:p>
            <a:pPr marL="0" indent="0" algn="l">
              <a:lnSpc>
                <a:spcPct val="102400"/>
              </a:lnSpc>
              <a:buNone/>
            </a:pPr>
            <a:r>
              <a:rPr lang="en-US" sz="750" dirty="0">
                <a:solidFill>
                  <a:srgbClr val="1B2430">
                    <a:alpha val="78000"/>
                  </a:srgbClr>
                </a:solidFill>
                <a:latin typeface="Inter" pitchFamily="34" charset="0"/>
                <a:ea typeface="Inter" pitchFamily="34" charset="-122"/>
                <a:cs typeface="Inter" pitchFamily="34" charset="-120"/>
              </a:rPr>
              <a:t>Check whether intermediate outputs are grounded, correct, useful, and traceable to evidence.</a:t>
            </a:r>
            <a:endParaRPr lang="en-US" sz="750" dirty="0"/>
          </a:p>
        </p:txBody>
      </p:sp>
      <p:sp>
        <p:nvSpPr>
          <p:cNvPr id="31" name="Text 28"/>
          <p:cNvSpPr/>
          <p:nvPr/>
        </p:nvSpPr>
        <p:spPr>
          <a:xfrm>
            <a:off x="428625" y="4947047"/>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50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CREATION PHASE</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Creation shows the production–verification gap</a:t>
            </a:r>
            <a:endParaRPr lang="en-US" sz="1950" dirty="0"/>
          </a:p>
        </p:txBody>
      </p:sp>
      <p:sp>
        <p:nvSpPr>
          <p:cNvPr id="5" name="Text 2"/>
          <p:cNvSpPr/>
          <p:nvPr/>
        </p:nvSpPr>
        <p:spPr>
          <a:xfrm>
            <a:off x="428625" y="957821"/>
            <a:ext cx="7715250" cy="339440"/>
          </a:xfrm>
          <a:prstGeom prst="rect">
            <a:avLst/>
          </a:prstGeom>
          <a:noFill/>
          <a:ln/>
        </p:spPr>
        <p:txBody>
          <a:bodyPr wrap="square" lIns="0" tIns="0" rIns="0" bIns="0" rtlCol="0" anchor="t">
            <a:spAutoFit/>
          </a:bodyPr>
          <a:lstStyle/>
          <a:p>
            <a:pPr marL="0" indent="0" algn="l">
              <a:lnSpc>
                <a:spcPct val="105600"/>
              </a:lnSpc>
              <a:buNone/>
            </a:pPr>
            <a:r>
              <a:rPr lang="en-US" sz="950" dirty="0">
                <a:solidFill>
                  <a:srgbClr val="1B2430">
                    <a:alpha val="78000"/>
                  </a:srgbClr>
                </a:solidFill>
                <a:latin typeface="Inter" pitchFamily="34" charset="0"/>
                <a:ea typeface="Inter" pitchFamily="34" charset="-122"/>
                <a:cs typeface="Inter" pitchFamily="34" charset="-120"/>
              </a:rPr>
              <a:t>AI is increasingly strong at producing early research artifacts, but each Creation stage exposes a different verification failure that can propagate downstream.</a:t>
            </a:r>
            <a:endParaRPr lang="en-US" sz="950" dirty="0"/>
          </a:p>
        </p:txBody>
      </p:sp>
      <p:sp>
        <p:nvSpPr>
          <p:cNvPr id="6" name="Text 3"/>
          <p:cNvSpPr/>
          <p:nvPr/>
        </p:nvSpPr>
        <p:spPr>
          <a:xfrm>
            <a:off x="428625" y="1440135"/>
            <a:ext cx="1071563" cy="132159"/>
          </a:xfrm>
          <a:prstGeom prst="rect">
            <a:avLst/>
          </a:prstGeom>
          <a:noFill/>
          <a:ln/>
        </p:spPr>
        <p:txBody>
          <a:bodyPr wrap="none" lIns="0" tIns="0" rIns="0" bIns="0" rtlCol="0" anchor="t">
            <a:spAutoFit/>
          </a:bodyPr>
          <a:lstStyle/>
          <a:p>
            <a:pPr marL="0" indent="0" algn="l">
              <a:buNone/>
            </a:pPr>
            <a:r>
              <a:rPr lang="en-US" sz="800" b="1" dirty="0">
                <a:solidFill>
                  <a:srgbClr val="C06C3E"/>
                </a:solidFill>
                <a:latin typeface="Space Grotesk Bold" pitchFamily="34" charset="0"/>
                <a:ea typeface="Space Grotesk Bold" pitchFamily="34" charset="-122"/>
                <a:cs typeface="Space Grotesk Bold" pitchFamily="34" charset="-120"/>
              </a:rPr>
              <a:t>Production</a:t>
            </a:r>
            <a:endParaRPr lang="en-US" sz="800" dirty="0"/>
          </a:p>
        </p:txBody>
      </p:sp>
      <p:sp>
        <p:nvSpPr>
          <p:cNvPr id="7" name="Text 4"/>
          <p:cNvSpPr/>
          <p:nvPr/>
        </p:nvSpPr>
        <p:spPr>
          <a:xfrm>
            <a:off x="7629525" y="1440135"/>
            <a:ext cx="1071563" cy="132159"/>
          </a:xfrm>
          <a:prstGeom prst="rect">
            <a:avLst/>
          </a:prstGeom>
          <a:noFill/>
          <a:ln/>
        </p:spPr>
        <p:txBody>
          <a:bodyPr wrap="none" lIns="0" tIns="0" rIns="0" bIns="0" rtlCol="0" anchor="t">
            <a:spAutoFit/>
          </a:bodyPr>
          <a:lstStyle/>
          <a:p>
            <a:pPr marL="0" indent="0" algn="r">
              <a:buNone/>
            </a:pPr>
            <a:r>
              <a:rPr lang="en-US" sz="800" b="1" dirty="0">
                <a:solidFill>
                  <a:srgbClr val="C06C3E"/>
                </a:solidFill>
                <a:latin typeface="Space Grotesk Bold" pitchFamily="34" charset="0"/>
                <a:ea typeface="Space Grotesk Bold" pitchFamily="34" charset="-122"/>
                <a:cs typeface="Space Grotesk Bold" pitchFamily="34" charset="-120"/>
              </a:rPr>
              <a:t>Verification</a:t>
            </a:r>
            <a:endParaRPr lang="en-US" sz="800" dirty="0"/>
          </a:p>
        </p:txBody>
      </p:sp>
      <p:sp>
        <p:nvSpPr>
          <p:cNvPr id="8" name="Text 5"/>
          <p:cNvSpPr/>
          <p:nvPr/>
        </p:nvSpPr>
        <p:spPr>
          <a:xfrm>
            <a:off x="428625" y="1836613"/>
            <a:ext cx="1960959" cy="200025"/>
          </a:xfrm>
          <a:prstGeom prst="rect">
            <a:avLst/>
          </a:prstGeom>
          <a:noFill/>
          <a:ln/>
        </p:spPr>
        <p:txBody>
          <a:bodyPr wrap="none" lIns="0" tIns="0" rIns="0" bIns="0" rtlCol="0" anchor="t">
            <a:spAutoFit/>
          </a:bodyPr>
          <a:lstStyle/>
          <a:p>
            <a:pPr marL="0" indent="0" algn="l">
              <a:lnSpc>
                <a:spcPct val="80000"/>
              </a:lnSpc>
              <a:buNone/>
            </a:pPr>
            <a:r>
              <a:rPr lang="en-US" sz="1400" b="1" kern="0" spc="-1" dirty="0">
                <a:solidFill>
                  <a:srgbClr val="C06C3E"/>
                </a:solidFill>
                <a:latin typeface="Space Grotesk Bold" pitchFamily="34" charset="0"/>
                <a:ea typeface="Space Grotesk Bold" pitchFamily="34" charset="-122"/>
                <a:cs typeface="Space Grotesk Bold" pitchFamily="34" charset="-120"/>
              </a:rPr>
              <a:t>S1</a:t>
            </a:r>
            <a:endParaRPr lang="en-US" sz="1400" dirty="0"/>
          </a:p>
        </p:txBody>
      </p:sp>
      <p:sp>
        <p:nvSpPr>
          <p:cNvPr id="9" name="Text 6"/>
          <p:cNvSpPr/>
          <p:nvPr/>
        </p:nvSpPr>
        <p:spPr>
          <a:xfrm>
            <a:off x="428625" y="2093788"/>
            <a:ext cx="1960959" cy="342900"/>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2F6F73"/>
                </a:solidFill>
                <a:latin typeface="Space Grotesk Bold" pitchFamily="34" charset="0"/>
                <a:ea typeface="Space Grotesk Bold" pitchFamily="34" charset="-122"/>
                <a:cs typeface="Space Grotesk Bold" pitchFamily="34" charset="-120"/>
              </a:rPr>
              <a:t>Idea generation</a:t>
            </a:r>
            <a:endParaRPr lang="en-US" sz="1100" dirty="0"/>
          </a:p>
        </p:txBody>
      </p:sp>
      <p:sp>
        <p:nvSpPr>
          <p:cNvPr id="10" name="Text 7"/>
          <p:cNvSpPr/>
          <p:nvPr/>
        </p:nvSpPr>
        <p:spPr>
          <a:xfrm>
            <a:off x="428625" y="2543845"/>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PROGRESS</a:t>
            </a:r>
            <a:endParaRPr lang="en-US" sz="600" dirty="0"/>
          </a:p>
        </p:txBody>
      </p:sp>
      <p:sp>
        <p:nvSpPr>
          <p:cNvPr id="11" name="Text 8"/>
          <p:cNvSpPr/>
          <p:nvPr/>
        </p:nvSpPr>
        <p:spPr>
          <a:xfrm>
            <a:off x="428625" y="2684934"/>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Prompting, retrieval, multi-agent critique, and RL-style scoring now generate large pools of plausible hypotheses.</a:t>
            </a:r>
            <a:endParaRPr lang="en-US" sz="750" dirty="0"/>
          </a:p>
        </p:txBody>
      </p:sp>
      <p:sp>
        <p:nvSpPr>
          <p:cNvPr id="12" name="Text 9"/>
          <p:cNvSpPr/>
          <p:nvPr/>
        </p:nvSpPr>
        <p:spPr>
          <a:xfrm>
            <a:off x="428625" y="3376259"/>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BOTTLENECK</a:t>
            </a:r>
            <a:endParaRPr lang="en-US" sz="600" dirty="0"/>
          </a:p>
        </p:txBody>
      </p:sp>
      <p:sp>
        <p:nvSpPr>
          <p:cNvPr id="13" name="Text 10"/>
          <p:cNvSpPr/>
          <p:nvPr/>
        </p:nvSpPr>
        <p:spPr>
          <a:xfrm>
            <a:off x="428625" y="3517348"/>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Ideas that sound novel can weaken after implementation; novelty and feasibility remain in tension.</a:t>
            </a:r>
            <a:endParaRPr lang="en-US" sz="750" dirty="0"/>
          </a:p>
        </p:txBody>
      </p:sp>
      <p:sp>
        <p:nvSpPr>
          <p:cNvPr id="14" name="Text 11"/>
          <p:cNvSpPr/>
          <p:nvPr/>
        </p:nvSpPr>
        <p:spPr>
          <a:xfrm>
            <a:off x="428625" y="4033651"/>
            <a:ext cx="1960959" cy="444308"/>
          </a:xfrm>
          <a:prstGeom prst="rect">
            <a:avLst/>
          </a:prstGeom>
          <a:noFill/>
          <a:ln/>
        </p:spPr>
        <p:txBody>
          <a:bodyPr wrap="square" lIns="0" tIns="85090" rIns="0" bIns="0" rtlCol="0" anchor="t">
            <a:spAutoFit/>
          </a:bodyPr>
          <a:lstStyle/>
          <a:p>
            <a:pPr marL="0" indent="0" algn="l">
              <a:lnSpc>
                <a:spcPct val="104000"/>
              </a:lnSpc>
              <a:buNone/>
            </a:pPr>
            <a:r>
              <a:rPr lang="en-US" sz="650" b="1" dirty="0">
                <a:solidFill>
                  <a:srgbClr val="2F6F73"/>
                </a:solidFill>
                <a:latin typeface="Inter Bold" pitchFamily="34" charset="0"/>
                <a:ea typeface="Inter Bold" pitchFamily="34" charset="-122"/>
                <a:cs typeface="Inter Bold" pitchFamily="34" charset="-120"/>
              </a:rPr>
              <a:t>Checkpoint:</a:t>
            </a:r>
            <a:r>
              <a:rPr lang="en-US" sz="650" dirty="0">
                <a:solidFill>
                  <a:srgbClr val="1B2430">
                    <a:alpha val="72000"/>
                  </a:srgbClr>
                </a:solidFill>
                <a:latin typeface="Inter" pitchFamily="34" charset="0"/>
                <a:ea typeface="Inter" pitchFamily="34" charset="-122"/>
                <a:cs typeface="Inter" pitchFamily="34" charset="-120"/>
              </a:rPr>
              <a:t> test whether the idea remains executable and meaningful after evidence gathering.</a:t>
            </a:r>
            <a:endParaRPr lang="en-US" sz="650" dirty="0"/>
          </a:p>
        </p:txBody>
      </p:sp>
      <p:sp>
        <p:nvSpPr>
          <p:cNvPr id="15" name="Text 12"/>
          <p:cNvSpPr/>
          <p:nvPr/>
        </p:nvSpPr>
        <p:spPr>
          <a:xfrm>
            <a:off x="2532459" y="1836613"/>
            <a:ext cx="1960959" cy="200025"/>
          </a:xfrm>
          <a:prstGeom prst="rect">
            <a:avLst/>
          </a:prstGeom>
          <a:noFill/>
          <a:ln/>
        </p:spPr>
        <p:txBody>
          <a:bodyPr wrap="none" lIns="0" tIns="0" rIns="0" bIns="0" rtlCol="0" anchor="t">
            <a:spAutoFit/>
          </a:bodyPr>
          <a:lstStyle/>
          <a:p>
            <a:pPr marL="0" indent="0" algn="l">
              <a:lnSpc>
                <a:spcPct val="80000"/>
              </a:lnSpc>
              <a:buNone/>
            </a:pPr>
            <a:r>
              <a:rPr lang="en-US" sz="1400" b="1" kern="0" spc="-1" dirty="0">
                <a:solidFill>
                  <a:srgbClr val="C06C3E"/>
                </a:solidFill>
                <a:latin typeface="Space Grotesk Bold" pitchFamily="34" charset="0"/>
                <a:ea typeface="Space Grotesk Bold" pitchFamily="34" charset="-122"/>
                <a:cs typeface="Space Grotesk Bold" pitchFamily="34" charset="-120"/>
              </a:rPr>
              <a:t>S2</a:t>
            </a:r>
            <a:endParaRPr lang="en-US" sz="1400" dirty="0"/>
          </a:p>
        </p:txBody>
      </p:sp>
      <p:sp>
        <p:nvSpPr>
          <p:cNvPr id="16" name="Text 13"/>
          <p:cNvSpPr/>
          <p:nvPr/>
        </p:nvSpPr>
        <p:spPr>
          <a:xfrm>
            <a:off x="2532459" y="2093788"/>
            <a:ext cx="1960959" cy="342900"/>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2F6F73"/>
                </a:solidFill>
                <a:latin typeface="Space Grotesk Bold" pitchFamily="34" charset="0"/>
                <a:ea typeface="Space Grotesk Bold" pitchFamily="34" charset="-122"/>
                <a:cs typeface="Space Grotesk Bold" pitchFamily="34" charset="-120"/>
              </a:rPr>
              <a:t>Literature review</a:t>
            </a:r>
            <a:endParaRPr lang="en-US" sz="1100" dirty="0"/>
          </a:p>
        </p:txBody>
      </p:sp>
      <p:sp>
        <p:nvSpPr>
          <p:cNvPr id="17" name="Text 14"/>
          <p:cNvSpPr/>
          <p:nvPr/>
        </p:nvSpPr>
        <p:spPr>
          <a:xfrm>
            <a:off x="2532459" y="2543845"/>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PROGRESS</a:t>
            </a:r>
            <a:endParaRPr lang="en-US" sz="600" dirty="0"/>
          </a:p>
        </p:txBody>
      </p:sp>
      <p:sp>
        <p:nvSpPr>
          <p:cNvPr id="18" name="Text 15"/>
          <p:cNvSpPr/>
          <p:nvPr/>
        </p:nvSpPr>
        <p:spPr>
          <a:xfrm>
            <a:off x="2532459" y="2684934"/>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Retrieval, citation graphs, survey drafting, and deep research agents can organize large paper collections.</a:t>
            </a:r>
            <a:endParaRPr lang="en-US" sz="750" dirty="0"/>
          </a:p>
        </p:txBody>
      </p:sp>
      <p:sp>
        <p:nvSpPr>
          <p:cNvPr id="19" name="Text 16"/>
          <p:cNvSpPr/>
          <p:nvPr/>
        </p:nvSpPr>
        <p:spPr>
          <a:xfrm>
            <a:off x="2532459" y="3376259"/>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BOTTLENECK</a:t>
            </a:r>
            <a:endParaRPr lang="en-US" sz="600" dirty="0"/>
          </a:p>
        </p:txBody>
      </p:sp>
      <p:sp>
        <p:nvSpPr>
          <p:cNvPr id="20" name="Text 17"/>
          <p:cNvSpPr/>
          <p:nvPr/>
        </p:nvSpPr>
        <p:spPr>
          <a:xfrm>
            <a:off x="2532459" y="3517348"/>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Coverage gaps, citation drift, and weak multi-paper reasoning can create persuasive but unfaithful narratives.</a:t>
            </a:r>
            <a:endParaRPr lang="en-US" sz="750" dirty="0"/>
          </a:p>
        </p:txBody>
      </p:sp>
      <p:sp>
        <p:nvSpPr>
          <p:cNvPr id="21" name="Text 18"/>
          <p:cNvSpPr/>
          <p:nvPr/>
        </p:nvSpPr>
        <p:spPr>
          <a:xfrm>
            <a:off x="2532459" y="4033651"/>
            <a:ext cx="1960959" cy="444308"/>
          </a:xfrm>
          <a:prstGeom prst="rect">
            <a:avLst/>
          </a:prstGeom>
          <a:noFill/>
          <a:ln/>
        </p:spPr>
        <p:txBody>
          <a:bodyPr wrap="square" lIns="0" tIns="85090" rIns="0" bIns="0" rtlCol="0" anchor="t">
            <a:spAutoFit/>
          </a:bodyPr>
          <a:lstStyle/>
          <a:p>
            <a:pPr marL="0" indent="0" algn="l">
              <a:lnSpc>
                <a:spcPct val="104000"/>
              </a:lnSpc>
              <a:buNone/>
            </a:pPr>
            <a:r>
              <a:rPr lang="en-US" sz="650" b="1" dirty="0">
                <a:solidFill>
                  <a:srgbClr val="2F6F73"/>
                </a:solidFill>
                <a:latin typeface="Inter Bold" pitchFamily="34" charset="0"/>
                <a:ea typeface="Inter Bold" pitchFamily="34" charset="-122"/>
                <a:cs typeface="Inter Bold" pitchFamily="34" charset="-120"/>
              </a:rPr>
              <a:t>Checkpoint:</a:t>
            </a:r>
            <a:r>
              <a:rPr lang="en-US" sz="650" dirty="0">
                <a:solidFill>
                  <a:srgbClr val="1B2430">
                    <a:alpha val="72000"/>
                  </a:srgbClr>
                </a:solidFill>
                <a:latin typeface="Inter" pitchFamily="34" charset="0"/>
                <a:ea typeface="Inter" pitchFamily="34" charset="-122"/>
                <a:cs typeface="Inter" pitchFamily="34" charset="-120"/>
              </a:rPr>
              <a:t> verify citation fidelity, source coverage, and relationship claims across papers.</a:t>
            </a:r>
            <a:endParaRPr lang="en-US" sz="650" dirty="0"/>
          </a:p>
        </p:txBody>
      </p:sp>
      <p:sp>
        <p:nvSpPr>
          <p:cNvPr id="22" name="Text 19"/>
          <p:cNvSpPr/>
          <p:nvPr/>
        </p:nvSpPr>
        <p:spPr>
          <a:xfrm>
            <a:off x="4636294" y="1836613"/>
            <a:ext cx="1960959" cy="200025"/>
          </a:xfrm>
          <a:prstGeom prst="rect">
            <a:avLst/>
          </a:prstGeom>
          <a:noFill/>
          <a:ln/>
        </p:spPr>
        <p:txBody>
          <a:bodyPr wrap="none" lIns="0" tIns="0" rIns="0" bIns="0" rtlCol="0" anchor="t">
            <a:spAutoFit/>
          </a:bodyPr>
          <a:lstStyle/>
          <a:p>
            <a:pPr marL="0" indent="0" algn="l">
              <a:lnSpc>
                <a:spcPct val="80000"/>
              </a:lnSpc>
              <a:buNone/>
            </a:pPr>
            <a:r>
              <a:rPr lang="en-US" sz="1400" b="1" kern="0" spc="-1" dirty="0">
                <a:solidFill>
                  <a:srgbClr val="C06C3E"/>
                </a:solidFill>
                <a:latin typeface="Space Grotesk Bold" pitchFamily="34" charset="0"/>
                <a:ea typeface="Space Grotesk Bold" pitchFamily="34" charset="-122"/>
                <a:cs typeface="Space Grotesk Bold" pitchFamily="34" charset="-120"/>
              </a:rPr>
              <a:t>S3</a:t>
            </a:r>
            <a:endParaRPr lang="en-US" sz="1400" dirty="0"/>
          </a:p>
        </p:txBody>
      </p:sp>
      <p:sp>
        <p:nvSpPr>
          <p:cNvPr id="23" name="Text 20"/>
          <p:cNvSpPr/>
          <p:nvPr/>
        </p:nvSpPr>
        <p:spPr>
          <a:xfrm>
            <a:off x="4636294" y="2093788"/>
            <a:ext cx="1960959" cy="342900"/>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2F6F73"/>
                </a:solidFill>
                <a:latin typeface="Space Grotesk Bold" pitchFamily="34" charset="0"/>
                <a:ea typeface="Space Grotesk Bold" pitchFamily="34" charset="-122"/>
                <a:cs typeface="Space Grotesk Bold" pitchFamily="34" charset="-120"/>
              </a:rPr>
              <a:t>Coding &amp; experiments</a:t>
            </a:r>
            <a:endParaRPr lang="en-US" sz="1100" dirty="0"/>
          </a:p>
        </p:txBody>
      </p:sp>
      <p:sp>
        <p:nvSpPr>
          <p:cNvPr id="24" name="Text 21"/>
          <p:cNvSpPr/>
          <p:nvPr/>
        </p:nvSpPr>
        <p:spPr>
          <a:xfrm>
            <a:off x="4636294" y="2543845"/>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PROGRESS</a:t>
            </a:r>
            <a:endParaRPr lang="en-US" sz="600" dirty="0"/>
          </a:p>
        </p:txBody>
      </p:sp>
      <p:sp>
        <p:nvSpPr>
          <p:cNvPr id="25" name="Text 22"/>
          <p:cNvSpPr/>
          <p:nvPr/>
        </p:nvSpPr>
        <p:spPr>
          <a:xfrm>
            <a:off x="4636294" y="2684934"/>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Agents can write code, call tools, execute experiments, inspect outputs, and iterate on implementations.</a:t>
            </a:r>
            <a:endParaRPr lang="en-US" sz="750" dirty="0"/>
          </a:p>
        </p:txBody>
      </p:sp>
      <p:sp>
        <p:nvSpPr>
          <p:cNvPr id="26" name="Text 23"/>
          <p:cNvSpPr/>
          <p:nvPr/>
        </p:nvSpPr>
        <p:spPr>
          <a:xfrm>
            <a:off x="4636294" y="3376259"/>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BOTTLENECK</a:t>
            </a:r>
            <a:endParaRPr lang="en-US" sz="600" dirty="0"/>
          </a:p>
        </p:txBody>
      </p:sp>
      <p:sp>
        <p:nvSpPr>
          <p:cNvPr id="27" name="Text 24"/>
          <p:cNvSpPr/>
          <p:nvPr/>
        </p:nvSpPr>
        <p:spPr>
          <a:xfrm>
            <a:off x="4636294" y="3517348"/>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Research code may execute successfully while implementing the wrong algorithm or testing the wrong claim.</a:t>
            </a:r>
            <a:endParaRPr lang="en-US" sz="750" dirty="0"/>
          </a:p>
        </p:txBody>
      </p:sp>
      <p:sp>
        <p:nvSpPr>
          <p:cNvPr id="28" name="Text 25"/>
          <p:cNvSpPr/>
          <p:nvPr/>
        </p:nvSpPr>
        <p:spPr>
          <a:xfrm>
            <a:off x="4636294" y="4033651"/>
            <a:ext cx="1960959" cy="444308"/>
          </a:xfrm>
          <a:prstGeom prst="rect">
            <a:avLst/>
          </a:prstGeom>
          <a:noFill/>
          <a:ln/>
        </p:spPr>
        <p:txBody>
          <a:bodyPr wrap="square" lIns="0" tIns="85090" rIns="0" bIns="0" rtlCol="0" anchor="t">
            <a:spAutoFit/>
          </a:bodyPr>
          <a:lstStyle/>
          <a:p>
            <a:pPr marL="0" indent="0" algn="l">
              <a:lnSpc>
                <a:spcPct val="104000"/>
              </a:lnSpc>
              <a:buNone/>
            </a:pPr>
            <a:r>
              <a:rPr lang="en-US" sz="650" b="1" dirty="0">
                <a:solidFill>
                  <a:srgbClr val="2F6F73"/>
                </a:solidFill>
                <a:latin typeface="Inter Bold" pitchFamily="34" charset="0"/>
                <a:ea typeface="Inter Bold" pitchFamily="34" charset="-122"/>
                <a:cs typeface="Inter Bold" pitchFamily="34" charset="-120"/>
              </a:rPr>
              <a:t>Checkpoint:</a:t>
            </a:r>
            <a:r>
              <a:rPr lang="en-US" sz="650" dirty="0">
                <a:solidFill>
                  <a:srgbClr val="1B2430">
                    <a:alpha val="72000"/>
                  </a:srgbClr>
                </a:solidFill>
                <a:latin typeface="Inter" pitchFamily="34" charset="0"/>
                <a:ea typeface="Inter" pitchFamily="34" charset="-122"/>
                <a:cs typeface="Inter" pitchFamily="34" charset="-120"/>
              </a:rPr>
              <a:t> combine execution logs with semantic tests, reproduction checks, and expert review.</a:t>
            </a:r>
            <a:endParaRPr lang="en-US" sz="650" dirty="0"/>
          </a:p>
        </p:txBody>
      </p:sp>
      <p:sp>
        <p:nvSpPr>
          <p:cNvPr id="29" name="Text 26"/>
          <p:cNvSpPr/>
          <p:nvPr/>
        </p:nvSpPr>
        <p:spPr>
          <a:xfrm>
            <a:off x="6740128" y="1836613"/>
            <a:ext cx="1960959" cy="200025"/>
          </a:xfrm>
          <a:prstGeom prst="rect">
            <a:avLst/>
          </a:prstGeom>
          <a:noFill/>
          <a:ln/>
        </p:spPr>
        <p:txBody>
          <a:bodyPr wrap="none" lIns="0" tIns="0" rIns="0" bIns="0" rtlCol="0" anchor="t">
            <a:spAutoFit/>
          </a:bodyPr>
          <a:lstStyle/>
          <a:p>
            <a:pPr marL="0" indent="0" algn="l">
              <a:lnSpc>
                <a:spcPct val="80000"/>
              </a:lnSpc>
              <a:buNone/>
            </a:pPr>
            <a:r>
              <a:rPr lang="en-US" sz="1400" b="1" kern="0" spc="-1" dirty="0">
                <a:solidFill>
                  <a:srgbClr val="C06C3E"/>
                </a:solidFill>
                <a:latin typeface="Space Grotesk Bold" pitchFamily="34" charset="0"/>
                <a:ea typeface="Space Grotesk Bold" pitchFamily="34" charset="-122"/>
                <a:cs typeface="Space Grotesk Bold" pitchFamily="34" charset="-120"/>
              </a:rPr>
              <a:t>S4</a:t>
            </a:r>
            <a:endParaRPr lang="en-US" sz="1400" dirty="0"/>
          </a:p>
        </p:txBody>
      </p:sp>
      <p:sp>
        <p:nvSpPr>
          <p:cNvPr id="30" name="Text 27"/>
          <p:cNvSpPr/>
          <p:nvPr/>
        </p:nvSpPr>
        <p:spPr>
          <a:xfrm>
            <a:off x="6740128" y="2093788"/>
            <a:ext cx="1960959" cy="342900"/>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2F6F73"/>
                </a:solidFill>
                <a:latin typeface="Space Grotesk Bold" pitchFamily="34" charset="0"/>
                <a:ea typeface="Space Grotesk Bold" pitchFamily="34" charset="-122"/>
                <a:cs typeface="Space Grotesk Bold" pitchFamily="34" charset="-120"/>
              </a:rPr>
              <a:t>Tables &amp; figures</a:t>
            </a:r>
            <a:endParaRPr lang="en-US" sz="1100" dirty="0"/>
          </a:p>
        </p:txBody>
      </p:sp>
      <p:sp>
        <p:nvSpPr>
          <p:cNvPr id="31" name="Text 28"/>
          <p:cNvSpPr/>
          <p:nvPr/>
        </p:nvSpPr>
        <p:spPr>
          <a:xfrm>
            <a:off x="6740128" y="2543845"/>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PROGRESS</a:t>
            </a:r>
            <a:endParaRPr lang="en-US" sz="600" dirty="0"/>
          </a:p>
        </p:txBody>
      </p:sp>
      <p:sp>
        <p:nvSpPr>
          <p:cNvPr id="32" name="Text 29"/>
          <p:cNvSpPr/>
          <p:nvPr/>
        </p:nvSpPr>
        <p:spPr>
          <a:xfrm>
            <a:off x="6740128" y="2684934"/>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Systems can create plots, tables, diagrams, formulas, and pseudocode that look publication-ready.</a:t>
            </a:r>
            <a:endParaRPr lang="en-US" sz="750" dirty="0"/>
          </a:p>
        </p:txBody>
      </p:sp>
      <p:sp>
        <p:nvSpPr>
          <p:cNvPr id="33" name="Text 30"/>
          <p:cNvSpPr/>
          <p:nvPr/>
        </p:nvSpPr>
        <p:spPr>
          <a:xfrm>
            <a:off x="6740128" y="3376259"/>
            <a:ext cx="1960959" cy="98227"/>
          </a:xfrm>
          <a:prstGeom prst="rect">
            <a:avLst/>
          </a:prstGeom>
          <a:noFill/>
          <a:ln/>
        </p:spPr>
        <p:txBody>
          <a:bodyPr wrap="square" lIns="0" tIns="0" rIns="0" bIns="0" rtlCol="0" anchor="t">
            <a:spAutoFit/>
          </a:bodyPr>
          <a:lstStyle/>
          <a:p>
            <a:pPr marL="0" indent="0" algn="l">
              <a:buNone/>
            </a:pPr>
            <a:r>
              <a:rPr lang="en-US" sz="600" b="1" kern="0" spc="1" dirty="0">
                <a:solidFill>
                  <a:srgbClr val="1B2430">
                    <a:alpha val="56000"/>
                  </a:srgbClr>
                </a:solidFill>
                <a:latin typeface="Inter ExtraBold" pitchFamily="34" charset="0"/>
                <a:ea typeface="Inter ExtraBold" pitchFamily="34" charset="-122"/>
                <a:cs typeface="Inter ExtraBold" pitchFamily="34" charset="-120"/>
              </a:rPr>
              <a:t>BOTTLENECK</a:t>
            </a:r>
            <a:endParaRPr lang="en-US" sz="600" dirty="0"/>
          </a:p>
        </p:txBody>
      </p:sp>
      <p:sp>
        <p:nvSpPr>
          <p:cNvPr id="34" name="Text 31"/>
          <p:cNvSpPr/>
          <p:nvPr/>
        </p:nvSpPr>
        <p:spPr>
          <a:xfrm>
            <a:off x="6740128" y="3517348"/>
            <a:ext cx="1960959" cy="402003"/>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82000"/>
                  </a:srgbClr>
                </a:solidFill>
                <a:latin typeface="Inter" pitchFamily="34" charset="0"/>
                <a:ea typeface="Inter" pitchFamily="34" charset="-122"/>
                <a:cs typeface="Inter" pitchFamily="34" charset="-120"/>
              </a:rPr>
              <a:t>Visual polish can hide wrong labels, invalid comparisons, or data relationships unsupported by evidence.</a:t>
            </a:r>
            <a:endParaRPr lang="en-US" sz="750" dirty="0"/>
          </a:p>
        </p:txBody>
      </p:sp>
      <p:sp>
        <p:nvSpPr>
          <p:cNvPr id="35" name="Text 32"/>
          <p:cNvSpPr/>
          <p:nvPr/>
        </p:nvSpPr>
        <p:spPr>
          <a:xfrm>
            <a:off x="6740128" y="4033651"/>
            <a:ext cx="1960959" cy="323590"/>
          </a:xfrm>
          <a:prstGeom prst="rect">
            <a:avLst/>
          </a:prstGeom>
          <a:noFill/>
          <a:ln/>
        </p:spPr>
        <p:txBody>
          <a:bodyPr wrap="square" lIns="0" tIns="85090" rIns="0" bIns="0" rtlCol="0" anchor="t">
            <a:spAutoFit/>
          </a:bodyPr>
          <a:lstStyle/>
          <a:p>
            <a:pPr marL="0" indent="0" algn="l">
              <a:lnSpc>
                <a:spcPct val="104000"/>
              </a:lnSpc>
              <a:buNone/>
            </a:pPr>
            <a:r>
              <a:rPr lang="en-US" sz="650" b="1" dirty="0">
                <a:solidFill>
                  <a:srgbClr val="2F6F73"/>
                </a:solidFill>
                <a:latin typeface="Inter Bold" pitchFamily="34" charset="0"/>
                <a:ea typeface="Inter Bold" pitchFamily="34" charset="-122"/>
                <a:cs typeface="Inter Bold" pitchFamily="34" charset="-120"/>
              </a:rPr>
              <a:t>Checkpoint:</a:t>
            </a:r>
            <a:r>
              <a:rPr lang="en-US" sz="650" dirty="0">
                <a:solidFill>
                  <a:srgbClr val="1B2430">
                    <a:alpha val="72000"/>
                  </a:srgbClr>
                </a:solidFill>
                <a:latin typeface="Inter" pitchFamily="34" charset="0"/>
                <a:ea typeface="Inter" pitchFamily="34" charset="-122"/>
                <a:cs typeface="Inter" pitchFamily="34" charset="-120"/>
              </a:rPr>
              <a:t> trace every visual element back to data, logs, notation, and manuscript claims.</a:t>
            </a:r>
            <a:endParaRPr lang="en-US" sz="650" dirty="0"/>
          </a:p>
        </p:txBody>
      </p:sp>
      <p:sp>
        <p:nvSpPr>
          <p:cNvPr id="36" name="Text 33"/>
          <p:cNvSpPr/>
          <p:nvPr/>
        </p:nvSpPr>
        <p:spPr>
          <a:xfrm>
            <a:off x="428625" y="4720847"/>
            <a:ext cx="1607344" cy="287145"/>
          </a:xfrm>
          <a:prstGeom prst="rect">
            <a:avLst/>
          </a:prstGeom>
          <a:noFill/>
          <a:ln/>
        </p:spPr>
        <p:txBody>
          <a:bodyPr wrap="square" lIns="0" tIns="0" rIns="0" bIns="0" rtlCol="0" anchor="t">
            <a:spAutoFit/>
          </a:bodyPr>
          <a:lstStyle/>
          <a:p>
            <a:pPr marL="0" indent="0" algn="l">
              <a:lnSpc>
                <a:spcPct val="84000"/>
              </a:lnSpc>
              <a:buNone/>
            </a:pPr>
            <a:r>
              <a:rPr lang="en-US" sz="1050" b="1" dirty="0">
                <a:solidFill>
                  <a:srgbClr val="C06C3E"/>
                </a:solidFill>
                <a:latin typeface="Space Grotesk Bold" pitchFamily="34" charset="0"/>
                <a:ea typeface="Space Grotesk Bold" pitchFamily="34" charset="-122"/>
                <a:cs typeface="Space Grotesk Bold" pitchFamily="34" charset="-120"/>
              </a:rPr>
              <a:t>Central pattern</a:t>
            </a:r>
            <a:endParaRPr lang="en-US" sz="1050" dirty="0"/>
          </a:p>
        </p:txBody>
      </p:sp>
      <p:sp>
        <p:nvSpPr>
          <p:cNvPr id="37" name="Text 34"/>
          <p:cNvSpPr/>
          <p:nvPr/>
        </p:nvSpPr>
        <p:spPr>
          <a:xfrm>
            <a:off x="2207419" y="4720847"/>
            <a:ext cx="6493669" cy="287145"/>
          </a:xfrm>
          <a:prstGeom prst="rect">
            <a:avLst/>
          </a:prstGeom>
          <a:noFill/>
          <a:ln/>
        </p:spPr>
        <p:txBody>
          <a:bodyPr wrap="square" lIns="0" tIns="0" rIns="0" bIns="0" rtlCol="0" anchor="t">
            <a:spAutoFit/>
          </a:bodyPr>
          <a:lstStyle/>
          <a:p>
            <a:pPr marL="0" indent="0" algn="l">
              <a:lnSpc>
                <a:spcPct val="107200"/>
              </a:lnSpc>
              <a:buNone/>
            </a:pPr>
            <a:r>
              <a:rPr lang="en-US" sz="800" dirty="0">
                <a:solidFill>
                  <a:srgbClr val="1B2430">
                    <a:alpha val="78000"/>
                  </a:srgbClr>
                </a:solidFill>
                <a:latin typeface="Inter" pitchFamily="34" charset="0"/>
                <a:ea typeface="Inter" pitchFamily="34" charset="-122"/>
                <a:cs typeface="Inter" pitchFamily="34" charset="-120"/>
              </a:rPr>
              <a:t>Creation-stage systems increasingly generate the raw materials of research; trustworthy automation depends on making each artifact traceable, executable, and scientifically defensible before it enters Writing.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STAGE S2 · LITERATURE REVIEW</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Literature review is maturing fastest</a:t>
            </a:r>
            <a:endParaRPr lang="en-US" sz="1950" dirty="0"/>
          </a:p>
        </p:txBody>
      </p:sp>
      <p:sp>
        <p:nvSpPr>
          <p:cNvPr id="5" name="Text 2"/>
          <p:cNvSpPr/>
          <p:nvPr/>
        </p:nvSpPr>
        <p:spPr>
          <a:xfrm>
            <a:off x="428625" y="1072121"/>
            <a:ext cx="1785938" cy="357188"/>
          </a:xfrm>
          <a:prstGeom prst="rect">
            <a:avLst/>
          </a:prstGeom>
          <a:noFill/>
          <a:ln/>
        </p:spPr>
        <p:txBody>
          <a:bodyPr wrap="square" lIns="0" tIns="0" rIns="0" bIns="0" rtlCol="0" anchor="t">
            <a:spAutoFit/>
          </a:bodyPr>
          <a:lstStyle/>
          <a:p>
            <a:pPr marL="0" indent="0" algn="l">
              <a:lnSpc>
                <a:spcPct val="80000"/>
              </a:lnSpc>
              <a:buNone/>
            </a:pPr>
            <a:r>
              <a:rPr lang="en-US" sz="1250" b="1" kern="0" spc="-1" dirty="0">
                <a:solidFill>
                  <a:srgbClr val="C06C3E"/>
                </a:solidFill>
                <a:latin typeface="Space Grotesk Bold" pitchFamily="34" charset="0"/>
                <a:ea typeface="Space Grotesk Bold" pitchFamily="34" charset="-122"/>
                <a:cs typeface="Space Grotesk Bold" pitchFamily="34" charset="-120"/>
              </a:rPr>
              <a:t>Retrieval → Deep Research</a:t>
            </a:r>
            <a:endParaRPr lang="en-US" sz="1250" dirty="0"/>
          </a:p>
        </p:txBody>
      </p:sp>
      <p:sp>
        <p:nvSpPr>
          <p:cNvPr id="6" name="Text 3"/>
          <p:cNvSpPr/>
          <p:nvPr/>
        </p:nvSpPr>
        <p:spPr>
          <a:xfrm>
            <a:off x="2400300" y="1072121"/>
            <a:ext cx="6157913" cy="357188"/>
          </a:xfrm>
          <a:prstGeom prst="rect">
            <a:avLst/>
          </a:prstGeom>
          <a:noFill/>
          <a:ln/>
        </p:spPr>
        <p:txBody>
          <a:bodyPr wrap="square" lIns="0" tIns="0" rIns="0" bIns="0" rtlCol="0" anchor="t">
            <a:spAutoFit/>
          </a:bodyPr>
          <a:lstStyle/>
          <a:p>
            <a:pPr marL="0" indent="0" algn="l">
              <a:lnSpc>
                <a:spcPct val="107200"/>
              </a:lnSpc>
              <a:buNone/>
            </a:pPr>
            <a:r>
              <a:rPr lang="en-US" sz="900" dirty="0">
                <a:solidFill>
                  <a:srgbClr val="1B2430">
                    <a:alpha val="78000"/>
                  </a:srgbClr>
                </a:solidFill>
                <a:latin typeface="Inter" pitchFamily="34" charset="0"/>
                <a:ea typeface="Inter" pitchFamily="34" charset="-122"/>
                <a:cs typeface="Inter" pitchFamily="34" charset="-120"/>
              </a:rPr>
              <a:t>Literature tools have advanced quickly because their inputs are external, searchable, and comparatively checkable; the hard part is turning retrieved evidence into faithful synthesis.</a:t>
            </a:r>
            <a:endParaRPr lang="en-US" sz="900" dirty="0"/>
          </a:p>
        </p:txBody>
      </p:sp>
      <p:sp>
        <p:nvSpPr>
          <p:cNvPr id="7" name="Text 4"/>
          <p:cNvSpPr/>
          <p:nvPr/>
        </p:nvSpPr>
        <p:spPr>
          <a:xfrm>
            <a:off x="428625" y="1736489"/>
            <a:ext cx="2357438" cy="416570"/>
          </a:xfrm>
          <a:prstGeom prst="rect">
            <a:avLst/>
          </a:prstGeom>
          <a:noFill/>
          <a:ln/>
        </p:spPr>
        <p:txBody>
          <a:bodyPr wrap="square" lIns="0" tIns="0" rIns="0" bIns="0" rtlCol="0" anchor="t">
            <a:spAutoFit/>
          </a:bodyPr>
          <a:lstStyle/>
          <a:p>
            <a:pPr marL="0" indent="0" algn="l">
              <a:lnSpc>
                <a:spcPct val="86400"/>
              </a:lnSpc>
              <a:buNone/>
            </a:pPr>
            <a:r>
              <a:rPr lang="en-US" sz="1350" b="1" kern="0" spc="-1" dirty="0">
                <a:solidFill>
                  <a:srgbClr val="2F6F73"/>
                </a:solidFill>
                <a:latin typeface="Space Grotesk Bold" pitchFamily="34" charset="0"/>
                <a:ea typeface="Space Grotesk Bold" pitchFamily="34" charset="-122"/>
                <a:cs typeface="Space Grotesk Bold" pitchFamily="34" charset="-120"/>
              </a:rPr>
              <a:t>S2 is the clearest testbed for grounded synthesis</a:t>
            </a:r>
            <a:endParaRPr lang="en-US" sz="1350" dirty="0"/>
          </a:p>
        </p:txBody>
      </p:sp>
      <p:sp>
        <p:nvSpPr>
          <p:cNvPr id="8" name="Text 5"/>
          <p:cNvSpPr/>
          <p:nvPr/>
        </p:nvSpPr>
        <p:spPr>
          <a:xfrm>
            <a:off x="428625" y="2310222"/>
            <a:ext cx="2357438" cy="828647"/>
          </a:xfrm>
          <a:prstGeom prst="rect">
            <a:avLst/>
          </a:prstGeom>
          <a:noFill/>
          <a:ln/>
        </p:spPr>
        <p:txBody>
          <a:bodyPr wrap="square" lIns="0" tIns="0" rIns="0" bIns="0" rtlCol="0" anchor="t">
            <a:spAutoFit/>
          </a:bodyPr>
          <a:lstStyle/>
          <a:p>
            <a:pPr marL="0" indent="0" algn="l">
              <a:lnSpc>
                <a:spcPct val="116000"/>
              </a:lnSpc>
              <a:buNone/>
            </a:pPr>
            <a:r>
              <a:rPr lang="en-US" sz="850" dirty="0">
                <a:solidFill>
                  <a:srgbClr val="1B2430">
                    <a:alpha val="76000"/>
                  </a:srgbClr>
                </a:solidFill>
                <a:latin typeface="Inter" pitchFamily="34" charset="0"/>
                <a:ea typeface="Inter" pitchFamily="34" charset="-122"/>
                <a:cs typeface="Inter" pitchFamily="34" charset="-120"/>
              </a:rPr>
              <a:t>The survey shows a rapid progression from paper search and summarization toward agentic workflows that plan, retrieve, read, update, and organize evidence across multiple sources.</a:t>
            </a:r>
            <a:endParaRPr lang="en-US" sz="850" dirty="0"/>
          </a:p>
        </p:txBody>
      </p:sp>
      <p:sp>
        <p:nvSpPr>
          <p:cNvPr id="9" name="Text 6"/>
          <p:cNvSpPr/>
          <p:nvPr/>
        </p:nvSpPr>
        <p:spPr>
          <a:xfrm>
            <a:off x="428625" y="3324606"/>
            <a:ext cx="2357438" cy="476064"/>
          </a:xfrm>
          <a:prstGeom prst="rect">
            <a:avLst/>
          </a:prstGeom>
          <a:noFill/>
          <a:ln/>
        </p:spPr>
        <p:txBody>
          <a:bodyPr wrap="square" lIns="0" tIns="102108" rIns="0" bIns="0" rtlCol="0" anchor="t">
            <a:spAutoFit/>
          </a:bodyPr>
          <a:lstStyle/>
          <a:p>
            <a:pPr marL="0" indent="0" algn="l">
              <a:lnSpc>
                <a:spcPct val="108000"/>
              </a:lnSpc>
              <a:buNone/>
            </a:pPr>
            <a:r>
              <a:rPr lang="en-US" sz="650" dirty="0">
                <a:solidFill>
                  <a:srgbClr val="1B2430">
                    <a:alpha val="65000"/>
                  </a:srgbClr>
                </a:solidFill>
                <a:latin typeface="Inter" pitchFamily="34" charset="0"/>
                <a:ea typeface="Inter" pitchFamily="34" charset="-122"/>
                <a:cs typeface="Inter" pitchFamily="34" charset="-120"/>
              </a:rPr>
              <a:t>The maturity signal is not only better retrieval. It is the shift toward systems that preserve source links while constructing an interpretable research narrative.</a:t>
            </a:r>
            <a:endParaRPr lang="en-US" sz="650" dirty="0"/>
          </a:p>
        </p:txBody>
      </p:sp>
      <p:sp>
        <p:nvSpPr>
          <p:cNvPr id="10" name="Text 7"/>
          <p:cNvSpPr/>
          <p:nvPr/>
        </p:nvSpPr>
        <p:spPr>
          <a:xfrm>
            <a:off x="3057525" y="1700771"/>
            <a:ext cx="1171575" cy="614363"/>
          </a:xfrm>
          <a:prstGeom prst="rect">
            <a:avLst/>
          </a:prstGeom>
          <a:noFill/>
          <a:ln/>
        </p:spPr>
        <p:txBody>
          <a:bodyPr wrap="square" lIns="0" tIns="0" rIns="0" bIns="0"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01</a:t>
            </a:r>
            <a:r>
              <a:rPr lang="en-US" sz="900" b="1" dirty="0">
                <a:solidFill>
                  <a:srgbClr val="2F6F73"/>
                </a:solidFill>
                <a:latin typeface="Space Grotesk Bold" pitchFamily="34" charset="0"/>
                <a:ea typeface="Space Grotesk Bold" pitchFamily="34" charset="-122"/>
                <a:cs typeface="Space Grotesk Bold" pitchFamily="34" charset="-120"/>
              </a:rPr>
              <a:t>Single-pass retrieval</a:t>
            </a:r>
            <a:endParaRPr lang="en-US" sz="900" dirty="0"/>
          </a:p>
        </p:txBody>
      </p:sp>
      <p:sp>
        <p:nvSpPr>
          <p:cNvPr id="11" name="Text 8"/>
          <p:cNvSpPr/>
          <p:nvPr/>
        </p:nvSpPr>
        <p:spPr>
          <a:xfrm>
            <a:off x="4386263" y="1700771"/>
            <a:ext cx="2021681" cy="614363"/>
          </a:xfrm>
          <a:prstGeom prst="rect">
            <a:avLst/>
          </a:prstGeom>
          <a:noFill/>
          <a:ln/>
        </p:spPr>
        <p:txBody>
          <a:bodyPr wrap="square" lIns="0" tIns="0" rIns="0" bIns="0" rtlCol="0" anchor="t">
            <a:spAutoFit/>
          </a:bodyPr>
          <a:lstStyle/>
          <a:p>
            <a:pPr marL="0" indent="0" algn="l">
              <a:lnSpc>
                <a:spcPct val="107200"/>
              </a:lnSpc>
              <a:buNone/>
            </a:pPr>
            <a:r>
              <a:rPr lang="en-US" sz="750" b="1" dirty="0">
                <a:solidFill>
                  <a:srgbClr val="1B2430"/>
                </a:solidFill>
                <a:latin typeface="Inter ExtraBold" pitchFamily="34" charset="0"/>
                <a:ea typeface="Inter ExtraBold" pitchFamily="34" charset="-122"/>
                <a:cs typeface="Inter ExtraBold" pitchFamily="34" charset="-120"/>
              </a:rPr>
              <a:t>Find and summarize papers from large corpora.</a:t>
            </a:r>
            <a:endParaRPr lang="en-US" sz="750" dirty="0"/>
          </a:p>
        </p:txBody>
      </p:sp>
      <p:sp>
        <p:nvSpPr>
          <p:cNvPr id="12" name="Text 9"/>
          <p:cNvSpPr/>
          <p:nvPr/>
        </p:nvSpPr>
        <p:spPr>
          <a:xfrm>
            <a:off x="6565106" y="1700771"/>
            <a:ext cx="2150269" cy="61436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72000"/>
                  </a:srgbClr>
                </a:solidFill>
                <a:latin typeface="Inter" pitchFamily="34" charset="0"/>
                <a:ea typeface="Inter" pitchFamily="34" charset="-122"/>
                <a:cs typeface="Inter" pitchFamily="34" charset="-120"/>
              </a:rPr>
              <a:t>Coverage can remain partial, and the system may miss central or contradictory work.</a:t>
            </a:r>
            <a:endParaRPr lang="en-US" sz="750" dirty="0"/>
          </a:p>
        </p:txBody>
      </p:sp>
      <p:sp>
        <p:nvSpPr>
          <p:cNvPr id="13" name="Text 10"/>
          <p:cNvSpPr/>
          <p:nvPr/>
        </p:nvSpPr>
        <p:spPr>
          <a:xfrm>
            <a:off x="3057525" y="2422289"/>
            <a:ext cx="1171575" cy="614363"/>
          </a:xfrm>
          <a:prstGeom prst="rect">
            <a:avLst/>
          </a:prstGeom>
          <a:noFill/>
          <a:ln/>
        </p:spPr>
        <p:txBody>
          <a:bodyPr wrap="square" lIns="0" tIns="0" rIns="0" bIns="0"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02</a:t>
            </a:r>
            <a:r>
              <a:rPr lang="en-US" sz="900" b="1" dirty="0">
                <a:solidFill>
                  <a:srgbClr val="2F6F73"/>
                </a:solidFill>
                <a:latin typeface="Space Grotesk Bold" pitchFamily="34" charset="0"/>
                <a:ea typeface="Space Grotesk Bold" pitchFamily="34" charset="-122"/>
                <a:cs typeface="Space Grotesk Bold" pitchFamily="34" charset="-120"/>
              </a:rPr>
              <a:t>Structure-aware surveys</a:t>
            </a:r>
            <a:endParaRPr lang="en-US" sz="900" dirty="0"/>
          </a:p>
        </p:txBody>
      </p:sp>
      <p:sp>
        <p:nvSpPr>
          <p:cNvPr id="14" name="Text 11"/>
          <p:cNvSpPr/>
          <p:nvPr/>
        </p:nvSpPr>
        <p:spPr>
          <a:xfrm>
            <a:off x="4386263" y="2422289"/>
            <a:ext cx="2021681" cy="614363"/>
          </a:xfrm>
          <a:prstGeom prst="rect">
            <a:avLst/>
          </a:prstGeom>
          <a:noFill/>
          <a:ln/>
        </p:spPr>
        <p:txBody>
          <a:bodyPr wrap="square" lIns="0" tIns="0" rIns="0" bIns="0" rtlCol="0" anchor="t">
            <a:spAutoFit/>
          </a:bodyPr>
          <a:lstStyle/>
          <a:p>
            <a:pPr marL="0" indent="0" algn="l">
              <a:lnSpc>
                <a:spcPct val="107200"/>
              </a:lnSpc>
              <a:buNone/>
            </a:pPr>
            <a:r>
              <a:rPr lang="en-US" sz="750" b="1" dirty="0">
                <a:solidFill>
                  <a:srgbClr val="1B2430"/>
                </a:solidFill>
                <a:latin typeface="Inter ExtraBold" pitchFamily="34" charset="0"/>
                <a:ea typeface="Inter ExtraBold" pitchFamily="34" charset="-122"/>
                <a:cs typeface="Inter ExtraBold" pitchFamily="34" charset="-120"/>
              </a:rPr>
              <a:t>Build outlines, themes, and related-work narratives.</a:t>
            </a:r>
            <a:endParaRPr lang="en-US" sz="750" dirty="0"/>
          </a:p>
        </p:txBody>
      </p:sp>
      <p:sp>
        <p:nvSpPr>
          <p:cNvPr id="15" name="Text 12"/>
          <p:cNvSpPr/>
          <p:nvPr/>
        </p:nvSpPr>
        <p:spPr>
          <a:xfrm>
            <a:off x="6565106" y="2422289"/>
            <a:ext cx="2150269" cy="61436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72000"/>
                  </a:srgbClr>
                </a:solidFill>
                <a:latin typeface="Inter" pitchFamily="34" charset="0"/>
                <a:ea typeface="Inter" pitchFamily="34" charset="-122"/>
                <a:cs typeface="Inter" pitchFamily="34" charset="-120"/>
              </a:rPr>
              <a:t>A coherent narrative can still hide missing methodological links or weak comparisons.</a:t>
            </a:r>
            <a:endParaRPr lang="en-US" sz="750" dirty="0"/>
          </a:p>
        </p:txBody>
      </p:sp>
      <p:sp>
        <p:nvSpPr>
          <p:cNvPr id="16" name="Text 13"/>
          <p:cNvSpPr/>
          <p:nvPr/>
        </p:nvSpPr>
        <p:spPr>
          <a:xfrm>
            <a:off x="3057525" y="3143808"/>
            <a:ext cx="1171575" cy="614363"/>
          </a:xfrm>
          <a:prstGeom prst="rect">
            <a:avLst/>
          </a:prstGeom>
          <a:noFill/>
          <a:ln/>
        </p:spPr>
        <p:txBody>
          <a:bodyPr wrap="square" lIns="0" tIns="0" rIns="0" bIns="0"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03</a:t>
            </a:r>
            <a:r>
              <a:rPr lang="en-US" sz="900" b="1" dirty="0">
                <a:solidFill>
                  <a:srgbClr val="2F6F73"/>
                </a:solidFill>
                <a:latin typeface="Space Grotesk Bold" pitchFamily="34" charset="0"/>
                <a:ea typeface="Space Grotesk Bold" pitchFamily="34" charset="-122"/>
                <a:cs typeface="Space Grotesk Bold" pitchFamily="34" charset="-120"/>
              </a:rPr>
              <a:t>Multi-agent workflows</a:t>
            </a:r>
            <a:endParaRPr lang="en-US" sz="900" dirty="0"/>
          </a:p>
        </p:txBody>
      </p:sp>
      <p:sp>
        <p:nvSpPr>
          <p:cNvPr id="17" name="Text 14"/>
          <p:cNvSpPr/>
          <p:nvPr/>
        </p:nvSpPr>
        <p:spPr>
          <a:xfrm>
            <a:off x="4386263" y="3143808"/>
            <a:ext cx="2021681" cy="614363"/>
          </a:xfrm>
          <a:prstGeom prst="rect">
            <a:avLst/>
          </a:prstGeom>
          <a:noFill/>
          <a:ln/>
        </p:spPr>
        <p:txBody>
          <a:bodyPr wrap="square" lIns="0" tIns="0" rIns="0" bIns="0" rtlCol="0" anchor="t">
            <a:spAutoFit/>
          </a:bodyPr>
          <a:lstStyle/>
          <a:p>
            <a:pPr marL="0" indent="0" algn="l">
              <a:lnSpc>
                <a:spcPct val="107200"/>
              </a:lnSpc>
              <a:buNone/>
            </a:pPr>
            <a:r>
              <a:rPr lang="en-US" sz="750" b="1" dirty="0">
                <a:solidFill>
                  <a:srgbClr val="1B2430"/>
                </a:solidFill>
                <a:latin typeface="Inter ExtraBold" pitchFamily="34" charset="0"/>
                <a:ea typeface="Inter ExtraBold" pitchFamily="34" charset="-122"/>
                <a:cs typeface="Inter ExtraBold" pitchFamily="34" charset="-120"/>
              </a:rPr>
              <a:t>Separate retrieval, verification, organization, and writing roles.</a:t>
            </a:r>
            <a:endParaRPr lang="en-US" sz="750" dirty="0"/>
          </a:p>
        </p:txBody>
      </p:sp>
      <p:sp>
        <p:nvSpPr>
          <p:cNvPr id="18" name="Text 15"/>
          <p:cNvSpPr/>
          <p:nvPr/>
        </p:nvSpPr>
        <p:spPr>
          <a:xfrm>
            <a:off x="6565106" y="3143808"/>
            <a:ext cx="2150269" cy="61436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72000"/>
                  </a:srgbClr>
                </a:solidFill>
                <a:latin typeface="Inter" pitchFamily="34" charset="0"/>
                <a:ea typeface="Inter" pitchFamily="34" charset="-122"/>
                <a:cs typeface="Inter" pitchFamily="34" charset="-120"/>
              </a:rPr>
              <a:t>Coordination helps, but citation correctness and state consistency remain fragile.</a:t>
            </a:r>
            <a:endParaRPr lang="en-US" sz="750" dirty="0"/>
          </a:p>
        </p:txBody>
      </p:sp>
      <p:sp>
        <p:nvSpPr>
          <p:cNvPr id="19" name="Text 16"/>
          <p:cNvSpPr/>
          <p:nvPr/>
        </p:nvSpPr>
        <p:spPr>
          <a:xfrm>
            <a:off x="3057525" y="3865327"/>
            <a:ext cx="1171575" cy="614363"/>
          </a:xfrm>
          <a:prstGeom prst="rect">
            <a:avLst/>
          </a:prstGeom>
          <a:noFill/>
          <a:ln/>
        </p:spPr>
        <p:txBody>
          <a:bodyPr wrap="square" lIns="0" tIns="0" rIns="0" bIns="0"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04</a:t>
            </a:r>
            <a:r>
              <a:rPr lang="en-US" sz="900" b="1" dirty="0">
                <a:solidFill>
                  <a:srgbClr val="2F6F73"/>
                </a:solidFill>
                <a:latin typeface="Space Grotesk Bold" pitchFamily="34" charset="0"/>
                <a:ea typeface="Space Grotesk Bold" pitchFamily="34" charset="-122"/>
                <a:cs typeface="Space Grotesk Bold" pitchFamily="34" charset="-120"/>
              </a:rPr>
              <a:t>Deep research agents</a:t>
            </a:r>
            <a:endParaRPr lang="en-US" sz="900" dirty="0"/>
          </a:p>
        </p:txBody>
      </p:sp>
      <p:sp>
        <p:nvSpPr>
          <p:cNvPr id="20" name="Text 17"/>
          <p:cNvSpPr/>
          <p:nvPr/>
        </p:nvSpPr>
        <p:spPr>
          <a:xfrm>
            <a:off x="4386263" y="3865327"/>
            <a:ext cx="2021681" cy="614363"/>
          </a:xfrm>
          <a:prstGeom prst="rect">
            <a:avLst/>
          </a:prstGeom>
          <a:noFill/>
          <a:ln/>
        </p:spPr>
        <p:txBody>
          <a:bodyPr wrap="square" lIns="0" tIns="0" rIns="0" bIns="0" rtlCol="0" anchor="t">
            <a:spAutoFit/>
          </a:bodyPr>
          <a:lstStyle/>
          <a:p>
            <a:pPr marL="0" indent="0" algn="l">
              <a:lnSpc>
                <a:spcPct val="107200"/>
              </a:lnSpc>
              <a:buNone/>
            </a:pPr>
            <a:r>
              <a:rPr lang="en-US" sz="750" b="1" dirty="0">
                <a:solidFill>
                  <a:srgbClr val="1B2430"/>
                </a:solidFill>
                <a:latin typeface="Inter ExtraBold" pitchFamily="34" charset="0"/>
                <a:ea typeface="Inter ExtraBold" pitchFamily="34" charset="-122"/>
                <a:cs typeface="Inter ExtraBold" pitchFamily="34" charset="-120"/>
              </a:rPr>
              <a:t>Iteratively plan, search, read, revise queries, and synthesize evidence.</a:t>
            </a:r>
            <a:endParaRPr lang="en-US" sz="750" dirty="0"/>
          </a:p>
        </p:txBody>
      </p:sp>
      <p:sp>
        <p:nvSpPr>
          <p:cNvPr id="21" name="Text 18"/>
          <p:cNvSpPr/>
          <p:nvPr/>
        </p:nvSpPr>
        <p:spPr>
          <a:xfrm>
            <a:off x="6565106" y="3865327"/>
            <a:ext cx="2150269" cy="614363"/>
          </a:xfrm>
          <a:prstGeom prst="rect">
            <a:avLst/>
          </a:prstGeom>
          <a:noFill/>
          <a:ln/>
        </p:spPr>
        <p:txBody>
          <a:bodyPr wrap="square" lIns="0" tIns="0" rIns="0" bIns="0" rtlCol="0" anchor="t">
            <a:spAutoFit/>
          </a:bodyPr>
          <a:lstStyle/>
          <a:p>
            <a:pPr marL="0" indent="0" algn="l">
              <a:lnSpc>
                <a:spcPct val="110400"/>
              </a:lnSpc>
              <a:buNone/>
            </a:pPr>
            <a:r>
              <a:rPr lang="en-US" sz="750" dirty="0">
                <a:solidFill>
                  <a:srgbClr val="1B2430">
                    <a:alpha val="72000"/>
                  </a:srgbClr>
                </a:solidFill>
                <a:latin typeface="Inter" pitchFamily="34" charset="0"/>
                <a:ea typeface="Inter" pitchFamily="34" charset="-122"/>
                <a:cs typeface="Inter" pitchFamily="34" charset="-120"/>
              </a:rPr>
              <a:t>Reliability beyond ML and NLP remains under-tested across domains and workflows.</a:t>
            </a:r>
            <a:endParaRPr lang="en-US" sz="750" dirty="0"/>
          </a:p>
        </p:txBody>
      </p:sp>
      <p:sp>
        <p:nvSpPr>
          <p:cNvPr id="22" name="Text 19"/>
          <p:cNvSpPr/>
          <p:nvPr/>
        </p:nvSpPr>
        <p:spPr>
          <a:xfrm>
            <a:off x="428625" y="4765439"/>
            <a:ext cx="1500188" cy="291443"/>
          </a:xfrm>
          <a:prstGeom prst="rect">
            <a:avLst/>
          </a:prstGeom>
          <a:noFill/>
          <a:ln/>
        </p:spPr>
        <p:txBody>
          <a:bodyPr wrap="square" lIns="0" tIns="0" rIns="0" bIns="0" rtlCol="0" anchor="t">
            <a:spAutoFit/>
          </a:bodyPr>
          <a:lstStyle/>
          <a:p>
            <a:pPr marL="0" indent="0" algn="l">
              <a:lnSpc>
                <a:spcPct val="84000"/>
              </a:lnSpc>
              <a:buNone/>
            </a:pPr>
            <a:r>
              <a:rPr lang="en-US" sz="1000" b="1" dirty="0">
                <a:solidFill>
                  <a:srgbClr val="C06C3E"/>
                </a:solidFill>
                <a:latin typeface="Space Grotesk Bold" pitchFamily="34" charset="0"/>
                <a:ea typeface="Space Grotesk Bold" pitchFamily="34" charset="-122"/>
                <a:cs typeface="Space Grotesk Bold" pitchFamily="34" charset="-120"/>
              </a:rPr>
              <a:t>Evaluation shift</a:t>
            </a:r>
            <a:endParaRPr lang="en-US" sz="1000" dirty="0"/>
          </a:p>
        </p:txBody>
      </p:sp>
      <p:sp>
        <p:nvSpPr>
          <p:cNvPr id="23" name="Text 20"/>
          <p:cNvSpPr/>
          <p:nvPr/>
        </p:nvSpPr>
        <p:spPr>
          <a:xfrm>
            <a:off x="2100263" y="4765439"/>
            <a:ext cx="6457950" cy="291443"/>
          </a:xfrm>
          <a:prstGeom prst="rect">
            <a:avLst/>
          </a:prstGeom>
          <a:noFill/>
          <a:ln/>
        </p:spPr>
        <p:txBody>
          <a:bodyPr wrap="square" lIns="0" tIns="0" rIns="0" bIns="0" rtlCol="0" anchor="t">
            <a:spAutoFit/>
          </a:bodyPr>
          <a:lstStyle/>
          <a:p>
            <a:pPr marL="0" indent="0" algn="l">
              <a:lnSpc>
                <a:spcPct val="108800"/>
              </a:lnSpc>
              <a:buNone/>
            </a:pPr>
            <a:r>
              <a:rPr lang="en-US" sz="800" dirty="0">
                <a:solidFill>
                  <a:srgbClr val="1B2430">
                    <a:alpha val="78000"/>
                  </a:srgbClr>
                </a:solidFill>
                <a:latin typeface="Inter" pitchFamily="34" charset="0"/>
                <a:ea typeface="Inter" pitchFamily="34" charset="-122"/>
                <a:cs typeface="Inter" pitchFamily="34" charset="-120"/>
              </a:rPr>
              <a:t>Benchmarks are moving from “did it retrieve the right paper?” toward </a:t>
            </a:r>
            <a:r>
              <a:rPr lang="en-US" sz="750" b="1" dirty="0">
                <a:solidFill>
                  <a:srgbClr val="1B2430"/>
                </a:solidFill>
                <a:latin typeface="Inter Bold" pitchFamily="34" charset="0"/>
                <a:ea typeface="Inter Bold" pitchFamily="34" charset="-122"/>
                <a:cs typeface="Inter Bold" pitchFamily="34" charset="-120"/>
              </a:rPr>
              <a:t>citation accuracy</a:t>
            </a:r>
            <a:r>
              <a:rPr lang="en-US" sz="800" dirty="0">
                <a:solidFill>
                  <a:srgbClr val="1B2430">
                    <a:alpha val="78000"/>
                  </a:srgbClr>
                </a:solidFill>
                <a:latin typeface="Inter" pitchFamily="34" charset="0"/>
                <a:ea typeface="Inter" pitchFamily="34" charset="-122"/>
                <a:cs typeface="Inter" pitchFamily="34" charset="-120"/>
              </a:rPr>
              <a:t>, </a:t>
            </a:r>
            <a:r>
              <a:rPr lang="en-US" sz="750" b="1" dirty="0">
                <a:solidFill>
                  <a:srgbClr val="1B2430"/>
                </a:solidFill>
                <a:latin typeface="Inter Bold" pitchFamily="34" charset="0"/>
                <a:ea typeface="Inter Bold" pitchFamily="34" charset="-122"/>
                <a:cs typeface="Inter Bold" pitchFamily="34" charset="-120"/>
              </a:rPr>
              <a:t>coverage completeness</a:t>
            </a:r>
            <a:r>
              <a:rPr lang="en-US" sz="800" dirty="0">
                <a:solidFill>
                  <a:srgbClr val="1B2430">
                    <a:alpha val="78000"/>
                  </a:srgbClr>
                </a:solidFill>
                <a:latin typeface="Inter" pitchFamily="34" charset="0"/>
                <a:ea typeface="Inter" pitchFamily="34" charset="-122"/>
                <a:cs typeface="Inter" pitchFamily="34" charset="-120"/>
              </a:rPr>
              <a:t>, </a:t>
            </a:r>
            <a:r>
              <a:rPr lang="en-US" sz="750" b="1" dirty="0">
                <a:solidFill>
                  <a:srgbClr val="1B2430"/>
                </a:solidFill>
                <a:latin typeface="Inter Bold" pitchFamily="34" charset="0"/>
                <a:ea typeface="Inter Bold" pitchFamily="34" charset="-122"/>
                <a:cs typeface="Inter Bold" pitchFamily="34" charset="-120"/>
              </a:rPr>
              <a:t>narrative coherence</a:t>
            </a:r>
            <a:r>
              <a:rPr lang="en-US" sz="800" dirty="0">
                <a:solidFill>
                  <a:srgbClr val="1B2430">
                    <a:alpha val="78000"/>
                  </a:srgbClr>
                </a:solidFill>
                <a:latin typeface="Inter" pitchFamily="34" charset="0"/>
                <a:ea typeface="Inter" pitchFamily="34" charset="-122"/>
                <a:cs typeface="Inter" pitchFamily="34" charset="-120"/>
              </a:rPr>
              <a:t>, and </a:t>
            </a:r>
            <a:r>
              <a:rPr lang="en-US" sz="750" b="1" dirty="0">
                <a:solidFill>
                  <a:srgbClr val="1B2430"/>
                </a:solidFill>
                <a:latin typeface="Inter Bold" pitchFamily="34" charset="0"/>
                <a:ea typeface="Inter Bold" pitchFamily="34" charset="-122"/>
                <a:cs typeface="Inter Bold" pitchFamily="34" charset="-120"/>
              </a:rPr>
              <a:t>factual grounding</a:t>
            </a:r>
            <a:r>
              <a:rPr lang="en-US" sz="800" dirty="0">
                <a:solidFill>
                  <a:srgbClr val="1B2430">
                    <a:alpha val="78000"/>
                  </a:srgbClr>
                </a:solidFill>
                <a:latin typeface="Inter" pitchFamily="34" charset="0"/>
                <a:ea typeface="Inter" pitchFamily="34" charset="-122"/>
                <a:cs typeface="Inter" pitchFamily="34" charset="-120"/>
              </a:rPr>
              <a: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CREATION STAGE RISK: S3 AND S4</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Coding and figures expose semantic risk</a:t>
            </a:r>
            <a:endParaRPr lang="en-US" sz="1950" dirty="0"/>
          </a:p>
        </p:txBody>
      </p:sp>
      <p:sp>
        <p:nvSpPr>
          <p:cNvPr id="5" name="Text 2"/>
          <p:cNvSpPr/>
          <p:nvPr/>
        </p:nvSpPr>
        <p:spPr>
          <a:xfrm>
            <a:off x="428625" y="957821"/>
            <a:ext cx="7715250" cy="172287"/>
          </a:xfrm>
          <a:prstGeom prst="rect">
            <a:avLst/>
          </a:prstGeom>
          <a:noFill/>
          <a:ln/>
        </p:spPr>
        <p:txBody>
          <a:bodyPr wrap="none" lIns="0" tIns="0" rIns="0" bIns="0" rtlCol="0" anchor="t">
            <a:spAutoFit/>
          </a:bodyPr>
          <a:lstStyle/>
          <a:p>
            <a:pPr marL="0" indent="0" algn="l">
              <a:lnSpc>
                <a:spcPct val="107200"/>
              </a:lnSpc>
              <a:buNone/>
            </a:pPr>
            <a:r>
              <a:rPr lang="en-US" sz="950" dirty="0">
                <a:solidFill>
                  <a:srgbClr val="1B2430">
                    <a:alpha val="78000"/>
                  </a:srgbClr>
                </a:solidFill>
                <a:latin typeface="Inter" pitchFamily="34" charset="0"/>
                <a:ea typeface="Inter" pitchFamily="34" charset="-122"/>
                <a:cs typeface="Inter" pitchFamily="34" charset="-120"/>
              </a:rPr>
              <a:t>The most dangerous failures are hidden: outputs can execute, render, or look publication-ready while still being scientifically wrong.</a:t>
            </a:r>
            <a:endParaRPr lang="en-US" sz="950" dirty="0"/>
          </a:p>
        </p:txBody>
      </p:sp>
      <p:sp>
        <p:nvSpPr>
          <p:cNvPr id="6" name="Text 3"/>
          <p:cNvSpPr/>
          <p:nvPr/>
        </p:nvSpPr>
        <p:spPr>
          <a:xfrm>
            <a:off x="428625" y="1580164"/>
            <a:ext cx="2571750" cy="400050"/>
          </a:xfrm>
          <a:prstGeom prst="rect">
            <a:avLst/>
          </a:prstGeom>
          <a:noFill/>
          <a:ln/>
        </p:spPr>
        <p:txBody>
          <a:bodyPr wrap="square" lIns="0" tIns="0" rIns="0" bIns="0" rtlCol="0" anchor="t">
            <a:spAutoFit/>
          </a:bodyPr>
          <a:lstStyle/>
          <a:p>
            <a:pPr marL="0" indent="0" algn="l">
              <a:lnSpc>
                <a:spcPct val="89600"/>
              </a:lnSpc>
              <a:buNone/>
            </a:pPr>
            <a:r>
              <a:rPr lang="en-US" sz="1250" b="1" dirty="0">
                <a:solidFill>
                  <a:srgbClr val="C06C3E"/>
                </a:solidFill>
                <a:latin typeface="Space Grotesk Bold" pitchFamily="34" charset="0"/>
                <a:ea typeface="Space Grotesk Bold" pitchFamily="34" charset="-122"/>
                <a:cs typeface="Space Grotesk Bold" pitchFamily="34" charset="-120"/>
              </a:rPr>
              <a:t>Surface success is not scientific correctness</a:t>
            </a:r>
            <a:endParaRPr lang="en-US" sz="1250" dirty="0"/>
          </a:p>
        </p:txBody>
      </p:sp>
      <p:sp>
        <p:nvSpPr>
          <p:cNvPr id="7" name="Text 4"/>
          <p:cNvSpPr/>
          <p:nvPr/>
        </p:nvSpPr>
        <p:spPr>
          <a:xfrm>
            <a:off x="428625" y="2137377"/>
            <a:ext cx="2571750" cy="649188"/>
          </a:xfrm>
          <a:prstGeom prst="rect">
            <a:avLst/>
          </a:prstGeom>
          <a:noFill/>
          <a:ln/>
        </p:spPr>
        <p:txBody>
          <a:bodyPr wrap="square" lIns="0" tIns="0" rIns="0" bIns="0" rtlCol="0" anchor="t">
            <a:spAutoFit/>
          </a:bodyPr>
          <a:lstStyle/>
          <a:p>
            <a:pPr marL="0" indent="0" algn="l">
              <a:lnSpc>
                <a:spcPct val="113600"/>
              </a:lnSpc>
              <a:buNone/>
            </a:pPr>
            <a:r>
              <a:rPr lang="en-US" sz="850" dirty="0">
                <a:solidFill>
                  <a:srgbClr val="1B2430">
                    <a:alpha val="76000"/>
                  </a:srgbClr>
                </a:solidFill>
                <a:latin typeface="Inter" pitchFamily="34" charset="0"/>
                <a:ea typeface="Inter" pitchFamily="34" charset="-122"/>
                <a:cs typeface="Inter" pitchFamily="34" charset="-120"/>
              </a:rPr>
              <a:t>The survey emphasizes that research artifacts must be evaluated by what they mean, not only by whether they run, compile, plot, or appear polished.</a:t>
            </a:r>
            <a:endParaRPr lang="en-US" sz="850" dirty="0"/>
          </a:p>
        </p:txBody>
      </p:sp>
      <p:sp>
        <p:nvSpPr>
          <p:cNvPr id="8" name="Text 5"/>
          <p:cNvSpPr/>
          <p:nvPr/>
        </p:nvSpPr>
        <p:spPr>
          <a:xfrm>
            <a:off x="428625" y="2986590"/>
            <a:ext cx="2571750" cy="480752"/>
          </a:xfrm>
          <a:prstGeom prst="rect">
            <a:avLst/>
          </a:prstGeom>
          <a:noFill/>
          <a:ln/>
        </p:spPr>
        <p:txBody>
          <a:bodyPr wrap="square" lIns="0" tIns="119126" rIns="0" bIns="0" rtlCol="0" anchor="t">
            <a:spAutoFit/>
          </a:bodyPr>
          <a:lstStyle/>
          <a:p>
            <a:pPr marL="0" indent="0" algn="l">
              <a:lnSpc>
                <a:spcPct val="108000"/>
              </a:lnSpc>
              <a:buNone/>
            </a:pPr>
            <a:r>
              <a:rPr lang="en-US" sz="950" b="1" dirty="0">
                <a:solidFill>
                  <a:srgbClr val="2F6F73"/>
                </a:solidFill>
                <a:latin typeface="Space Grotesk Bold" pitchFamily="34" charset="0"/>
                <a:ea typeface="Space Grotesk Bold" pitchFamily="34" charset="-122"/>
                <a:cs typeface="Space Grotesk Bold" pitchFamily="34" charset="-120"/>
              </a:rPr>
              <a:t>Runnable code + polished visuals ≠ validated research evidence</a:t>
            </a:r>
            <a:endParaRPr lang="en-US" sz="950" dirty="0"/>
          </a:p>
        </p:txBody>
      </p:sp>
      <p:sp>
        <p:nvSpPr>
          <p:cNvPr id="9" name="Text 6"/>
          <p:cNvSpPr/>
          <p:nvPr/>
        </p:nvSpPr>
        <p:spPr>
          <a:xfrm>
            <a:off x="3300413" y="1455148"/>
            <a:ext cx="1795453"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ARTIFACT</a:t>
            </a:r>
            <a:endParaRPr lang="en-US" sz="600" dirty="0"/>
          </a:p>
        </p:txBody>
      </p:sp>
      <p:sp>
        <p:nvSpPr>
          <p:cNvPr id="10" name="Text 7"/>
          <p:cNvSpPr/>
          <p:nvPr/>
        </p:nvSpPr>
        <p:spPr>
          <a:xfrm>
            <a:off x="5095866" y="1455148"/>
            <a:ext cx="1795453"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AI CAN INCREASINGLY DO</a:t>
            </a:r>
            <a:endParaRPr lang="en-US" sz="600" dirty="0"/>
          </a:p>
        </p:txBody>
      </p:sp>
      <p:sp>
        <p:nvSpPr>
          <p:cNvPr id="11" name="Text 8"/>
          <p:cNvSpPr/>
          <p:nvPr/>
        </p:nvSpPr>
        <p:spPr>
          <a:xfrm>
            <a:off x="6891319" y="1455148"/>
            <a:ext cx="1795481"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WHY VERIFICATION REMAINS ESSENTIAL</a:t>
            </a:r>
            <a:endParaRPr lang="en-US" sz="600" dirty="0"/>
          </a:p>
        </p:txBody>
      </p:sp>
      <p:sp>
        <p:nvSpPr>
          <p:cNvPr id="12" name="Text 9"/>
          <p:cNvSpPr/>
          <p:nvPr/>
        </p:nvSpPr>
        <p:spPr>
          <a:xfrm>
            <a:off x="3300413" y="1794477"/>
            <a:ext cx="1795453" cy="764381"/>
          </a:xfrm>
          <a:prstGeom prst="rect">
            <a:avLst/>
          </a:prstGeom>
          <a:noFill/>
          <a:ln/>
        </p:spPr>
        <p:txBody>
          <a:bodyPr wrap="square" lIns="8509" tIns="102108" rIns="153035"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Research code</a:t>
            </a:r>
            <a:endParaRPr lang="en-US" sz="900" dirty="0"/>
          </a:p>
        </p:txBody>
      </p:sp>
      <p:sp>
        <p:nvSpPr>
          <p:cNvPr id="13" name="Text 10"/>
          <p:cNvSpPr/>
          <p:nvPr/>
        </p:nvSpPr>
        <p:spPr>
          <a:xfrm>
            <a:off x="5095866" y="1794477"/>
            <a:ext cx="1795453" cy="764381"/>
          </a:xfrm>
          <a:prstGeom prst="rect">
            <a:avLst/>
          </a:prstGeom>
          <a:noFill/>
          <a:ln/>
        </p:spPr>
        <p:txBody>
          <a:bodyPr wrap="square" lIns="8509" tIns="102108" rIns="153035" bIns="8509" rtlCol="0" anchor="t">
            <a:spAutoFit/>
          </a:bodyPr>
          <a:lstStyle/>
          <a:p>
            <a:pPr marL="0" indent="0" algn="l">
              <a:lnSpc>
                <a:spcPct val="107200"/>
              </a:lnSpc>
              <a:buNone/>
            </a:pPr>
            <a:r>
              <a:rPr lang="en-US" sz="700" b="1" dirty="0">
                <a:solidFill>
                  <a:srgbClr val="1B2430">
                    <a:alpha val="80000"/>
                  </a:srgbClr>
                </a:solidFill>
                <a:latin typeface="Inter Bold" pitchFamily="34" charset="0"/>
                <a:ea typeface="Inter Bold" pitchFamily="34" charset="-122"/>
                <a:cs typeface="Inter Bold" pitchFamily="34" charset="-120"/>
              </a:rPr>
              <a:t>Generate implementations, translate papers into code, and run experiment loops.</a:t>
            </a:r>
            <a:endParaRPr lang="en-US" sz="700" dirty="0"/>
          </a:p>
        </p:txBody>
      </p:sp>
      <p:sp>
        <p:nvSpPr>
          <p:cNvPr id="14" name="Text 11"/>
          <p:cNvSpPr/>
          <p:nvPr/>
        </p:nvSpPr>
        <p:spPr>
          <a:xfrm>
            <a:off x="6898463" y="1898061"/>
            <a:ext cx="972694"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1B2430"/>
                </a:solidFill>
                <a:latin typeface="Inter Bold" pitchFamily="34" charset="0"/>
                <a:ea typeface="Inter Bold" pitchFamily="34" charset="-122"/>
                <a:cs typeface="Inter Bold" pitchFamily="34" charset="-120"/>
              </a:rPr>
              <a:t>Semantic mismatch:</a:t>
            </a:r>
            <a:endParaRPr lang="en-US" sz="700" dirty="0"/>
          </a:p>
        </p:txBody>
      </p:sp>
      <p:sp>
        <p:nvSpPr>
          <p:cNvPr id="15" name="Text 12"/>
          <p:cNvSpPr/>
          <p:nvPr/>
        </p:nvSpPr>
        <p:spPr>
          <a:xfrm>
            <a:off x="6898463" y="1898061"/>
            <a:ext cx="1434080" cy="380516"/>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8000"/>
                  </a:srgbClr>
                </a:solidFill>
                <a:latin typeface="Inter" pitchFamily="34" charset="0"/>
                <a:ea typeface="Inter" pitchFamily="34" charset="-122"/>
                <a:cs typeface="Inter" pitchFamily="34" charset="-120"/>
              </a:rPr>
              <a:t>code may execute while implementing the wrong algorithm or assumption.</a:t>
            </a:r>
            <a:endParaRPr lang="en-US" sz="750" dirty="0"/>
          </a:p>
        </p:txBody>
      </p:sp>
      <p:sp>
        <p:nvSpPr>
          <p:cNvPr id="16" name="Text 13"/>
          <p:cNvSpPr/>
          <p:nvPr/>
        </p:nvSpPr>
        <p:spPr>
          <a:xfrm>
            <a:off x="3300413" y="2558858"/>
            <a:ext cx="1795453" cy="764381"/>
          </a:xfrm>
          <a:prstGeom prst="rect">
            <a:avLst/>
          </a:prstGeom>
          <a:noFill/>
          <a:ln/>
        </p:spPr>
        <p:txBody>
          <a:bodyPr wrap="square" lIns="8509" tIns="102108" rIns="153035"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Experiments</a:t>
            </a:r>
            <a:endParaRPr lang="en-US" sz="900" dirty="0"/>
          </a:p>
        </p:txBody>
      </p:sp>
      <p:sp>
        <p:nvSpPr>
          <p:cNvPr id="17" name="Text 14"/>
          <p:cNvSpPr/>
          <p:nvPr/>
        </p:nvSpPr>
        <p:spPr>
          <a:xfrm>
            <a:off x="5095866" y="2558858"/>
            <a:ext cx="1795453" cy="764381"/>
          </a:xfrm>
          <a:prstGeom prst="rect">
            <a:avLst/>
          </a:prstGeom>
          <a:noFill/>
          <a:ln/>
        </p:spPr>
        <p:txBody>
          <a:bodyPr wrap="square" lIns="8509" tIns="102108" rIns="153035" bIns="8509" rtlCol="0" anchor="t">
            <a:spAutoFit/>
          </a:bodyPr>
          <a:lstStyle/>
          <a:p>
            <a:pPr marL="0" indent="0" algn="l">
              <a:lnSpc>
                <a:spcPct val="107200"/>
              </a:lnSpc>
              <a:buNone/>
            </a:pPr>
            <a:r>
              <a:rPr lang="en-US" sz="700" b="1" dirty="0">
                <a:solidFill>
                  <a:srgbClr val="1B2430">
                    <a:alpha val="80000"/>
                  </a:srgbClr>
                </a:solidFill>
                <a:latin typeface="Inter Bold" pitchFamily="34" charset="0"/>
                <a:ea typeface="Inter Bold" pitchFamily="34" charset="-122"/>
                <a:cs typeface="Inter Bold" pitchFamily="34" charset="-120"/>
              </a:rPr>
              <a:t>Run prescribed comparisons and summarize quantitative outputs.</a:t>
            </a:r>
            <a:endParaRPr lang="en-US" sz="700" dirty="0"/>
          </a:p>
        </p:txBody>
      </p:sp>
      <p:sp>
        <p:nvSpPr>
          <p:cNvPr id="18" name="Text 15"/>
          <p:cNvSpPr/>
          <p:nvPr/>
        </p:nvSpPr>
        <p:spPr>
          <a:xfrm>
            <a:off x="6898463" y="2662442"/>
            <a:ext cx="572337"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1B2430"/>
                </a:solidFill>
                <a:latin typeface="Inter Bold" pitchFamily="34" charset="0"/>
                <a:ea typeface="Inter Bold" pitchFamily="34" charset="-122"/>
                <a:cs typeface="Inter Bold" pitchFamily="34" charset="-120"/>
              </a:rPr>
              <a:t>Design gap:</a:t>
            </a:r>
            <a:endParaRPr lang="en-US" sz="700" dirty="0"/>
          </a:p>
        </p:txBody>
      </p:sp>
      <p:sp>
        <p:nvSpPr>
          <p:cNvPr id="19" name="Text 16"/>
          <p:cNvSpPr/>
          <p:nvPr/>
        </p:nvSpPr>
        <p:spPr>
          <a:xfrm>
            <a:off x="6898463" y="2662442"/>
            <a:ext cx="1517545" cy="380516"/>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8000"/>
                  </a:srgbClr>
                </a:solidFill>
                <a:latin typeface="Inter" pitchFamily="34" charset="0"/>
                <a:ea typeface="Inter" pitchFamily="34" charset="-122"/>
                <a:cs typeface="Inter" pitchFamily="34" charset="-120"/>
              </a:rPr>
              <a:t>choosing meaningful tests and interpreting failures still require domain judgment.</a:t>
            </a:r>
            <a:endParaRPr lang="en-US" sz="750" dirty="0"/>
          </a:p>
        </p:txBody>
      </p:sp>
      <p:sp>
        <p:nvSpPr>
          <p:cNvPr id="20" name="Text 17"/>
          <p:cNvSpPr/>
          <p:nvPr/>
        </p:nvSpPr>
        <p:spPr>
          <a:xfrm>
            <a:off x="3300413" y="3323239"/>
            <a:ext cx="1795453" cy="764381"/>
          </a:xfrm>
          <a:prstGeom prst="rect">
            <a:avLst/>
          </a:prstGeom>
          <a:noFill/>
          <a:ln/>
        </p:spPr>
        <p:txBody>
          <a:bodyPr wrap="square" lIns="8509" tIns="102108" rIns="153035"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Figures &amp; tables</a:t>
            </a:r>
            <a:endParaRPr lang="en-US" sz="900" dirty="0"/>
          </a:p>
        </p:txBody>
      </p:sp>
      <p:sp>
        <p:nvSpPr>
          <p:cNvPr id="21" name="Text 18"/>
          <p:cNvSpPr/>
          <p:nvPr/>
        </p:nvSpPr>
        <p:spPr>
          <a:xfrm>
            <a:off x="5095866" y="3323239"/>
            <a:ext cx="1795453" cy="764381"/>
          </a:xfrm>
          <a:prstGeom prst="rect">
            <a:avLst/>
          </a:prstGeom>
          <a:noFill/>
          <a:ln/>
        </p:spPr>
        <p:txBody>
          <a:bodyPr wrap="square" lIns="8509" tIns="102108" rIns="153035" bIns="8509" rtlCol="0" anchor="t">
            <a:spAutoFit/>
          </a:bodyPr>
          <a:lstStyle/>
          <a:p>
            <a:pPr marL="0" indent="0" algn="l">
              <a:lnSpc>
                <a:spcPct val="107200"/>
              </a:lnSpc>
              <a:buNone/>
            </a:pPr>
            <a:r>
              <a:rPr lang="en-US" sz="700" b="1" dirty="0">
                <a:solidFill>
                  <a:srgbClr val="1B2430">
                    <a:alpha val="80000"/>
                  </a:srgbClr>
                </a:solidFill>
                <a:latin typeface="Inter Bold" pitchFamily="34" charset="0"/>
                <a:ea typeface="Inter Bold" pitchFamily="34" charset="-122"/>
                <a:cs typeface="Inter Bold" pitchFamily="34" charset="-120"/>
              </a:rPr>
              <a:t>Produce plots, diagrams, comparison tables, formulas, and pseudocode.</a:t>
            </a:r>
            <a:endParaRPr lang="en-US" sz="700" dirty="0"/>
          </a:p>
        </p:txBody>
      </p:sp>
      <p:sp>
        <p:nvSpPr>
          <p:cNvPr id="22" name="Text 19"/>
          <p:cNvSpPr/>
          <p:nvPr/>
        </p:nvSpPr>
        <p:spPr>
          <a:xfrm>
            <a:off x="6898463" y="3426823"/>
            <a:ext cx="876281"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1B2430"/>
                </a:solidFill>
                <a:latin typeface="Inter Bold" pitchFamily="34" charset="0"/>
                <a:ea typeface="Inter Bold" pitchFamily="34" charset="-122"/>
                <a:cs typeface="Inter Bold" pitchFamily="34" charset="-120"/>
              </a:rPr>
              <a:t>Visual plausibility:</a:t>
            </a:r>
            <a:endParaRPr lang="en-US" sz="700" dirty="0"/>
          </a:p>
        </p:txBody>
      </p:sp>
      <p:sp>
        <p:nvSpPr>
          <p:cNvPr id="23" name="Text 20"/>
          <p:cNvSpPr/>
          <p:nvPr/>
        </p:nvSpPr>
        <p:spPr>
          <a:xfrm>
            <a:off x="6898463" y="3426823"/>
            <a:ext cx="1361861" cy="514517"/>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8000"/>
                  </a:srgbClr>
                </a:solidFill>
                <a:latin typeface="Inter" pitchFamily="34" charset="0"/>
                <a:ea typeface="Inter" pitchFamily="34" charset="-122"/>
                <a:cs typeface="Inter" pitchFamily="34" charset="-120"/>
              </a:rPr>
              <a:t>labels, relationships, notation, or comparisons can misrepresent evidence.</a:t>
            </a:r>
            <a:endParaRPr lang="en-US" sz="750" dirty="0"/>
          </a:p>
        </p:txBody>
      </p:sp>
      <p:sp>
        <p:nvSpPr>
          <p:cNvPr id="24" name="Text 21"/>
          <p:cNvSpPr/>
          <p:nvPr/>
        </p:nvSpPr>
        <p:spPr>
          <a:xfrm>
            <a:off x="428625" y="4351939"/>
            <a:ext cx="1500188" cy="398543"/>
          </a:xfrm>
          <a:prstGeom prst="rect">
            <a:avLst/>
          </a:prstGeom>
          <a:noFill/>
          <a:ln/>
        </p:spPr>
        <p:txBody>
          <a:bodyPr wrap="square" lIns="0" tIns="0" rIns="0" bIns="0" rtlCol="0" anchor="t">
            <a:spAutoFit/>
          </a:bodyPr>
          <a:lstStyle/>
          <a:p>
            <a:pPr marL="0" indent="0" algn="l">
              <a:lnSpc>
                <a:spcPct val="88000"/>
              </a:lnSpc>
              <a:buNone/>
            </a:pPr>
            <a:r>
              <a:rPr lang="en-US" sz="1000" b="1" dirty="0">
                <a:solidFill>
                  <a:srgbClr val="2F6F73"/>
                </a:solidFill>
                <a:latin typeface="Space Grotesk Bold" pitchFamily="34" charset="0"/>
                <a:ea typeface="Space Grotesk Bold" pitchFamily="34" charset="-122"/>
                <a:cs typeface="Space Grotesk Bold" pitchFamily="34" charset="-120"/>
              </a:rPr>
              <a:t>Verification implication</a:t>
            </a:r>
            <a:endParaRPr lang="en-US" sz="1000" dirty="0"/>
          </a:p>
        </p:txBody>
      </p:sp>
      <p:sp>
        <p:nvSpPr>
          <p:cNvPr id="25" name="Text 22"/>
          <p:cNvSpPr/>
          <p:nvPr/>
        </p:nvSpPr>
        <p:spPr>
          <a:xfrm>
            <a:off x="2057400" y="4351939"/>
            <a:ext cx="1560909" cy="131992"/>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C06C3E"/>
                </a:solidFill>
                <a:latin typeface="Space Grotesk Bold" pitchFamily="34" charset="0"/>
                <a:ea typeface="Space Grotesk Bold" pitchFamily="34" charset="-122"/>
                <a:cs typeface="Space Grotesk Bold" pitchFamily="34" charset="-120"/>
              </a:rPr>
              <a:t>Execution logs</a:t>
            </a:r>
            <a:endParaRPr lang="en-US" sz="700" dirty="0"/>
          </a:p>
        </p:txBody>
      </p:sp>
      <p:sp>
        <p:nvSpPr>
          <p:cNvPr id="26" name="Text 23"/>
          <p:cNvSpPr/>
          <p:nvPr/>
        </p:nvSpPr>
        <p:spPr>
          <a:xfrm>
            <a:off x="2057400" y="4514292"/>
            <a:ext cx="1466004"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Preserve what was actually run and</a:t>
            </a:r>
            <a:endParaRPr lang="en-US" sz="650" dirty="0"/>
          </a:p>
        </p:txBody>
      </p:sp>
      <p:sp>
        <p:nvSpPr>
          <p:cNvPr id="27" name="Text 24"/>
          <p:cNvSpPr/>
          <p:nvPr/>
        </p:nvSpPr>
        <p:spPr>
          <a:xfrm>
            <a:off x="2057400" y="4636852"/>
            <a:ext cx="407863"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observed.</a:t>
            </a:r>
            <a:endParaRPr lang="en-US" sz="650" dirty="0"/>
          </a:p>
        </p:txBody>
      </p:sp>
      <p:sp>
        <p:nvSpPr>
          <p:cNvPr id="28" name="Text 25"/>
          <p:cNvSpPr/>
          <p:nvPr/>
        </p:nvSpPr>
        <p:spPr>
          <a:xfrm>
            <a:off x="3746897" y="4351939"/>
            <a:ext cx="1560909" cy="131992"/>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C06C3E"/>
                </a:solidFill>
                <a:latin typeface="Space Grotesk Bold" pitchFamily="34" charset="0"/>
                <a:ea typeface="Space Grotesk Bold" pitchFamily="34" charset="-122"/>
                <a:cs typeface="Space Grotesk Bold" pitchFamily="34" charset="-120"/>
              </a:rPr>
              <a:t>Semantic tests</a:t>
            </a:r>
            <a:endParaRPr lang="en-US" sz="700" dirty="0"/>
          </a:p>
        </p:txBody>
      </p:sp>
      <p:sp>
        <p:nvSpPr>
          <p:cNvPr id="29" name="Text 26"/>
          <p:cNvSpPr/>
          <p:nvPr/>
        </p:nvSpPr>
        <p:spPr>
          <a:xfrm>
            <a:off x="3746897" y="4514292"/>
            <a:ext cx="1517656"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Check intent, not only syntax or pass</a:t>
            </a:r>
            <a:endParaRPr lang="en-US" sz="650" dirty="0"/>
          </a:p>
        </p:txBody>
      </p:sp>
      <p:sp>
        <p:nvSpPr>
          <p:cNvPr id="30" name="Text 27"/>
          <p:cNvSpPr/>
          <p:nvPr/>
        </p:nvSpPr>
        <p:spPr>
          <a:xfrm>
            <a:off x="3746897" y="4636852"/>
            <a:ext cx="232283"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rates.</a:t>
            </a:r>
            <a:endParaRPr lang="en-US" sz="650" dirty="0"/>
          </a:p>
        </p:txBody>
      </p:sp>
      <p:sp>
        <p:nvSpPr>
          <p:cNvPr id="31" name="Text 28"/>
          <p:cNvSpPr/>
          <p:nvPr/>
        </p:nvSpPr>
        <p:spPr>
          <a:xfrm>
            <a:off x="5436394" y="4351939"/>
            <a:ext cx="1560909" cy="131992"/>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C06C3E"/>
                </a:solidFill>
                <a:latin typeface="Space Grotesk Bold" pitchFamily="34" charset="0"/>
                <a:ea typeface="Space Grotesk Bold" pitchFamily="34" charset="-122"/>
                <a:cs typeface="Space Grotesk Bold" pitchFamily="34" charset="-120"/>
              </a:rPr>
              <a:t>Provenance links</a:t>
            </a:r>
            <a:endParaRPr lang="en-US" sz="700" dirty="0"/>
          </a:p>
        </p:txBody>
      </p:sp>
      <p:sp>
        <p:nvSpPr>
          <p:cNvPr id="32" name="Text 29"/>
          <p:cNvSpPr/>
          <p:nvPr/>
        </p:nvSpPr>
        <p:spPr>
          <a:xfrm>
            <a:off x="5436394" y="4514292"/>
            <a:ext cx="1410946"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Tie code, data, figures, and claims</a:t>
            </a:r>
            <a:endParaRPr lang="en-US" sz="650" dirty="0"/>
          </a:p>
        </p:txBody>
      </p:sp>
      <p:sp>
        <p:nvSpPr>
          <p:cNvPr id="33" name="Text 30"/>
          <p:cNvSpPr/>
          <p:nvPr/>
        </p:nvSpPr>
        <p:spPr>
          <a:xfrm>
            <a:off x="5436394" y="4636852"/>
            <a:ext cx="361457"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together.</a:t>
            </a:r>
            <a:endParaRPr lang="en-US" sz="650" dirty="0"/>
          </a:p>
        </p:txBody>
      </p:sp>
      <p:sp>
        <p:nvSpPr>
          <p:cNvPr id="34" name="Text 31"/>
          <p:cNvSpPr/>
          <p:nvPr/>
        </p:nvSpPr>
        <p:spPr>
          <a:xfrm>
            <a:off x="7125891" y="4351939"/>
            <a:ext cx="1560909" cy="131992"/>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C06C3E"/>
                </a:solidFill>
                <a:latin typeface="Space Grotesk Bold" pitchFamily="34" charset="0"/>
                <a:ea typeface="Space Grotesk Bold" pitchFamily="34" charset="-122"/>
                <a:cs typeface="Space Grotesk Bold" pitchFamily="34" charset="-120"/>
              </a:rPr>
              <a:t>Human review</a:t>
            </a:r>
            <a:endParaRPr lang="en-US" sz="700" dirty="0"/>
          </a:p>
        </p:txBody>
      </p:sp>
      <p:sp>
        <p:nvSpPr>
          <p:cNvPr id="35" name="Text 32"/>
          <p:cNvSpPr/>
          <p:nvPr/>
        </p:nvSpPr>
        <p:spPr>
          <a:xfrm>
            <a:off x="7125891" y="4514292"/>
            <a:ext cx="1430006"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Keep scientific interpretation under</a:t>
            </a:r>
            <a:endParaRPr lang="en-US" sz="650" dirty="0"/>
          </a:p>
        </p:txBody>
      </p:sp>
      <p:sp>
        <p:nvSpPr>
          <p:cNvPr id="36" name="Text 33"/>
          <p:cNvSpPr/>
          <p:nvPr/>
        </p:nvSpPr>
        <p:spPr>
          <a:xfrm>
            <a:off x="7125891" y="4636852"/>
            <a:ext cx="588466" cy="103584"/>
          </a:xfrm>
          <a:prstGeom prst="rect">
            <a:avLst/>
          </a:prstGeom>
          <a:noFill/>
          <a:ln/>
        </p:spPr>
        <p:txBody>
          <a:bodyPr wrap="none" lIns="0" tIns="0" rIns="0" bIns="0" rtlCol="0" anchor="t">
            <a:spAutoFit/>
          </a:bodyPr>
          <a:lstStyle/>
          <a:p>
            <a:pPr marL="0" indent="0" algn="l">
              <a:lnSpc>
                <a:spcPct val="105600"/>
              </a:lnSpc>
              <a:buNone/>
            </a:pPr>
            <a:r>
              <a:rPr lang="en-US" sz="650" dirty="0">
                <a:solidFill>
                  <a:srgbClr val="1B2430">
                    <a:alpha val="75000"/>
                  </a:srgbClr>
                </a:solidFill>
                <a:latin typeface="Inter" pitchFamily="34" charset="0"/>
                <a:ea typeface="Inter" pitchFamily="34" charset="-122"/>
                <a:cs typeface="Inter" pitchFamily="34" charset="-120"/>
              </a:rPr>
              <a:t>expert control.</a:t>
            </a:r>
            <a:endParaRPr lang="en-US" sz="650" dirty="0"/>
          </a:p>
        </p:txBody>
      </p:sp>
      <p:sp>
        <p:nvSpPr>
          <p:cNvPr id="37" name="Text 34"/>
          <p:cNvSpPr/>
          <p:nvPr/>
        </p:nvSpPr>
        <p:spPr>
          <a:xfrm>
            <a:off x="428625" y="4939903"/>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48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WRITING PHASE · S5 PAPER WRITING</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Writing is fluent, but not necessarily rigorous</a:t>
            </a:r>
            <a:endParaRPr lang="en-US" sz="1950" dirty="0"/>
          </a:p>
        </p:txBody>
      </p:sp>
      <p:sp>
        <p:nvSpPr>
          <p:cNvPr id="5" name="Text 2"/>
          <p:cNvSpPr/>
          <p:nvPr/>
        </p:nvSpPr>
        <p:spPr>
          <a:xfrm>
            <a:off x="428625" y="957821"/>
            <a:ext cx="8001000" cy="344574"/>
          </a:xfrm>
          <a:prstGeom prst="rect">
            <a:avLst/>
          </a:prstGeom>
          <a:noFill/>
          <a:ln/>
        </p:spPr>
        <p:txBody>
          <a:bodyPr wrap="square" lIns="0" tIns="0" rIns="0" bIns="0" rtlCol="0" anchor="t">
            <a:spAutoFit/>
          </a:bodyPr>
          <a:lstStyle/>
          <a:p>
            <a:pPr marL="0" indent="0" algn="l">
              <a:lnSpc>
                <a:spcPct val="107200"/>
              </a:lnSpc>
              <a:buNone/>
            </a:pPr>
            <a:r>
              <a:rPr lang="en-US" sz="950" dirty="0">
                <a:solidFill>
                  <a:srgbClr val="1B2430">
                    <a:alpha val="78000"/>
                  </a:srgbClr>
                </a:solidFill>
                <a:latin typeface="Inter" pitchFamily="34" charset="0"/>
                <a:ea typeface="Inter" pitchFamily="34" charset="-122"/>
                <a:cs typeface="Inter" pitchFamily="34" charset="-120"/>
              </a:rPr>
              <a:t>AI writing assistance is now mainstream, but the survey argues that the hard problem is not prose polish; it is argumentative depth, evidentiary grounding, and author accountability.</a:t>
            </a:r>
            <a:endParaRPr lang="en-US" sz="950" dirty="0"/>
          </a:p>
        </p:txBody>
      </p:sp>
      <p:sp>
        <p:nvSpPr>
          <p:cNvPr id="6" name="Text 3"/>
          <p:cNvSpPr/>
          <p:nvPr/>
        </p:nvSpPr>
        <p:spPr>
          <a:xfrm>
            <a:off x="428625" y="1752451"/>
            <a:ext cx="2428875" cy="207169"/>
          </a:xfrm>
          <a:prstGeom prst="rect">
            <a:avLst/>
          </a:prstGeom>
          <a:noFill/>
          <a:ln/>
        </p:spPr>
        <p:txBody>
          <a:bodyPr wrap="none" lIns="0" tIns="0" rIns="0" bIns="0" rtlCol="0" anchor="t">
            <a:spAutoFit/>
          </a:bodyPr>
          <a:lstStyle/>
          <a:p>
            <a:pPr marL="0" indent="0" algn="l">
              <a:lnSpc>
                <a:spcPct val="80000"/>
              </a:lnSpc>
              <a:buNone/>
            </a:pPr>
            <a:r>
              <a:rPr lang="en-US" sz="1450" b="1" kern="0" spc="-1" dirty="0">
                <a:solidFill>
                  <a:srgbClr val="C06C3E"/>
                </a:solidFill>
                <a:latin typeface="Space Grotesk Bold" pitchFamily="34" charset="0"/>
                <a:ea typeface="Space Grotesk Bold" pitchFamily="34" charset="-122"/>
                <a:cs typeface="Space Grotesk Bold" pitchFamily="34" charset="-120"/>
              </a:rPr>
              <a:t>S5</a:t>
            </a:r>
            <a:endParaRPr lang="en-US" sz="1450" dirty="0"/>
          </a:p>
        </p:txBody>
      </p:sp>
      <p:sp>
        <p:nvSpPr>
          <p:cNvPr id="7" name="Text 4"/>
          <p:cNvSpPr/>
          <p:nvPr/>
        </p:nvSpPr>
        <p:spPr>
          <a:xfrm>
            <a:off x="428625" y="2031057"/>
            <a:ext cx="2428875" cy="416570"/>
          </a:xfrm>
          <a:prstGeom prst="rect">
            <a:avLst/>
          </a:prstGeom>
          <a:noFill/>
          <a:ln/>
        </p:spPr>
        <p:txBody>
          <a:bodyPr wrap="square" lIns="0" tIns="0" rIns="0" bIns="0" rtlCol="0" anchor="t">
            <a:spAutoFit/>
          </a:bodyPr>
          <a:lstStyle/>
          <a:p>
            <a:pPr marL="0" indent="0" algn="l">
              <a:lnSpc>
                <a:spcPct val="86400"/>
              </a:lnSpc>
              <a:buNone/>
            </a:pPr>
            <a:r>
              <a:rPr lang="en-US" sz="1350" b="1" kern="0" spc="-1" dirty="0">
                <a:solidFill>
                  <a:srgbClr val="2F6F73"/>
                </a:solidFill>
                <a:latin typeface="Space Grotesk Bold" pitchFamily="34" charset="0"/>
                <a:ea typeface="Space Grotesk Bold" pitchFamily="34" charset="-122"/>
                <a:cs typeface="Space Grotesk Bold" pitchFamily="34" charset="-120"/>
              </a:rPr>
              <a:t>From polished prose to validated argument</a:t>
            </a:r>
            <a:endParaRPr lang="en-US" sz="1350" dirty="0"/>
          </a:p>
        </p:txBody>
      </p:sp>
      <p:sp>
        <p:nvSpPr>
          <p:cNvPr id="8" name="Text 5"/>
          <p:cNvSpPr/>
          <p:nvPr/>
        </p:nvSpPr>
        <p:spPr>
          <a:xfrm>
            <a:off x="428625" y="2590502"/>
            <a:ext cx="2428875" cy="811485"/>
          </a:xfrm>
          <a:prstGeom prst="rect">
            <a:avLst/>
          </a:prstGeom>
          <a:noFill/>
          <a:ln/>
        </p:spPr>
        <p:txBody>
          <a:bodyPr wrap="square" lIns="0" tIns="0" rIns="0" bIns="0" rtlCol="0" anchor="t">
            <a:spAutoFit/>
          </a:bodyPr>
          <a:lstStyle/>
          <a:p>
            <a:pPr marL="0" indent="0" algn="l">
              <a:lnSpc>
                <a:spcPct val="113600"/>
              </a:lnSpc>
              <a:buNone/>
            </a:pPr>
            <a:r>
              <a:rPr lang="en-US" sz="850" dirty="0">
                <a:solidFill>
                  <a:srgbClr val="1B2430">
                    <a:alpha val="76000"/>
                  </a:srgbClr>
                </a:solidFill>
                <a:latin typeface="Inter" pitchFamily="34" charset="0"/>
                <a:ea typeface="Inter" pitchFamily="34" charset="-122"/>
                <a:cs typeface="Inter" pitchFamily="34" charset="-120"/>
              </a:rPr>
              <a:t>Paper-writing systems can draft, polish, restructure, cite, and revise manuscripts. Their credibility depends on whether claims remain connected to evidence, not whether the language sounds scholarly.</a:t>
            </a:r>
            <a:endParaRPr lang="en-US" sz="850" dirty="0"/>
          </a:p>
        </p:txBody>
      </p:sp>
      <p:sp>
        <p:nvSpPr>
          <p:cNvPr id="9" name="Text 6"/>
          <p:cNvSpPr/>
          <p:nvPr/>
        </p:nvSpPr>
        <p:spPr>
          <a:xfrm>
            <a:off x="428625" y="3687738"/>
            <a:ext cx="742950" cy="294847"/>
          </a:xfrm>
          <a:prstGeom prst="rect">
            <a:avLst/>
          </a:prstGeom>
          <a:noFill/>
          <a:ln/>
        </p:spPr>
        <p:txBody>
          <a:bodyPr wrap="none" lIns="0" tIns="68072" rIns="0" bIns="0" rtlCol="0" anchor="t">
            <a:spAutoFit/>
          </a:bodyPr>
          <a:lstStyle/>
          <a:p>
            <a:pPr marL="0" indent="0" algn="l">
              <a:buNone/>
            </a:pPr>
            <a:r>
              <a:rPr lang="en-US" sz="600" b="1" kern="0" spc="1" dirty="0">
                <a:solidFill>
                  <a:srgbClr val="C06C3E"/>
                </a:solidFill>
                <a:latin typeface="Space Grotesk Bold" pitchFamily="34" charset="0"/>
                <a:ea typeface="Space Grotesk Bold" pitchFamily="34" charset="-122"/>
                <a:cs typeface="Space Grotesk Bold" pitchFamily="34" charset="-120"/>
              </a:rPr>
              <a:t>INPUT</a:t>
            </a:r>
            <a:endParaRPr lang="en-US" sz="600" dirty="0"/>
          </a:p>
        </p:txBody>
      </p:sp>
      <p:sp>
        <p:nvSpPr>
          <p:cNvPr id="10" name="Text 7"/>
          <p:cNvSpPr/>
          <p:nvPr/>
        </p:nvSpPr>
        <p:spPr>
          <a:xfrm>
            <a:off x="1257300" y="3687738"/>
            <a:ext cx="1600200" cy="294847"/>
          </a:xfrm>
          <a:prstGeom prst="rect">
            <a:avLst/>
          </a:prstGeom>
          <a:noFill/>
          <a:ln/>
        </p:spPr>
        <p:txBody>
          <a:bodyPr wrap="square" lIns="0" tIns="68072" rIns="0" bIns="0" rtlCol="0" anchor="t">
            <a:spAutoFit/>
          </a:bodyPr>
          <a:lstStyle/>
          <a:p>
            <a:pPr marL="0" indent="0" algn="l">
              <a:lnSpc>
                <a:spcPct val="102400"/>
              </a:lnSpc>
              <a:buNone/>
            </a:pPr>
            <a:r>
              <a:rPr lang="en-US" sz="650" dirty="0">
                <a:solidFill>
                  <a:srgbClr val="1B2430">
                    <a:alpha val="72000"/>
                  </a:srgbClr>
                </a:solidFill>
                <a:latin typeface="Inter" pitchFamily="34" charset="0"/>
                <a:ea typeface="Inter" pitchFamily="34" charset="-122"/>
                <a:cs typeface="Inter" pitchFamily="34" charset="-120"/>
              </a:rPr>
              <a:t>Ideas, literature, code, experiments, figures, and tables.</a:t>
            </a:r>
            <a:endParaRPr lang="en-US" sz="650" dirty="0"/>
          </a:p>
        </p:txBody>
      </p:sp>
      <p:sp>
        <p:nvSpPr>
          <p:cNvPr id="11" name="Text 8"/>
          <p:cNvSpPr/>
          <p:nvPr/>
        </p:nvSpPr>
        <p:spPr>
          <a:xfrm>
            <a:off x="428625" y="3993300"/>
            <a:ext cx="742950" cy="294847"/>
          </a:xfrm>
          <a:prstGeom prst="rect">
            <a:avLst/>
          </a:prstGeom>
          <a:noFill/>
          <a:ln/>
        </p:spPr>
        <p:txBody>
          <a:bodyPr wrap="none" lIns="0" tIns="68072" rIns="0" bIns="0" rtlCol="0" anchor="t">
            <a:spAutoFit/>
          </a:bodyPr>
          <a:lstStyle/>
          <a:p>
            <a:pPr marL="0" indent="0" algn="l">
              <a:buNone/>
            </a:pPr>
            <a:r>
              <a:rPr lang="en-US" sz="600" b="1" kern="0" spc="1" dirty="0">
                <a:solidFill>
                  <a:srgbClr val="C06C3E"/>
                </a:solidFill>
                <a:latin typeface="Space Grotesk Bold" pitchFamily="34" charset="0"/>
                <a:ea typeface="Space Grotesk Bold" pitchFamily="34" charset="-122"/>
                <a:cs typeface="Space Grotesk Bold" pitchFamily="34" charset="-120"/>
              </a:rPr>
              <a:t>OUTPUT</a:t>
            </a:r>
            <a:endParaRPr lang="en-US" sz="600" dirty="0"/>
          </a:p>
        </p:txBody>
      </p:sp>
      <p:sp>
        <p:nvSpPr>
          <p:cNvPr id="12" name="Text 9"/>
          <p:cNvSpPr/>
          <p:nvPr/>
        </p:nvSpPr>
        <p:spPr>
          <a:xfrm>
            <a:off x="1257300" y="3993300"/>
            <a:ext cx="1600200" cy="294847"/>
          </a:xfrm>
          <a:prstGeom prst="rect">
            <a:avLst/>
          </a:prstGeom>
          <a:noFill/>
          <a:ln/>
        </p:spPr>
        <p:txBody>
          <a:bodyPr wrap="square" lIns="0" tIns="68072" rIns="0" bIns="0" rtlCol="0" anchor="t">
            <a:spAutoFit/>
          </a:bodyPr>
          <a:lstStyle/>
          <a:p>
            <a:pPr marL="0" indent="0" algn="l">
              <a:lnSpc>
                <a:spcPct val="102400"/>
              </a:lnSpc>
              <a:buNone/>
            </a:pPr>
            <a:r>
              <a:rPr lang="en-US" sz="650" dirty="0">
                <a:solidFill>
                  <a:srgbClr val="1B2430">
                    <a:alpha val="72000"/>
                  </a:srgbClr>
                </a:solidFill>
                <a:latin typeface="Inter" pitchFamily="34" charset="0"/>
                <a:ea typeface="Inter" pitchFamily="34" charset="-122"/>
                <a:cs typeface="Inter" pitchFamily="34" charset="-120"/>
              </a:rPr>
              <a:t>Abstracts, sections, citations, responses, and full drafts.</a:t>
            </a:r>
            <a:endParaRPr lang="en-US" sz="650" dirty="0"/>
          </a:p>
        </p:txBody>
      </p:sp>
      <p:sp>
        <p:nvSpPr>
          <p:cNvPr id="13" name="Text 10"/>
          <p:cNvSpPr/>
          <p:nvPr/>
        </p:nvSpPr>
        <p:spPr>
          <a:xfrm>
            <a:off x="428625" y="4298863"/>
            <a:ext cx="742950" cy="294847"/>
          </a:xfrm>
          <a:prstGeom prst="rect">
            <a:avLst/>
          </a:prstGeom>
          <a:noFill/>
          <a:ln/>
        </p:spPr>
        <p:txBody>
          <a:bodyPr wrap="none" lIns="0" tIns="68072" rIns="0" bIns="0" rtlCol="0" anchor="t">
            <a:spAutoFit/>
          </a:bodyPr>
          <a:lstStyle/>
          <a:p>
            <a:pPr marL="0" indent="0" algn="l">
              <a:buNone/>
            </a:pPr>
            <a:r>
              <a:rPr lang="en-US" sz="600" b="1" kern="0" spc="1" dirty="0">
                <a:solidFill>
                  <a:srgbClr val="C06C3E"/>
                </a:solidFill>
                <a:latin typeface="Space Grotesk Bold" pitchFamily="34" charset="0"/>
                <a:ea typeface="Space Grotesk Bold" pitchFamily="34" charset="-122"/>
                <a:cs typeface="Space Grotesk Bold" pitchFamily="34" charset="-120"/>
              </a:rPr>
              <a:t>AUDIT</a:t>
            </a:r>
            <a:endParaRPr lang="en-US" sz="600" dirty="0"/>
          </a:p>
        </p:txBody>
      </p:sp>
      <p:sp>
        <p:nvSpPr>
          <p:cNvPr id="14" name="Text 11"/>
          <p:cNvSpPr/>
          <p:nvPr/>
        </p:nvSpPr>
        <p:spPr>
          <a:xfrm>
            <a:off x="1257300" y="4298863"/>
            <a:ext cx="1600200" cy="294847"/>
          </a:xfrm>
          <a:prstGeom prst="rect">
            <a:avLst/>
          </a:prstGeom>
          <a:noFill/>
          <a:ln/>
        </p:spPr>
        <p:txBody>
          <a:bodyPr wrap="square" lIns="0" tIns="68072" rIns="0" bIns="0" rtlCol="0" anchor="t">
            <a:spAutoFit/>
          </a:bodyPr>
          <a:lstStyle/>
          <a:p>
            <a:pPr marL="0" indent="0" algn="l">
              <a:lnSpc>
                <a:spcPct val="102400"/>
              </a:lnSpc>
              <a:buNone/>
            </a:pPr>
            <a:r>
              <a:rPr lang="en-US" sz="650" dirty="0">
                <a:solidFill>
                  <a:srgbClr val="1B2430">
                    <a:alpha val="72000"/>
                  </a:srgbClr>
                </a:solidFill>
                <a:latin typeface="Inter" pitchFamily="34" charset="0"/>
                <a:ea typeface="Inter" pitchFamily="34" charset="-122"/>
                <a:cs typeface="Inter" pitchFamily="34" charset="-120"/>
              </a:rPr>
              <a:t>Every major claim should trace back to evidence and limitations.</a:t>
            </a:r>
            <a:endParaRPr lang="en-US" sz="650" dirty="0"/>
          </a:p>
        </p:txBody>
      </p:sp>
      <p:sp>
        <p:nvSpPr>
          <p:cNvPr id="15" name="Text 12"/>
          <p:cNvSpPr/>
          <p:nvPr/>
        </p:nvSpPr>
        <p:spPr>
          <a:xfrm>
            <a:off x="3157538" y="1627436"/>
            <a:ext cx="1843088"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DEVELOPMENT</a:t>
            </a:r>
            <a:endParaRPr lang="en-US" sz="600" dirty="0"/>
          </a:p>
        </p:txBody>
      </p:sp>
      <p:sp>
        <p:nvSpPr>
          <p:cNvPr id="16" name="Text 13"/>
          <p:cNvSpPr/>
          <p:nvPr/>
        </p:nvSpPr>
        <p:spPr>
          <a:xfrm>
            <a:off x="5000625" y="1627436"/>
            <a:ext cx="1843088"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EVIDENCE FROM THE SURVEY</a:t>
            </a:r>
            <a:endParaRPr lang="en-US" sz="600" dirty="0"/>
          </a:p>
        </p:txBody>
      </p:sp>
      <p:sp>
        <p:nvSpPr>
          <p:cNvPr id="17" name="Text 14"/>
          <p:cNvSpPr/>
          <p:nvPr/>
        </p:nvSpPr>
        <p:spPr>
          <a:xfrm>
            <a:off x="6843713" y="1627436"/>
            <a:ext cx="1843088" cy="339328"/>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INTERPRETATION</a:t>
            </a:r>
            <a:endParaRPr lang="en-US" sz="600" dirty="0"/>
          </a:p>
        </p:txBody>
      </p:sp>
      <p:sp>
        <p:nvSpPr>
          <p:cNvPr id="18" name="Text 15"/>
          <p:cNvSpPr/>
          <p:nvPr/>
        </p:nvSpPr>
        <p:spPr>
          <a:xfrm>
            <a:off x="3157538" y="1966764"/>
            <a:ext cx="1843088" cy="828675"/>
          </a:xfrm>
          <a:prstGeom prst="rect">
            <a:avLst/>
          </a:prstGeom>
          <a:noFill/>
          <a:ln/>
        </p:spPr>
        <p:txBody>
          <a:bodyPr wrap="square" lIns="8509" tIns="110617" rIns="170053" bIns="8509" rtlCol="0" anchor="t">
            <a:spAutoFit/>
          </a:bodyPr>
          <a:lstStyle/>
          <a:p>
            <a:pPr marL="0" indent="0" algn="l">
              <a:lnSpc>
                <a:spcPct val="90400"/>
              </a:lnSpc>
              <a:buNone/>
            </a:pPr>
            <a:r>
              <a:rPr lang="en-US" sz="900" b="1" dirty="0">
                <a:solidFill>
                  <a:srgbClr val="2F6F73"/>
                </a:solidFill>
                <a:latin typeface="Space Grotesk Bold" pitchFamily="34" charset="0"/>
                <a:ea typeface="Space Grotesk Bold" pitchFamily="34" charset="-122"/>
                <a:cs typeface="Space Grotesk Bold" pitchFamily="34" charset="-120"/>
              </a:rPr>
              <a:t>Broad adoption</a:t>
            </a:r>
            <a:endParaRPr lang="en-US" sz="900" dirty="0"/>
          </a:p>
        </p:txBody>
      </p:sp>
      <p:sp>
        <p:nvSpPr>
          <p:cNvPr id="19" name="Text 16"/>
          <p:cNvSpPr/>
          <p:nvPr/>
        </p:nvSpPr>
        <p:spPr>
          <a:xfrm>
            <a:off x="5000625" y="1966764"/>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00" b="1" dirty="0">
                <a:solidFill>
                  <a:srgbClr val="1B2430">
                    <a:alpha val="80000"/>
                  </a:srgbClr>
                </a:solidFill>
                <a:latin typeface="Inter Bold" pitchFamily="34" charset="0"/>
                <a:ea typeface="Inter Bold" pitchFamily="34" charset="-122"/>
                <a:cs typeface="Inter Bold" pitchFamily="34" charset="-120"/>
              </a:rPr>
              <a:t>Detectable AI modification appears in a substantial share of CS and biomedical abstracts; self-reported use is higher.</a:t>
            </a:r>
            <a:endParaRPr lang="en-US" sz="700" dirty="0"/>
          </a:p>
        </p:txBody>
      </p:sp>
      <p:sp>
        <p:nvSpPr>
          <p:cNvPr id="20" name="Text 17"/>
          <p:cNvSpPr/>
          <p:nvPr/>
        </p:nvSpPr>
        <p:spPr>
          <a:xfrm>
            <a:off x="6843713" y="1966764"/>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50" dirty="0">
                <a:solidFill>
                  <a:srgbClr val="1B2430">
                    <a:alpha val="74000"/>
                  </a:srgbClr>
                </a:solidFill>
                <a:latin typeface="Inter" pitchFamily="34" charset="0"/>
                <a:ea typeface="Inter" pitchFamily="34" charset="-122"/>
                <a:cs typeface="Inter" pitchFamily="34" charset="-120"/>
              </a:rPr>
              <a:t>AI writing support is already embedded in scientific practice, making governance more important than detection alone.</a:t>
            </a:r>
            <a:endParaRPr lang="en-US" sz="750" dirty="0"/>
          </a:p>
        </p:txBody>
      </p:sp>
      <p:sp>
        <p:nvSpPr>
          <p:cNvPr id="21" name="Text 18"/>
          <p:cNvSpPr/>
          <p:nvPr/>
        </p:nvSpPr>
        <p:spPr>
          <a:xfrm>
            <a:off x="3157538" y="2795439"/>
            <a:ext cx="1843088" cy="828675"/>
          </a:xfrm>
          <a:prstGeom prst="rect">
            <a:avLst/>
          </a:prstGeom>
          <a:noFill/>
          <a:ln/>
        </p:spPr>
        <p:txBody>
          <a:bodyPr wrap="square" lIns="8509" tIns="110617" rIns="170053" bIns="8509" rtlCol="0" anchor="t">
            <a:spAutoFit/>
          </a:bodyPr>
          <a:lstStyle/>
          <a:p>
            <a:pPr marL="0" indent="0" algn="l">
              <a:lnSpc>
                <a:spcPct val="90400"/>
              </a:lnSpc>
              <a:buNone/>
            </a:pPr>
            <a:r>
              <a:rPr lang="en-US" sz="900" b="1" dirty="0">
                <a:solidFill>
                  <a:srgbClr val="2F6F73"/>
                </a:solidFill>
                <a:latin typeface="Space Grotesk Bold" pitchFamily="34" charset="0"/>
                <a:ea typeface="Space Grotesk Bold" pitchFamily="34" charset="-122"/>
                <a:cs typeface="Space Grotesk Bold" pitchFamily="34" charset="-120"/>
              </a:rPr>
              <a:t>Near-reviewable generation</a:t>
            </a:r>
            <a:endParaRPr lang="en-US" sz="900" dirty="0"/>
          </a:p>
        </p:txBody>
      </p:sp>
      <p:sp>
        <p:nvSpPr>
          <p:cNvPr id="22" name="Text 19"/>
          <p:cNvSpPr/>
          <p:nvPr/>
        </p:nvSpPr>
        <p:spPr>
          <a:xfrm>
            <a:off x="5000625" y="2795439"/>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00" b="1" dirty="0">
                <a:solidFill>
                  <a:srgbClr val="1B2430">
                    <a:alpha val="80000"/>
                  </a:srgbClr>
                </a:solidFill>
                <a:latin typeface="Inter Bold" pitchFamily="34" charset="0"/>
                <a:ea typeface="Inter Bold" pitchFamily="34" charset="-122"/>
                <a:cs typeface="Inter Bold" pitchFamily="34" charset="-120"/>
              </a:rPr>
              <a:t>Strong automated systems approach accepted-paper review scores but remain below accepted-paper averages.</a:t>
            </a:r>
            <a:endParaRPr lang="en-US" sz="700" dirty="0"/>
          </a:p>
        </p:txBody>
      </p:sp>
      <p:sp>
        <p:nvSpPr>
          <p:cNvPr id="23" name="Text 20"/>
          <p:cNvSpPr/>
          <p:nvPr/>
        </p:nvSpPr>
        <p:spPr>
          <a:xfrm>
            <a:off x="6843713" y="2795439"/>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50" dirty="0">
                <a:solidFill>
                  <a:srgbClr val="1B2430">
                    <a:alpha val="74000"/>
                  </a:srgbClr>
                </a:solidFill>
                <a:latin typeface="Inter" pitchFamily="34" charset="0"/>
                <a:ea typeface="Inter" pitchFamily="34" charset="-122"/>
                <a:cs typeface="Inter" pitchFamily="34" charset="-120"/>
              </a:rPr>
              <a:t>Surface fluency is no longer the main constraint; scientific substance still separates plausible drafts from publishable work.</a:t>
            </a:r>
            <a:endParaRPr lang="en-US" sz="750" dirty="0"/>
          </a:p>
        </p:txBody>
      </p:sp>
      <p:sp>
        <p:nvSpPr>
          <p:cNvPr id="24" name="Text 21"/>
          <p:cNvSpPr/>
          <p:nvPr/>
        </p:nvSpPr>
        <p:spPr>
          <a:xfrm>
            <a:off x="3157538" y="3624114"/>
            <a:ext cx="1843088" cy="828675"/>
          </a:xfrm>
          <a:prstGeom prst="rect">
            <a:avLst/>
          </a:prstGeom>
          <a:noFill/>
          <a:ln/>
        </p:spPr>
        <p:txBody>
          <a:bodyPr wrap="square" lIns="8509" tIns="110617" rIns="170053" bIns="8509" rtlCol="0" anchor="t">
            <a:spAutoFit/>
          </a:bodyPr>
          <a:lstStyle/>
          <a:p>
            <a:pPr marL="0" indent="0" algn="l">
              <a:lnSpc>
                <a:spcPct val="90400"/>
              </a:lnSpc>
              <a:buNone/>
            </a:pPr>
            <a:r>
              <a:rPr lang="en-US" sz="900" b="1" dirty="0">
                <a:solidFill>
                  <a:srgbClr val="2F6F73"/>
                </a:solidFill>
                <a:latin typeface="Space Grotesk Bold" pitchFamily="34" charset="0"/>
                <a:ea typeface="Space Grotesk Bold" pitchFamily="34" charset="-122"/>
                <a:cs typeface="Space Grotesk Bold" pitchFamily="34" charset="-120"/>
              </a:rPr>
              <a:t>Rubric-guided revision</a:t>
            </a:r>
            <a:endParaRPr lang="en-US" sz="900" dirty="0"/>
          </a:p>
        </p:txBody>
      </p:sp>
      <p:sp>
        <p:nvSpPr>
          <p:cNvPr id="25" name="Text 22"/>
          <p:cNvSpPr/>
          <p:nvPr/>
        </p:nvSpPr>
        <p:spPr>
          <a:xfrm>
            <a:off x="5000625" y="3624114"/>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00" b="1" dirty="0">
                <a:solidFill>
                  <a:srgbClr val="1B2430">
                    <a:alpha val="80000"/>
                  </a:srgbClr>
                </a:solidFill>
                <a:latin typeface="Inter Bold" pitchFamily="34" charset="0"/>
                <a:ea typeface="Inter Bold" pitchFamily="34" charset="-122"/>
                <a:cs typeface="Inter Bold" pitchFamily="34" charset="-120"/>
              </a:rPr>
              <a:t>Some systems obtain strong expert preference for revised drafts through structured feedback and iterative refinement.</a:t>
            </a:r>
            <a:endParaRPr lang="en-US" sz="700" dirty="0"/>
          </a:p>
        </p:txBody>
      </p:sp>
      <p:sp>
        <p:nvSpPr>
          <p:cNvPr id="26" name="Text 23"/>
          <p:cNvSpPr/>
          <p:nvPr/>
        </p:nvSpPr>
        <p:spPr>
          <a:xfrm>
            <a:off x="6843713" y="3624114"/>
            <a:ext cx="1843088" cy="828675"/>
          </a:xfrm>
          <a:prstGeom prst="rect">
            <a:avLst/>
          </a:prstGeom>
          <a:noFill/>
          <a:ln/>
        </p:spPr>
        <p:txBody>
          <a:bodyPr wrap="square" lIns="8509" tIns="110617" rIns="170053" bIns="8509" rtlCol="0" anchor="t">
            <a:spAutoFit/>
          </a:bodyPr>
          <a:lstStyle/>
          <a:p>
            <a:pPr marL="0" indent="0" algn="l">
              <a:lnSpc>
                <a:spcPct val="108000"/>
              </a:lnSpc>
              <a:buNone/>
            </a:pPr>
            <a:r>
              <a:rPr lang="en-US" sz="750" dirty="0">
                <a:solidFill>
                  <a:srgbClr val="1B2430">
                    <a:alpha val="74000"/>
                  </a:srgbClr>
                </a:solidFill>
                <a:latin typeface="Inter" pitchFamily="34" charset="0"/>
                <a:ea typeface="Inter" pitchFamily="34" charset="-122"/>
                <a:cs typeface="Inter" pitchFamily="34" charset="-120"/>
              </a:rPr>
              <a:t>Rubrics can improve drafts, but they do not replace human judgment over claims, interpretation, and responsibility.</a:t>
            </a:r>
            <a:endParaRPr lang="en-US" sz="750" dirty="0"/>
          </a:p>
        </p:txBody>
      </p:sp>
      <p:sp>
        <p:nvSpPr>
          <p:cNvPr id="27" name="Text 24"/>
          <p:cNvSpPr/>
          <p:nvPr/>
        </p:nvSpPr>
        <p:spPr>
          <a:xfrm>
            <a:off x="428625" y="4850885"/>
            <a:ext cx="1678781" cy="291443"/>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C06C3E"/>
                </a:solidFill>
                <a:latin typeface="Space Grotesk Bold" pitchFamily="34" charset="0"/>
                <a:ea typeface="Space Grotesk Bold" pitchFamily="34" charset="-122"/>
                <a:cs typeface="Space Grotesk Bold" pitchFamily="34" charset="-120"/>
              </a:rPr>
              <a:t>Failure mode</a:t>
            </a:r>
            <a:endParaRPr lang="en-US" sz="1100" dirty="0"/>
          </a:p>
        </p:txBody>
      </p:sp>
      <p:sp>
        <p:nvSpPr>
          <p:cNvPr id="28" name="Text 25"/>
          <p:cNvSpPr/>
          <p:nvPr/>
        </p:nvSpPr>
        <p:spPr>
          <a:xfrm>
            <a:off x="2293144" y="4850885"/>
            <a:ext cx="6393656" cy="291443"/>
          </a:xfrm>
          <a:prstGeom prst="rect">
            <a:avLst/>
          </a:prstGeom>
          <a:noFill/>
          <a:ln/>
        </p:spPr>
        <p:txBody>
          <a:bodyPr wrap="square" lIns="0" tIns="0" rIns="0" bIns="0" rtlCol="0" anchor="t">
            <a:spAutoFit/>
          </a:bodyPr>
          <a:lstStyle/>
          <a:p>
            <a:pPr marL="0" indent="0" algn="l">
              <a:lnSpc>
                <a:spcPct val="108800"/>
              </a:lnSpc>
              <a:buNone/>
            </a:pPr>
            <a:r>
              <a:rPr lang="en-US" sz="750" b="1" dirty="0">
                <a:solidFill>
                  <a:srgbClr val="1B2430"/>
                </a:solidFill>
                <a:latin typeface="Inter Bold" pitchFamily="34" charset="0"/>
                <a:ea typeface="Inter Bold" pitchFamily="34" charset="-122"/>
                <a:cs typeface="Inter Bold" pitchFamily="34" charset="-120"/>
              </a:rPr>
              <a:t>Unsupported persuasion:</a:t>
            </a:r>
            <a:r>
              <a:rPr lang="en-US" sz="800" dirty="0">
                <a:solidFill>
                  <a:srgbClr val="1B2430">
                    <a:alpha val="78000"/>
                  </a:srgbClr>
                </a:solidFill>
                <a:latin typeface="Inter" pitchFamily="34" charset="0"/>
                <a:ea typeface="Inter" pitchFamily="34" charset="-122"/>
                <a:cs typeface="Inter" pitchFamily="34" charset="-120"/>
              </a:rPr>
              <a:t> polished text that is readable, citation-like, and reviewer-aware, yet weakly grounded in executed evidence or faithful source interpretation.</a:t>
            </a:r>
            <a:endParaRPr lang="en-US" sz="750" dirty="0"/>
          </a:p>
        </p:txBody>
      </p:sp>
      <p:sp>
        <p:nvSpPr>
          <p:cNvPr id="29" name="Text 26"/>
          <p:cNvSpPr/>
          <p:nvPr/>
        </p:nvSpPr>
        <p:spPr>
          <a:xfrm>
            <a:off x="428625" y="4939903"/>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48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VALIDATION PHASE · S6 AND S7</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Validation is where autonomy becomes risky</a:t>
            </a:r>
            <a:endParaRPr lang="en-US" sz="1950" dirty="0"/>
          </a:p>
        </p:txBody>
      </p:sp>
      <p:sp>
        <p:nvSpPr>
          <p:cNvPr id="5" name="Text 2"/>
          <p:cNvSpPr/>
          <p:nvPr/>
        </p:nvSpPr>
        <p:spPr>
          <a:xfrm>
            <a:off x="428625" y="957821"/>
            <a:ext cx="7858125" cy="172287"/>
          </a:xfrm>
          <a:prstGeom prst="rect">
            <a:avLst/>
          </a:prstGeom>
          <a:noFill/>
          <a:ln/>
        </p:spPr>
        <p:txBody>
          <a:bodyPr wrap="none" lIns="0" tIns="0" rIns="0" bIns="0" rtlCol="0" anchor="t">
            <a:spAutoFit/>
          </a:bodyPr>
          <a:lstStyle/>
          <a:p>
            <a:pPr marL="0" indent="0" algn="l">
              <a:lnSpc>
                <a:spcPct val="107200"/>
              </a:lnSpc>
              <a:buNone/>
            </a:pPr>
            <a:r>
              <a:rPr lang="en-US" sz="950" dirty="0">
                <a:solidFill>
                  <a:srgbClr val="1B2430">
                    <a:alpha val="78000"/>
                  </a:srgbClr>
                </a:solidFill>
                <a:latin typeface="Inter" pitchFamily="34" charset="0"/>
                <a:ea typeface="Inter" pitchFamily="34" charset="-122"/>
                <a:cs typeface="Inter" pitchFamily="34" charset="-120"/>
              </a:rPr>
              <a:t>AI can assist review and rebuttal, but standalone judgment remains unsafe in high-stakes scholarly evaluation.</a:t>
            </a:r>
            <a:endParaRPr lang="en-US" sz="950" dirty="0"/>
          </a:p>
        </p:txBody>
      </p:sp>
      <p:sp>
        <p:nvSpPr>
          <p:cNvPr id="6" name="Text 3"/>
          <p:cNvSpPr/>
          <p:nvPr/>
        </p:nvSpPr>
        <p:spPr>
          <a:xfrm>
            <a:off x="428625" y="1565877"/>
            <a:ext cx="2357438" cy="600075"/>
          </a:xfrm>
          <a:prstGeom prst="rect">
            <a:avLst/>
          </a:prstGeom>
          <a:noFill/>
          <a:ln/>
        </p:spPr>
        <p:txBody>
          <a:bodyPr wrap="square" lIns="0" tIns="0" rIns="0" bIns="0" rtlCol="0" anchor="t">
            <a:spAutoFit/>
          </a:bodyPr>
          <a:lstStyle/>
          <a:p>
            <a:pPr marL="0" indent="0" algn="l">
              <a:lnSpc>
                <a:spcPct val="89600"/>
              </a:lnSpc>
              <a:buNone/>
            </a:pPr>
            <a:r>
              <a:rPr lang="en-US" sz="1250" b="1" dirty="0">
                <a:solidFill>
                  <a:srgbClr val="C06C3E"/>
                </a:solidFill>
                <a:latin typeface="Space Grotesk Bold" pitchFamily="34" charset="0"/>
                <a:ea typeface="Space Grotesk Bold" pitchFamily="34" charset="-122"/>
                <a:cs typeface="Space Grotesk Bold" pitchFamily="34" charset="-120"/>
              </a:rPr>
              <a:t>The useful mode is human-governed critique, not delegated judgment</a:t>
            </a:r>
            <a:endParaRPr lang="en-US" sz="1250" dirty="0"/>
          </a:p>
        </p:txBody>
      </p:sp>
      <p:sp>
        <p:nvSpPr>
          <p:cNvPr id="7" name="Text 4"/>
          <p:cNvSpPr/>
          <p:nvPr/>
        </p:nvSpPr>
        <p:spPr>
          <a:xfrm>
            <a:off x="428625" y="2308827"/>
            <a:ext cx="2357438" cy="943310"/>
          </a:xfrm>
          <a:prstGeom prst="rect">
            <a:avLst/>
          </a:prstGeom>
          <a:noFill/>
          <a:ln/>
        </p:spPr>
        <p:txBody>
          <a:bodyPr wrap="square" lIns="0" tIns="0" rIns="0" bIns="0" rtlCol="0" anchor="t">
            <a:spAutoFit/>
          </a:bodyPr>
          <a:lstStyle/>
          <a:p>
            <a:pPr marL="0" indent="0" algn="l">
              <a:lnSpc>
                <a:spcPct val="113600"/>
              </a:lnSpc>
              <a:buNone/>
            </a:pPr>
            <a:r>
              <a:rPr lang="en-US" sz="800" dirty="0">
                <a:solidFill>
                  <a:srgbClr val="1B2430">
                    <a:alpha val="76000"/>
                  </a:srgbClr>
                </a:solidFill>
                <a:latin typeface="Inter" pitchFamily="34" charset="0"/>
                <a:ea typeface="Inter" pitchFamily="34" charset="-122"/>
                <a:cs typeface="Inter" pitchFamily="34" charset="-120"/>
              </a:rPr>
              <a:t>Validation is where research artifacts become claims about quality, correctness, and contribution. The survey shows that AI can improve the review process, but its judgments remain vulnerable to leniency, bias, manipulation, and weak grounding.</a:t>
            </a:r>
            <a:endParaRPr lang="en-US" sz="800" dirty="0"/>
          </a:p>
        </p:txBody>
      </p:sp>
      <p:sp>
        <p:nvSpPr>
          <p:cNvPr id="8" name="Text 5"/>
          <p:cNvSpPr/>
          <p:nvPr/>
        </p:nvSpPr>
        <p:spPr>
          <a:xfrm>
            <a:off x="428625" y="3530743"/>
            <a:ext cx="2357438" cy="354899"/>
          </a:xfrm>
          <a:prstGeom prst="rect">
            <a:avLst/>
          </a:prstGeom>
          <a:noFill/>
          <a:ln/>
        </p:spPr>
        <p:txBody>
          <a:bodyPr wrap="none" lIns="0" tIns="0" rIns="0" bIns="0" rtlCol="0" anchor="t">
            <a:spAutoFit/>
          </a:bodyPr>
          <a:lstStyle/>
          <a:p>
            <a:pPr marL="0" indent="0" algn="l">
              <a:lnSpc>
                <a:spcPct val="73600"/>
              </a:lnSpc>
              <a:buNone/>
            </a:pPr>
            <a:r>
              <a:rPr lang="en-US" sz="2750" b="1" kern="0" spc="-2" dirty="0">
                <a:solidFill>
                  <a:srgbClr val="C06C3E"/>
                </a:solidFill>
                <a:latin typeface="Space Grotesk Bold" pitchFamily="34" charset="0"/>
                <a:ea typeface="Space Grotesk Bold" pitchFamily="34" charset="-122"/>
                <a:cs typeface="Space Grotesk Bold" pitchFamily="34" charset="-120"/>
              </a:rPr>
              <a:t>89%</a:t>
            </a:r>
            <a:endParaRPr lang="en-US" sz="2750" dirty="0"/>
          </a:p>
        </p:txBody>
      </p:sp>
      <p:sp>
        <p:nvSpPr>
          <p:cNvPr id="9" name="Text 6"/>
          <p:cNvSpPr/>
          <p:nvPr/>
        </p:nvSpPr>
        <p:spPr>
          <a:xfrm>
            <a:off x="428625" y="3942792"/>
            <a:ext cx="2357438" cy="544041"/>
          </a:xfrm>
          <a:prstGeom prst="rect">
            <a:avLst/>
          </a:prstGeom>
          <a:noFill/>
          <a:ln/>
        </p:spPr>
        <p:txBody>
          <a:bodyPr wrap="square" lIns="0" tIns="0" rIns="0" bIns="0" rtlCol="0" anchor="t">
            <a:spAutoFit/>
          </a:bodyPr>
          <a:lstStyle/>
          <a:p>
            <a:pPr marL="0" indent="0" algn="l">
              <a:lnSpc>
                <a:spcPct val="108800"/>
              </a:lnSpc>
              <a:buNone/>
            </a:pPr>
            <a:r>
              <a:rPr lang="en-US" sz="750" dirty="0">
                <a:solidFill>
                  <a:srgbClr val="1B2430">
                    <a:alpha val="75000"/>
                  </a:srgbClr>
                </a:solidFill>
                <a:latin typeface="Inter" pitchFamily="34" charset="0"/>
                <a:ea typeface="Inter" pitchFamily="34" charset="-122"/>
                <a:cs typeface="Inter" pitchFamily="34" charset="-120"/>
              </a:rPr>
              <a:t>In an ICLR 2025 randomized study cited by the survey, LLM feedback improved human review quality in 89% of cases without changing acceptance rates.</a:t>
            </a:r>
            <a:endParaRPr lang="en-US" sz="750" dirty="0"/>
          </a:p>
        </p:txBody>
      </p:sp>
      <p:sp>
        <p:nvSpPr>
          <p:cNvPr id="10" name="Text 7"/>
          <p:cNvSpPr/>
          <p:nvPr/>
        </p:nvSpPr>
        <p:spPr>
          <a:xfrm>
            <a:off x="3086100" y="1440861"/>
            <a:ext cx="1866891" cy="332184"/>
          </a:xfrm>
          <a:prstGeom prst="rect">
            <a:avLst/>
          </a:prstGeom>
          <a:noFill/>
          <a:ln/>
        </p:spPr>
        <p:txBody>
          <a:bodyPr wrap="square" lIns="8509" tIns="76581"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VALIDATION TASK</a:t>
            </a:r>
            <a:endParaRPr lang="en-US" sz="600" dirty="0"/>
          </a:p>
        </p:txBody>
      </p:sp>
      <p:sp>
        <p:nvSpPr>
          <p:cNvPr id="11" name="Text 8"/>
          <p:cNvSpPr/>
          <p:nvPr/>
        </p:nvSpPr>
        <p:spPr>
          <a:xfrm>
            <a:off x="4952991" y="1440861"/>
            <a:ext cx="1866891" cy="332184"/>
          </a:xfrm>
          <a:prstGeom prst="rect">
            <a:avLst/>
          </a:prstGeom>
          <a:noFill/>
          <a:ln/>
        </p:spPr>
        <p:txBody>
          <a:bodyPr wrap="square" lIns="8509" tIns="76581"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USEFUL AI ROLE</a:t>
            </a:r>
            <a:endParaRPr lang="en-US" sz="600" dirty="0"/>
          </a:p>
        </p:txBody>
      </p:sp>
      <p:sp>
        <p:nvSpPr>
          <p:cNvPr id="12" name="Text 9"/>
          <p:cNvSpPr/>
          <p:nvPr/>
        </p:nvSpPr>
        <p:spPr>
          <a:xfrm>
            <a:off x="6819881" y="1440861"/>
            <a:ext cx="1866919" cy="332184"/>
          </a:xfrm>
          <a:prstGeom prst="rect">
            <a:avLst/>
          </a:prstGeom>
          <a:noFill/>
          <a:ln/>
        </p:spPr>
        <p:txBody>
          <a:bodyPr wrap="square" lIns="8509" tIns="76581"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RISK IF OVER-AUTOMATED</a:t>
            </a:r>
            <a:endParaRPr lang="en-US" sz="600" dirty="0"/>
          </a:p>
        </p:txBody>
      </p:sp>
      <p:sp>
        <p:nvSpPr>
          <p:cNvPr id="13" name="Text 10"/>
          <p:cNvSpPr/>
          <p:nvPr/>
        </p:nvSpPr>
        <p:spPr>
          <a:xfrm>
            <a:off x="3086100" y="1773045"/>
            <a:ext cx="1866891" cy="676870"/>
          </a:xfrm>
          <a:prstGeom prst="rect">
            <a:avLst/>
          </a:prstGeom>
          <a:noFill/>
          <a:ln/>
        </p:spPr>
        <p:txBody>
          <a:bodyPr wrap="square" lIns="8509" tIns="85090" rIns="153035" bIns="8509" rtlCol="0" anchor="t">
            <a:spAutoFit/>
          </a:bodyPr>
          <a:lstStyle/>
          <a:p>
            <a:pPr marL="0" indent="0" algn="l">
              <a:lnSpc>
                <a:spcPct val="89600"/>
              </a:lnSpc>
              <a:buNone/>
            </a:pPr>
            <a:r>
              <a:rPr lang="en-US" sz="900" b="1" dirty="0">
                <a:solidFill>
                  <a:srgbClr val="2F6F73"/>
                </a:solidFill>
                <a:latin typeface="Space Grotesk Bold" pitchFamily="34" charset="0"/>
                <a:ea typeface="Space Grotesk Bold" pitchFamily="34" charset="-122"/>
                <a:cs typeface="Space Grotesk Bold" pitchFamily="34" charset="-120"/>
              </a:rPr>
              <a:t>Peer review feedback</a:t>
            </a:r>
            <a:endParaRPr lang="en-US" sz="900" dirty="0"/>
          </a:p>
        </p:txBody>
      </p:sp>
      <p:sp>
        <p:nvSpPr>
          <p:cNvPr id="14" name="Text 11"/>
          <p:cNvSpPr/>
          <p:nvPr/>
        </p:nvSpPr>
        <p:spPr>
          <a:xfrm>
            <a:off x="4952991" y="1773045"/>
            <a:ext cx="1866891" cy="676870"/>
          </a:xfrm>
          <a:prstGeom prst="rect">
            <a:avLst/>
          </a:prstGeom>
          <a:noFill/>
          <a:ln/>
        </p:spPr>
        <p:txBody>
          <a:bodyPr wrap="square" lIns="8509" tIns="85090" rIns="153035" bIns="8509" rtlCol="0" anchor="t">
            <a:spAutoFit/>
          </a:bodyPr>
          <a:lstStyle/>
          <a:p>
            <a:pPr marL="0" indent="0" algn="l">
              <a:lnSpc>
                <a:spcPct val="107200"/>
              </a:lnSpc>
              <a:buNone/>
            </a:pPr>
            <a:r>
              <a:rPr lang="en-US" sz="700" b="1" dirty="0">
                <a:solidFill>
                  <a:srgbClr val="1B2430">
                    <a:alpha val="82000"/>
                  </a:srgbClr>
                </a:solidFill>
                <a:latin typeface="Inter Bold" pitchFamily="34" charset="0"/>
                <a:ea typeface="Inter Bold" pitchFamily="34" charset="-122"/>
                <a:cs typeface="Inter Bold" pitchFamily="34" charset="-120"/>
              </a:rPr>
              <a:t>Improve human-written reviews by flagging missing evidence, unclear reasoning, or unsupported criticism.</a:t>
            </a:r>
            <a:endParaRPr lang="en-US" sz="700" dirty="0"/>
          </a:p>
        </p:txBody>
      </p:sp>
      <p:sp>
        <p:nvSpPr>
          <p:cNvPr id="15" name="Text 12"/>
          <p:cNvSpPr/>
          <p:nvPr/>
        </p:nvSpPr>
        <p:spPr>
          <a:xfrm>
            <a:off x="6827025" y="1862342"/>
            <a:ext cx="750289"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C06C3E"/>
                </a:solidFill>
                <a:latin typeface="Space Grotesk Bold" pitchFamily="34" charset="0"/>
                <a:ea typeface="Space Grotesk Bold" pitchFamily="34" charset="-122"/>
                <a:cs typeface="Space Grotesk Bold" pitchFamily="34" charset="-120"/>
              </a:rPr>
              <a:t>Delegation risk:</a:t>
            </a:r>
            <a:endParaRPr lang="en-US" sz="700" dirty="0"/>
          </a:p>
        </p:txBody>
      </p:sp>
      <p:sp>
        <p:nvSpPr>
          <p:cNvPr id="16" name="Text 13"/>
          <p:cNvSpPr/>
          <p:nvPr/>
        </p:nvSpPr>
        <p:spPr>
          <a:xfrm>
            <a:off x="6827025" y="1862342"/>
            <a:ext cx="1634244" cy="514517"/>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standalone reviews may inflate scores, miss decisive flaws, or mimic review style without depth.</a:t>
            </a:r>
            <a:endParaRPr lang="en-US" sz="750" dirty="0"/>
          </a:p>
        </p:txBody>
      </p:sp>
      <p:sp>
        <p:nvSpPr>
          <p:cNvPr id="17" name="Text 14"/>
          <p:cNvSpPr/>
          <p:nvPr/>
        </p:nvSpPr>
        <p:spPr>
          <a:xfrm>
            <a:off x="3086100" y="2449916"/>
            <a:ext cx="1866891" cy="675084"/>
          </a:xfrm>
          <a:prstGeom prst="rect">
            <a:avLst/>
          </a:prstGeom>
          <a:noFill/>
          <a:ln/>
        </p:spPr>
        <p:txBody>
          <a:bodyPr wrap="square" lIns="8509" tIns="85090" rIns="153035" bIns="8509" rtlCol="0" anchor="t">
            <a:spAutoFit/>
          </a:bodyPr>
          <a:lstStyle/>
          <a:p>
            <a:pPr marL="0" indent="0" algn="l">
              <a:lnSpc>
                <a:spcPct val="89600"/>
              </a:lnSpc>
              <a:buNone/>
            </a:pPr>
            <a:r>
              <a:rPr lang="en-US" sz="900" b="1" dirty="0">
                <a:solidFill>
                  <a:srgbClr val="2F6F73"/>
                </a:solidFill>
                <a:latin typeface="Space Grotesk Bold" pitchFamily="34" charset="0"/>
                <a:ea typeface="Space Grotesk Bold" pitchFamily="34" charset="-122"/>
                <a:cs typeface="Space Grotesk Bold" pitchFamily="34" charset="-120"/>
              </a:rPr>
              <a:t>Reviewer matching &amp; meta-review</a:t>
            </a:r>
            <a:endParaRPr lang="en-US" sz="900" dirty="0"/>
          </a:p>
        </p:txBody>
      </p:sp>
      <p:sp>
        <p:nvSpPr>
          <p:cNvPr id="18" name="Text 15"/>
          <p:cNvSpPr/>
          <p:nvPr/>
        </p:nvSpPr>
        <p:spPr>
          <a:xfrm>
            <a:off x="4952991" y="2449916"/>
            <a:ext cx="1866891" cy="675084"/>
          </a:xfrm>
          <a:prstGeom prst="rect">
            <a:avLst/>
          </a:prstGeom>
          <a:noFill/>
          <a:ln/>
        </p:spPr>
        <p:txBody>
          <a:bodyPr wrap="square" lIns="8509" tIns="85090" rIns="153035" bIns="8509" rtlCol="0" anchor="t">
            <a:spAutoFit/>
          </a:bodyPr>
          <a:lstStyle/>
          <a:p>
            <a:pPr marL="0" indent="0" algn="l">
              <a:lnSpc>
                <a:spcPct val="107200"/>
              </a:lnSpc>
              <a:buNone/>
            </a:pPr>
            <a:r>
              <a:rPr lang="en-US" sz="700" b="1" dirty="0">
                <a:solidFill>
                  <a:srgbClr val="1B2430">
                    <a:alpha val="82000"/>
                  </a:srgbClr>
                </a:solidFill>
                <a:latin typeface="Inter Bold" pitchFamily="34" charset="0"/>
                <a:ea typeface="Inter Bold" pitchFamily="34" charset="-122"/>
                <a:cs typeface="Inter Bold" pitchFamily="34" charset="-120"/>
              </a:rPr>
              <a:t>Assist editorial coordination by summarizing reviewer signals, conflicts, and disagreement patterns.</a:t>
            </a:r>
            <a:endParaRPr lang="en-US" sz="700" dirty="0"/>
          </a:p>
        </p:txBody>
      </p:sp>
      <p:sp>
        <p:nvSpPr>
          <p:cNvPr id="19" name="Text 16"/>
          <p:cNvSpPr/>
          <p:nvPr/>
        </p:nvSpPr>
        <p:spPr>
          <a:xfrm>
            <a:off x="6827025" y="2537427"/>
            <a:ext cx="539130"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C06C3E"/>
                </a:solidFill>
                <a:latin typeface="Space Grotesk Bold" pitchFamily="34" charset="0"/>
                <a:ea typeface="Space Grotesk Bold" pitchFamily="34" charset="-122"/>
                <a:cs typeface="Space Grotesk Bold" pitchFamily="34" charset="-120"/>
              </a:rPr>
              <a:t>Signal risk:</a:t>
            </a:r>
            <a:endParaRPr lang="en-US" sz="700" dirty="0"/>
          </a:p>
        </p:txBody>
      </p:sp>
      <p:sp>
        <p:nvSpPr>
          <p:cNvPr id="20" name="Text 17"/>
          <p:cNvSpPr/>
          <p:nvPr/>
        </p:nvSpPr>
        <p:spPr>
          <a:xfrm>
            <a:off x="6827025" y="2537427"/>
            <a:ext cx="1656513" cy="380516"/>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coordination tools can amplify weak reviews, hidden bias, or inconsistent criteria.</a:t>
            </a:r>
            <a:endParaRPr lang="en-US" sz="750" dirty="0"/>
          </a:p>
        </p:txBody>
      </p:sp>
      <p:sp>
        <p:nvSpPr>
          <p:cNvPr id="21" name="Text 18"/>
          <p:cNvSpPr/>
          <p:nvPr/>
        </p:nvSpPr>
        <p:spPr>
          <a:xfrm>
            <a:off x="3086100" y="3125000"/>
            <a:ext cx="1866891" cy="675084"/>
          </a:xfrm>
          <a:prstGeom prst="rect">
            <a:avLst/>
          </a:prstGeom>
          <a:noFill/>
          <a:ln/>
        </p:spPr>
        <p:txBody>
          <a:bodyPr wrap="square" lIns="8509" tIns="85090" rIns="153035" bIns="8509" rtlCol="0" anchor="t">
            <a:spAutoFit/>
          </a:bodyPr>
          <a:lstStyle/>
          <a:p>
            <a:pPr marL="0" indent="0" algn="l">
              <a:lnSpc>
                <a:spcPct val="89600"/>
              </a:lnSpc>
              <a:buNone/>
            </a:pPr>
            <a:r>
              <a:rPr lang="en-US" sz="900" b="1" dirty="0">
                <a:solidFill>
                  <a:srgbClr val="2F6F73"/>
                </a:solidFill>
                <a:latin typeface="Space Grotesk Bold" pitchFamily="34" charset="0"/>
                <a:ea typeface="Space Grotesk Bold" pitchFamily="34" charset="-122"/>
                <a:cs typeface="Space Grotesk Bold" pitchFamily="34" charset="-120"/>
              </a:rPr>
              <a:t>Rebuttal drafting</a:t>
            </a:r>
            <a:endParaRPr lang="en-US" sz="900" dirty="0"/>
          </a:p>
        </p:txBody>
      </p:sp>
      <p:sp>
        <p:nvSpPr>
          <p:cNvPr id="22" name="Text 19"/>
          <p:cNvSpPr/>
          <p:nvPr/>
        </p:nvSpPr>
        <p:spPr>
          <a:xfrm>
            <a:off x="4952991" y="3125000"/>
            <a:ext cx="1866891" cy="675084"/>
          </a:xfrm>
          <a:prstGeom prst="rect">
            <a:avLst/>
          </a:prstGeom>
          <a:noFill/>
          <a:ln/>
        </p:spPr>
        <p:txBody>
          <a:bodyPr wrap="square" lIns="8509" tIns="85090" rIns="153035" bIns="8509" rtlCol="0" anchor="t">
            <a:spAutoFit/>
          </a:bodyPr>
          <a:lstStyle/>
          <a:p>
            <a:pPr marL="0" indent="0" algn="l">
              <a:lnSpc>
                <a:spcPct val="107200"/>
              </a:lnSpc>
              <a:buNone/>
            </a:pPr>
            <a:r>
              <a:rPr lang="en-US" sz="700" b="1" dirty="0">
                <a:solidFill>
                  <a:srgbClr val="1B2430">
                    <a:alpha val="82000"/>
                  </a:srgbClr>
                </a:solidFill>
                <a:latin typeface="Inter Bold" pitchFamily="34" charset="0"/>
                <a:ea typeface="Inter Bold" pitchFamily="34" charset="-122"/>
                <a:cs typeface="Inter Bold" pitchFamily="34" charset="-120"/>
              </a:rPr>
              <a:t>Decompose concerns, retrieve supporting evidence, and help authors plan response structure.</a:t>
            </a:r>
            <a:endParaRPr lang="en-US" sz="700" dirty="0"/>
          </a:p>
        </p:txBody>
      </p:sp>
      <p:sp>
        <p:nvSpPr>
          <p:cNvPr id="23" name="Text 20"/>
          <p:cNvSpPr/>
          <p:nvPr/>
        </p:nvSpPr>
        <p:spPr>
          <a:xfrm>
            <a:off x="6827025" y="3212511"/>
            <a:ext cx="778222"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C06C3E"/>
                </a:solidFill>
                <a:latin typeface="Space Grotesk Bold" pitchFamily="34" charset="0"/>
                <a:ea typeface="Space Grotesk Bold" pitchFamily="34" charset="-122"/>
                <a:cs typeface="Space Grotesk Bold" pitchFamily="34" charset="-120"/>
              </a:rPr>
              <a:t>Persuasion risk:</a:t>
            </a:r>
            <a:endParaRPr lang="en-US" sz="700" dirty="0"/>
          </a:p>
        </p:txBody>
      </p:sp>
      <p:sp>
        <p:nvSpPr>
          <p:cNvPr id="24" name="Text 21"/>
          <p:cNvSpPr/>
          <p:nvPr/>
        </p:nvSpPr>
        <p:spPr>
          <a:xfrm>
            <a:off x="6827025" y="3212511"/>
            <a:ext cx="1667787" cy="380516"/>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polished responses may promise experiments or changes that are not later fulfilled.</a:t>
            </a:r>
            <a:endParaRPr lang="en-US" sz="750" dirty="0"/>
          </a:p>
        </p:txBody>
      </p:sp>
      <p:sp>
        <p:nvSpPr>
          <p:cNvPr id="25" name="Text 22"/>
          <p:cNvSpPr/>
          <p:nvPr/>
        </p:nvSpPr>
        <p:spPr>
          <a:xfrm>
            <a:off x="3086100" y="3800084"/>
            <a:ext cx="1866891" cy="675084"/>
          </a:xfrm>
          <a:prstGeom prst="rect">
            <a:avLst/>
          </a:prstGeom>
          <a:noFill/>
          <a:ln/>
        </p:spPr>
        <p:txBody>
          <a:bodyPr wrap="square" lIns="8509" tIns="85090" rIns="153035" bIns="8509" rtlCol="0" anchor="t">
            <a:spAutoFit/>
          </a:bodyPr>
          <a:lstStyle/>
          <a:p>
            <a:pPr marL="0" indent="0" algn="l">
              <a:lnSpc>
                <a:spcPct val="89600"/>
              </a:lnSpc>
              <a:buNone/>
            </a:pPr>
            <a:r>
              <a:rPr lang="en-US" sz="900" b="1" dirty="0">
                <a:solidFill>
                  <a:srgbClr val="2F6F73"/>
                </a:solidFill>
                <a:latin typeface="Space Grotesk Bold" pitchFamily="34" charset="0"/>
                <a:ea typeface="Space Grotesk Bold" pitchFamily="34" charset="-122"/>
                <a:cs typeface="Space Grotesk Bold" pitchFamily="34" charset="-120"/>
              </a:rPr>
              <a:t>Revision tracking</a:t>
            </a:r>
            <a:endParaRPr lang="en-US" sz="900" dirty="0"/>
          </a:p>
        </p:txBody>
      </p:sp>
      <p:sp>
        <p:nvSpPr>
          <p:cNvPr id="26" name="Text 23"/>
          <p:cNvSpPr/>
          <p:nvPr/>
        </p:nvSpPr>
        <p:spPr>
          <a:xfrm>
            <a:off x="4952991" y="3800084"/>
            <a:ext cx="1866891" cy="675084"/>
          </a:xfrm>
          <a:prstGeom prst="rect">
            <a:avLst/>
          </a:prstGeom>
          <a:noFill/>
          <a:ln/>
        </p:spPr>
        <p:txBody>
          <a:bodyPr wrap="square" lIns="8509" tIns="85090" rIns="153035" bIns="8509" rtlCol="0" anchor="t">
            <a:spAutoFit/>
          </a:bodyPr>
          <a:lstStyle/>
          <a:p>
            <a:pPr marL="0" indent="0" algn="l">
              <a:lnSpc>
                <a:spcPct val="107200"/>
              </a:lnSpc>
              <a:buNone/>
            </a:pPr>
            <a:r>
              <a:rPr lang="en-US" sz="700" b="1" dirty="0">
                <a:solidFill>
                  <a:srgbClr val="1B2430">
                    <a:alpha val="82000"/>
                  </a:srgbClr>
                </a:solidFill>
                <a:latin typeface="Inter Bold" pitchFamily="34" charset="0"/>
                <a:ea typeface="Inter Bold" pitchFamily="34" charset="-122"/>
                <a:cs typeface="Inter Bold" pitchFamily="34" charset="-120"/>
              </a:rPr>
              <a:t>Link reviewer concerns to manuscript changes, evidence additions, and clarified claims.</a:t>
            </a:r>
            <a:endParaRPr lang="en-US" sz="700" dirty="0"/>
          </a:p>
        </p:txBody>
      </p:sp>
      <p:sp>
        <p:nvSpPr>
          <p:cNvPr id="27" name="Text 24"/>
          <p:cNvSpPr/>
          <p:nvPr/>
        </p:nvSpPr>
        <p:spPr>
          <a:xfrm>
            <a:off x="6827025" y="3887595"/>
            <a:ext cx="789412" cy="112514"/>
          </a:xfrm>
          <a:prstGeom prst="rect">
            <a:avLst/>
          </a:prstGeom>
          <a:noFill/>
          <a:ln/>
        </p:spPr>
        <p:txBody>
          <a:bodyPr wrap="none" lIns="0" tIns="0" rIns="0" bIns="0" rtlCol="0" anchor="t">
            <a:spAutoFit/>
          </a:bodyPr>
          <a:lstStyle/>
          <a:p>
            <a:pPr marL="0" indent="0" algn="l">
              <a:lnSpc>
                <a:spcPct val="107200"/>
              </a:lnSpc>
              <a:buNone/>
            </a:pPr>
            <a:r>
              <a:rPr lang="en-US" sz="700" b="1" dirty="0">
                <a:solidFill>
                  <a:srgbClr val="C06C3E"/>
                </a:solidFill>
                <a:latin typeface="Space Grotesk Bold" pitchFamily="34" charset="0"/>
                <a:ea typeface="Space Grotesk Bold" pitchFamily="34" charset="-122"/>
                <a:cs typeface="Space Grotesk Bold" pitchFamily="34" charset="-120"/>
              </a:rPr>
              <a:t>Traceability risk:</a:t>
            </a:r>
            <a:endParaRPr lang="en-US" sz="700" dirty="0"/>
          </a:p>
        </p:txBody>
      </p:sp>
      <p:sp>
        <p:nvSpPr>
          <p:cNvPr id="28" name="Text 25"/>
          <p:cNvSpPr/>
          <p:nvPr/>
        </p:nvSpPr>
        <p:spPr>
          <a:xfrm>
            <a:off x="6827025" y="3887595"/>
            <a:ext cx="1682548" cy="380516"/>
          </a:xfrm>
          <a:prstGeom prst="rect">
            <a:avLst/>
          </a:prstGeom>
          <a:noFill/>
          <a:ln/>
        </p:spPr>
        <p:txBody>
          <a:bodyPr wrap="square" lIns="0" tIns="0" rIns="0" bIns="0" rtlCol="0" anchor="t">
            <a:spAutoFit/>
          </a:bodyPr>
          <a:lstStyle/>
          <a:p>
            <a:pPr marL="0" indent="0" algn="l">
              <a:lnSpc>
                <a:spcPct val="107200"/>
              </a:lnSpc>
              <a:buNone/>
            </a:pPr>
            <a:r>
              <a:rPr lang="en-US" sz="750" dirty="0">
                <a:solidFill>
                  <a:srgbClr val="1B2430">
                    <a:alpha val="74000"/>
                  </a:srgbClr>
                </a:solidFill>
                <a:latin typeface="Inter" pitchFamily="34" charset="0"/>
                <a:ea typeface="Inter" pitchFamily="34" charset="-122"/>
                <a:cs typeface="Inter" pitchFamily="34" charset="-120"/>
              </a:rPr>
              <a:t>without auditable diffs, rebuttal quality becomes rhetoric rather than accountability.</a:t>
            </a:r>
            <a:endParaRPr lang="en-US" sz="750" dirty="0"/>
          </a:p>
        </p:txBody>
      </p:sp>
      <p:sp>
        <p:nvSpPr>
          <p:cNvPr id="29" name="Text 26"/>
          <p:cNvSpPr/>
          <p:nvPr/>
        </p:nvSpPr>
        <p:spPr>
          <a:xfrm>
            <a:off x="428625" y="4729721"/>
            <a:ext cx="1678781" cy="291443"/>
          </a:xfrm>
          <a:prstGeom prst="rect">
            <a:avLst/>
          </a:prstGeom>
          <a:noFill/>
          <a:ln/>
        </p:spPr>
        <p:txBody>
          <a:bodyPr wrap="square" lIns="0" tIns="0" rIns="0" bIns="0" rtlCol="0" anchor="t">
            <a:spAutoFit/>
          </a:bodyPr>
          <a:lstStyle/>
          <a:p>
            <a:pPr marL="0" indent="0" algn="l">
              <a:lnSpc>
                <a:spcPct val="84800"/>
              </a:lnSpc>
              <a:buNone/>
            </a:pPr>
            <a:r>
              <a:rPr lang="en-US" sz="1050" b="1" dirty="0">
                <a:solidFill>
                  <a:srgbClr val="C06C3E"/>
                </a:solidFill>
                <a:latin typeface="Space Grotesk Bold" pitchFamily="34" charset="0"/>
                <a:ea typeface="Space Grotesk Bold" pitchFamily="34" charset="-122"/>
                <a:cs typeface="Space Grotesk Bold" pitchFamily="34" charset="-120"/>
              </a:rPr>
              <a:t>Validation principle</a:t>
            </a:r>
            <a:endParaRPr lang="en-US" sz="1050" dirty="0"/>
          </a:p>
        </p:txBody>
      </p:sp>
      <p:sp>
        <p:nvSpPr>
          <p:cNvPr id="30" name="Text 27"/>
          <p:cNvSpPr/>
          <p:nvPr/>
        </p:nvSpPr>
        <p:spPr>
          <a:xfrm>
            <a:off x="2278856" y="4729721"/>
            <a:ext cx="6407944" cy="291443"/>
          </a:xfrm>
          <a:prstGeom prst="rect">
            <a:avLst/>
          </a:prstGeom>
          <a:noFill/>
          <a:ln/>
        </p:spPr>
        <p:txBody>
          <a:bodyPr wrap="square" lIns="0" tIns="0" rIns="0" bIns="0" rtlCol="0" anchor="t">
            <a:spAutoFit/>
          </a:bodyPr>
          <a:lstStyle/>
          <a:p>
            <a:pPr marL="0" indent="0" algn="l">
              <a:lnSpc>
                <a:spcPct val="108800"/>
              </a:lnSpc>
              <a:buNone/>
            </a:pPr>
            <a:r>
              <a:rPr lang="en-US" sz="800" dirty="0">
                <a:solidFill>
                  <a:srgbClr val="1B2430">
                    <a:alpha val="78000"/>
                  </a:srgbClr>
                </a:solidFill>
                <a:latin typeface="Inter" pitchFamily="34" charset="0"/>
                <a:ea typeface="Inter" pitchFamily="34" charset="-122"/>
                <a:cs typeface="Inter" pitchFamily="34" charset="-120"/>
              </a:rPr>
              <a:t>AI should strengthen </a:t>
            </a:r>
            <a:r>
              <a:rPr lang="en-US" sz="750" b="1" dirty="0">
                <a:solidFill>
                  <a:srgbClr val="1B2430"/>
                </a:solidFill>
                <a:latin typeface="Inter Bold" pitchFamily="34" charset="0"/>
                <a:ea typeface="Inter Bold" pitchFamily="34" charset="-122"/>
                <a:cs typeface="Inter Bold" pitchFamily="34" charset="-120"/>
              </a:rPr>
              <a:t>evidence checking, review completeness, rebuttal planning, and revision traceability</a:t>
            </a:r>
            <a:r>
              <a:rPr lang="en-US" sz="800" dirty="0">
                <a:solidFill>
                  <a:srgbClr val="1B2430">
                    <a:alpha val="78000"/>
                  </a:srgbClr>
                </a:solidFill>
                <a:latin typeface="Inter" pitchFamily="34" charset="0"/>
                <a:ea typeface="Inter" pitchFamily="34" charset="-122"/>
                <a:cs typeface="Inter" pitchFamily="34" charset="-120"/>
              </a:rPr>
              <a:t> while humans retain final responsibility for fairness, methodological judgment, and acceptance decisions.</a:t>
            </a:r>
            <a:endParaRPr lang="en-US" sz="800" dirty="0"/>
          </a:p>
        </p:txBody>
      </p:sp>
      <p:sp>
        <p:nvSpPr>
          <p:cNvPr id="31" name="Text 28"/>
          <p:cNvSpPr/>
          <p:nvPr/>
        </p:nvSpPr>
        <p:spPr>
          <a:xfrm>
            <a:off x="428625" y="4947047"/>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48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STAGE S8 · PAPER2X DISSEMINATION</a:t>
            </a:r>
            <a:endParaRPr lang="en-US" sz="650" dirty="0"/>
          </a:p>
        </p:txBody>
      </p:sp>
      <p:sp>
        <p:nvSpPr>
          <p:cNvPr id="4" name="Text 1"/>
          <p:cNvSpPr/>
          <p:nvPr/>
        </p:nvSpPr>
        <p:spPr>
          <a:xfrm>
            <a:off x="428625" y="478631"/>
            <a:ext cx="8286750" cy="285024"/>
          </a:xfrm>
          <a:prstGeom prst="rect">
            <a:avLst/>
          </a:prstGeom>
          <a:noFill/>
          <a:ln/>
        </p:spPr>
        <p:txBody>
          <a:bodyPr wrap="none" lIns="0" tIns="0" rIns="0" bIns="0" rtlCol="0" anchor="t">
            <a:spAutoFit/>
          </a:bodyPr>
          <a:lstStyle/>
          <a:p>
            <a:pPr marL="0" indent="0" algn="l">
              <a:lnSpc>
                <a:spcPct val="84000"/>
              </a:lnSpc>
              <a:buNone/>
            </a:pPr>
            <a:r>
              <a:rPr lang="en-US" sz="1900" b="1" kern="0" spc="-1" dirty="0">
                <a:solidFill>
                  <a:srgbClr val="1B2430"/>
                </a:solidFill>
                <a:latin typeface="Space Grotesk Bold" pitchFamily="34" charset="0"/>
                <a:ea typeface="Space Grotesk Bold" pitchFamily="34" charset="-122"/>
                <a:cs typeface="Space Grotesk Bold" pitchFamily="34" charset="-120"/>
              </a:rPr>
              <a:t>Dissemination lowers cost but raises fidelity concerns</a:t>
            </a:r>
            <a:endParaRPr lang="en-US" sz="1900" dirty="0"/>
          </a:p>
        </p:txBody>
      </p:sp>
      <p:sp>
        <p:nvSpPr>
          <p:cNvPr id="5" name="Text 2"/>
          <p:cNvSpPr/>
          <p:nvPr/>
        </p:nvSpPr>
        <p:spPr>
          <a:xfrm>
            <a:off x="428625" y="945514"/>
            <a:ext cx="7822406" cy="342007"/>
          </a:xfrm>
          <a:prstGeom prst="rect">
            <a:avLst/>
          </a:prstGeom>
          <a:noFill/>
          <a:ln/>
        </p:spPr>
        <p:txBody>
          <a:bodyPr wrap="square" lIns="0" tIns="0" rIns="0" bIns="0" rtlCol="0" anchor="t">
            <a:spAutoFit/>
          </a:bodyPr>
          <a:lstStyle/>
          <a:p>
            <a:pPr marL="0" indent="0" algn="l">
              <a:lnSpc>
                <a:spcPct val="106400"/>
              </a:lnSpc>
              <a:buNone/>
            </a:pPr>
            <a:r>
              <a:rPr lang="en-US" sz="950" dirty="0">
                <a:solidFill>
                  <a:srgbClr val="1B2430">
                    <a:alpha val="78000"/>
                  </a:srgbClr>
                </a:solidFill>
                <a:latin typeface="Inter" pitchFamily="34" charset="0"/>
                <a:ea typeface="Inter" pitchFamily="34" charset="-122"/>
                <a:cs typeface="Inter" pitchFamily="34" charset="-120"/>
              </a:rPr>
              <a:t>Paper2X systems make research communication cheaper and more adaptable, but every format shift can change what the audience believes the paper claims.</a:t>
            </a:r>
            <a:endParaRPr lang="en-US" sz="950" dirty="0"/>
          </a:p>
        </p:txBody>
      </p:sp>
      <p:sp>
        <p:nvSpPr>
          <p:cNvPr id="6" name="Text 3"/>
          <p:cNvSpPr/>
          <p:nvPr/>
        </p:nvSpPr>
        <p:spPr>
          <a:xfrm>
            <a:off x="428625" y="1723290"/>
            <a:ext cx="2464594" cy="385763"/>
          </a:xfrm>
          <a:prstGeom prst="rect">
            <a:avLst/>
          </a:prstGeom>
          <a:noFill/>
          <a:ln/>
        </p:spPr>
        <p:txBody>
          <a:bodyPr wrap="square" lIns="0" tIns="0" rIns="0" bIns="0" rtlCol="0" anchor="t">
            <a:spAutoFit/>
          </a:bodyPr>
          <a:lstStyle/>
          <a:p>
            <a:pPr marL="0" indent="0" algn="l">
              <a:lnSpc>
                <a:spcPct val="86400"/>
              </a:lnSpc>
              <a:buNone/>
            </a:pPr>
            <a:r>
              <a:rPr lang="en-US" sz="1250" b="1" kern="0" spc="-1" dirty="0">
                <a:solidFill>
                  <a:srgbClr val="C06C3E"/>
                </a:solidFill>
                <a:latin typeface="Space Grotesk Bold" pitchFamily="34" charset="0"/>
                <a:ea typeface="Space Grotesk Bold" pitchFamily="34" charset="-122"/>
                <a:cs typeface="Space Grotesk Bold" pitchFamily="34" charset="-120"/>
              </a:rPr>
              <a:t>The risk moves from creation cost to claim fidelity</a:t>
            </a:r>
            <a:endParaRPr lang="en-US" sz="1250" dirty="0"/>
          </a:p>
        </p:txBody>
      </p:sp>
      <p:sp>
        <p:nvSpPr>
          <p:cNvPr id="7" name="Text 4"/>
          <p:cNvSpPr/>
          <p:nvPr/>
        </p:nvSpPr>
        <p:spPr>
          <a:xfrm>
            <a:off x="428625" y="2266215"/>
            <a:ext cx="2464594" cy="649188"/>
          </a:xfrm>
          <a:prstGeom prst="rect">
            <a:avLst/>
          </a:prstGeom>
          <a:noFill/>
          <a:ln/>
        </p:spPr>
        <p:txBody>
          <a:bodyPr wrap="square" lIns="0" tIns="0" rIns="0" bIns="0" rtlCol="0" anchor="t">
            <a:spAutoFit/>
          </a:bodyPr>
          <a:lstStyle/>
          <a:p>
            <a:pPr marL="0" indent="0" algn="l">
              <a:lnSpc>
                <a:spcPct val="113600"/>
              </a:lnSpc>
              <a:buNone/>
            </a:pPr>
            <a:r>
              <a:rPr lang="en-US" sz="850" dirty="0">
                <a:solidFill>
                  <a:srgbClr val="1B2430">
                    <a:alpha val="76000"/>
                  </a:srgbClr>
                </a:solidFill>
                <a:latin typeface="Inter" pitchFamily="34" charset="0"/>
                <a:ea typeface="Inter" pitchFamily="34" charset="-122"/>
                <a:cs typeface="Inter" pitchFamily="34" charset="-120"/>
              </a:rPr>
              <a:t>AI can turn a paper into visual, spoken, social, web, or interactive artifacts. The survey argues that these outputs should be judged by whether they preserve evidence, limitations, and scope.</a:t>
            </a:r>
            <a:endParaRPr lang="en-US" sz="850" dirty="0"/>
          </a:p>
        </p:txBody>
      </p:sp>
      <p:sp>
        <p:nvSpPr>
          <p:cNvPr id="8" name="Text 5"/>
          <p:cNvSpPr/>
          <p:nvPr/>
        </p:nvSpPr>
        <p:spPr>
          <a:xfrm>
            <a:off x="428625" y="3215441"/>
            <a:ext cx="882253" cy="146586"/>
          </a:xfrm>
          <a:prstGeom prst="rect">
            <a:avLst/>
          </a:prstGeom>
          <a:noFill/>
          <a:ln/>
        </p:spPr>
        <p:txBody>
          <a:bodyPr wrap="none" lIns="0" tIns="0" rIns="0" bIns="0" rtlCol="0" anchor="t">
            <a:spAutoFit/>
          </a:bodyPr>
          <a:lstStyle/>
          <a:p>
            <a:pPr marL="0" indent="0" algn="l">
              <a:lnSpc>
                <a:spcPct val="91200"/>
              </a:lnSpc>
              <a:buNone/>
            </a:pPr>
            <a:r>
              <a:rPr lang="en-US" sz="900" b="1" dirty="0">
                <a:solidFill>
                  <a:srgbClr val="2F6F73"/>
                </a:solidFill>
                <a:latin typeface="Space Grotesk Bold" pitchFamily="34" charset="0"/>
                <a:ea typeface="Space Grotesk Bold" pitchFamily="34" charset="-122"/>
                <a:cs typeface="Space Grotesk Bold" pitchFamily="34" charset="-120"/>
              </a:rPr>
              <a:t>Paper</a:t>
            </a:r>
            <a:endParaRPr lang="en-US" sz="900" dirty="0"/>
          </a:p>
        </p:txBody>
      </p:sp>
      <p:sp>
        <p:nvSpPr>
          <p:cNvPr id="9" name="Text 6"/>
          <p:cNvSpPr/>
          <p:nvPr/>
        </p:nvSpPr>
        <p:spPr>
          <a:xfrm>
            <a:off x="428625" y="3419177"/>
            <a:ext cx="882253" cy="471488"/>
          </a:xfrm>
          <a:prstGeom prst="rect">
            <a:avLst/>
          </a:prstGeom>
          <a:noFill/>
          <a:ln/>
        </p:spPr>
        <p:txBody>
          <a:bodyPr wrap="square" lIns="0" tIns="0" rIns="0" bIns="0" rtlCol="0" anchor="t">
            <a:spAutoFit/>
          </a:bodyPr>
          <a:lstStyle/>
          <a:p>
            <a:pPr marL="0" indent="0" algn="l">
              <a:lnSpc>
                <a:spcPct val="105600"/>
              </a:lnSpc>
              <a:buNone/>
            </a:pPr>
            <a:r>
              <a:rPr lang="en-US" sz="650" dirty="0">
                <a:solidFill>
                  <a:srgbClr val="1B2430">
                    <a:alpha val="63000"/>
                  </a:srgbClr>
                </a:solidFill>
                <a:latin typeface="Inter" pitchFamily="34" charset="0"/>
                <a:ea typeface="Inter" pitchFamily="34" charset="-122"/>
                <a:cs typeface="Inter" pitchFamily="34" charset="-120"/>
              </a:rPr>
              <a:t>Validated claims, evidence, assumptions, and limitations.</a:t>
            </a:r>
            <a:endParaRPr lang="en-US" sz="650" dirty="0"/>
          </a:p>
        </p:txBody>
      </p:sp>
      <p:sp>
        <p:nvSpPr>
          <p:cNvPr id="10" name="Text 7"/>
          <p:cNvSpPr/>
          <p:nvPr/>
        </p:nvSpPr>
        <p:spPr>
          <a:xfrm>
            <a:off x="1403747" y="3215441"/>
            <a:ext cx="514350" cy="200025"/>
          </a:xfrm>
          <a:prstGeom prst="rect">
            <a:avLst/>
          </a:prstGeom>
          <a:noFill/>
          <a:ln/>
        </p:spPr>
        <p:txBody>
          <a:bodyPr wrap="none" lIns="0" tIns="0" rIns="0" bIns="0" rtlCol="0" anchor="t">
            <a:spAutoFit/>
          </a:bodyPr>
          <a:lstStyle/>
          <a:p>
            <a:pPr marL="0" indent="0" algn="ctr">
              <a:lnSpc>
                <a:spcPct val="80000"/>
              </a:lnSpc>
              <a:buNone/>
            </a:pPr>
            <a:r>
              <a:rPr lang="en-US" sz="1400" b="1" dirty="0">
                <a:solidFill>
                  <a:srgbClr val="C06C3E"/>
                </a:solidFill>
                <a:latin typeface="Space Grotesk Bold" pitchFamily="34" charset="0"/>
                <a:ea typeface="Space Grotesk Bold" pitchFamily="34" charset="-122"/>
                <a:cs typeface="Space Grotesk Bold" pitchFamily="34" charset="-120"/>
              </a:rPr>
              <a:t>→</a:t>
            </a:r>
            <a:endParaRPr lang="en-US" sz="1400" dirty="0"/>
          </a:p>
        </p:txBody>
      </p:sp>
      <p:sp>
        <p:nvSpPr>
          <p:cNvPr id="11" name="Text 8"/>
          <p:cNvSpPr/>
          <p:nvPr/>
        </p:nvSpPr>
        <p:spPr>
          <a:xfrm>
            <a:off x="2010966" y="3215441"/>
            <a:ext cx="882253" cy="146586"/>
          </a:xfrm>
          <a:prstGeom prst="rect">
            <a:avLst/>
          </a:prstGeom>
          <a:noFill/>
          <a:ln/>
        </p:spPr>
        <p:txBody>
          <a:bodyPr wrap="none" lIns="0" tIns="0" rIns="0" bIns="0" rtlCol="0" anchor="t">
            <a:spAutoFit/>
          </a:bodyPr>
          <a:lstStyle/>
          <a:p>
            <a:pPr marL="0" indent="0" algn="l">
              <a:lnSpc>
                <a:spcPct val="91200"/>
              </a:lnSpc>
              <a:buNone/>
            </a:pPr>
            <a:r>
              <a:rPr lang="en-US" sz="900" b="1" dirty="0">
                <a:solidFill>
                  <a:srgbClr val="2F6F73"/>
                </a:solidFill>
                <a:latin typeface="Space Grotesk Bold" pitchFamily="34" charset="0"/>
                <a:ea typeface="Space Grotesk Bold" pitchFamily="34" charset="-122"/>
                <a:cs typeface="Space Grotesk Bold" pitchFamily="34" charset="-120"/>
              </a:rPr>
              <a:t>Public artifact</a:t>
            </a:r>
            <a:endParaRPr lang="en-US" sz="900" dirty="0"/>
          </a:p>
        </p:txBody>
      </p:sp>
      <p:sp>
        <p:nvSpPr>
          <p:cNvPr id="12" name="Text 9"/>
          <p:cNvSpPr/>
          <p:nvPr/>
        </p:nvSpPr>
        <p:spPr>
          <a:xfrm>
            <a:off x="2010966" y="3419177"/>
            <a:ext cx="882253" cy="353616"/>
          </a:xfrm>
          <a:prstGeom prst="rect">
            <a:avLst/>
          </a:prstGeom>
          <a:noFill/>
          <a:ln/>
        </p:spPr>
        <p:txBody>
          <a:bodyPr wrap="square" lIns="0" tIns="0" rIns="0" bIns="0" rtlCol="0" anchor="t">
            <a:spAutoFit/>
          </a:bodyPr>
          <a:lstStyle/>
          <a:p>
            <a:pPr marL="0" indent="0" algn="l">
              <a:lnSpc>
                <a:spcPct val="105600"/>
              </a:lnSpc>
              <a:buNone/>
            </a:pPr>
            <a:r>
              <a:rPr lang="en-US" sz="650" dirty="0">
                <a:solidFill>
                  <a:srgbClr val="1B2430">
                    <a:alpha val="63000"/>
                  </a:srgbClr>
                </a:solidFill>
                <a:latin typeface="Inter" pitchFamily="34" charset="0"/>
                <a:ea typeface="Inter" pitchFamily="34" charset="-122"/>
                <a:cs typeface="Inter" pitchFamily="34" charset="-120"/>
              </a:rPr>
              <a:t>Compressed narrative that may circulate independently.</a:t>
            </a:r>
            <a:endParaRPr lang="en-US" sz="650" dirty="0"/>
          </a:p>
        </p:txBody>
      </p:sp>
      <p:sp>
        <p:nvSpPr>
          <p:cNvPr id="13" name="Text 10"/>
          <p:cNvSpPr/>
          <p:nvPr/>
        </p:nvSpPr>
        <p:spPr>
          <a:xfrm>
            <a:off x="3193256" y="1598275"/>
            <a:ext cx="1828800" cy="332184"/>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FORMAT</a:t>
            </a:r>
            <a:endParaRPr lang="en-US" sz="600" dirty="0"/>
          </a:p>
        </p:txBody>
      </p:sp>
      <p:sp>
        <p:nvSpPr>
          <p:cNvPr id="14" name="Text 11"/>
          <p:cNvSpPr/>
          <p:nvPr/>
        </p:nvSpPr>
        <p:spPr>
          <a:xfrm>
            <a:off x="5022056" y="1598275"/>
            <a:ext cx="1828800" cy="332184"/>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WHAT AI ENABLES</a:t>
            </a:r>
            <a:endParaRPr lang="en-US" sz="600" dirty="0"/>
          </a:p>
        </p:txBody>
      </p:sp>
      <p:sp>
        <p:nvSpPr>
          <p:cNvPr id="15" name="Text 12"/>
          <p:cNvSpPr/>
          <p:nvPr/>
        </p:nvSpPr>
        <p:spPr>
          <a:xfrm>
            <a:off x="6850856" y="1598275"/>
            <a:ext cx="1828800" cy="332184"/>
          </a:xfrm>
          <a:prstGeom prst="rect">
            <a:avLst/>
          </a:prstGeom>
          <a:noFill/>
          <a:ln/>
        </p:spPr>
        <p:txBody>
          <a:bodyPr wrap="square" lIns="8509" tIns="85090" rIns="8509" bIns="8509" rtlCol="0" anchor="ctr">
            <a:spAutoFit/>
          </a:bodyPr>
          <a:lstStyle/>
          <a:p>
            <a:pPr marL="0" indent="0" algn="l">
              <a:buNone/>
            </a:pPr>
            <a:r>
              <a:rPr lang="en-US" sz="600" b="1" kern="0" spc="1" dirty="0">
                <a:solidFill>
                  <a:srgbClr val="1B2430">
                    <a:alpha val="56000"/>
                  </a:srgbClr>
                </a:solidFill>
                <a:latin typeface="Inter Black" pitchFamily="34" charset="0"/>
                <a:ea typeface="Inter Black" pitchFamily="34" charset="-122"/>
                <a:cs typeface="Inter Black" pitchFamily="34" charset="-120"/>
              </a:rPr>
              <a:t>MAIN FIDELITY CHALLENGE</a:t>
            </a:r>
            <a:endParaRPr lang="en-US" sz="600" dirty="0"/>
          </a:p>
        </p:txBody>
      </p:sp>
      <p:sp>
        <p:nvSpPr>
          <p:cNvPr id="16" name="Text 13"/>
          <p:cNvSpPr/>
          <p:nvPr/>
        </p:nvSpPr>
        <p:spPr>
          <a:xfrm>
            <a:off x="3193256" y="1930459"/>
            <a:ext cx="1828800" cy="642938"/>
          </a:xfrm>
          <a:prstGeom prst="rect">
            <a:avLst/>
          </a:prstGeom>
          <a:noFill/>
          <a:ln/>
        </p:spPr>
        <p:txBody>
          <a:bodyPr wrap="square" lIns="8509" tIns="93599" rIns="144526"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Posters &amp; slides</a:t>
            </a:r>
            <a:endParaRPr lang="en-US" sz="900" dirty="0"/>
          </a:p>
        </p:txBody>
      </p:sp>
      <p:sp>
        <p:nvSpPr>
          <p:cNvPr id="17" name="Text 14"/>
          <p:cNvSpPr/>
          <p:nvPr/>
        </p:nvSpPr>
        <p:spPr>
          <a:xfrm>
            <a:off x="5022056" y="1930459"/>
            <a:ext cx="1828800" cy="642938"/>
          </a:xfrm>
          <a:prstGeom prst="rect">
            <a:avLst/>
          </a:prstGeom>
          <a:noFill/>
          <a:ln/>
        </p:spPr>
        <p:txBody>
          <a:bodyPr wrap="square" lIns="8509" tIns="93599" rIns="144526" bIns="8509" rtlCol="0" anchor="t">
            <a:spAutoFit/>
          </a:bodyPr>
          <a:lstStyle/>
          <a:p>
            <a:pPr marL="0" indent="0" algn="l">
              <a:lnSpc>
                <a:spcPct val="105600"/>
              </a:lnSpc>
              <a:buNone/>
            </a:pPr>
            <a:r>
              <a:rPr lang="en-US" sz="700" b="1" dirty="0">
                <a:solidFill>
                  <a:srgbClr val="1B2430">
                    <a:alpha val="81000"/>
                  </a:srgbClr>
                </a:solidFill>
                <a:latin typeface="Inter Bold" pitchFamily="34" charset="0"/>
                <a:ea typeface="Inter Bold" pitchFamily="34" charset="-122"/>
                <a:cs typeface="Inter Bold" pitchFamily="34" charset="-120"/>
              </a:rPr>
              <a:t>Editable, feedback-aware conversion from paper to visual narrative.</a:t>
            </a:r>
            <a:endParaRPr lang="en-US" sz="700" dirty="0"/>
          </a:p>
        </p:txBody>
      </p:sp>
      <p:sp>
        <p:nvSpPr>
          <p:cNvPr id="18" name="Text 15"/>
          <p:cNvSpPr/>
          <p:nvPr/>
        </p:nvSpPr>
        <p:spPr>
          <a:xfrm>
            <a:off x="6858000" y="2025114"/>
            <a:ext cx="672405" cy="112514"/>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1B2430"/>
                </a:solidFill>
                <a:latin typeface="Inter Bold" pitchFamily="34" charset="0"/>
                <a:ea typeface="Inter Bold" pitchFamily="34" charset="-122"/>
                <a:cs typeface="Inter Bold" pitchFamily="34" charset="-120"/>
              </a:rPr>
              <a:t>Compression:</a:t>
            </a:r>
            <a:endParaRPr lang="en-US" sz="700" dirty="0"/>
          </a:p>
        </p:txBody>
      </p:sp>
      <p:sp>
        <p:nvSpPr>
          <p:cNvPr id="19" name="Text 16"/>
          <p:cNvSpPr/>
          <p:nvPr/>
        </p:nvSpPr>
        <p:spPr>
          <a:xfrm>
            <a:off x="6858000" y="2025114"/>
            <a:ext cx="1645434" cy="244506"/>
          </a:xfrm>
          <a:prstGeom prst="rect">
            <a:avLst/>
          </a:prstGeom>
          <a:noFill/>
          <a:ln/>
        </p:spPr>
        <p:txBody>
          <a:bodyPr wrap="square" lIns="0" tIns="0" rIns="0" bIns="0" rtlCol="0" anchor="t">
            <a:spAutoFit/>
          </a:bodyPr>
          <a:lstStyle/>
          <a:p>
            <a:pPr marL="0" indent="0" algn="l">
              <a:lnSpc>
                <a:spcPct val="105600"/>
              </a:lnSpc>
              <a:buNone/>
            </a:pPr>
            <a:r>
              <a:rPr lang="en-US" sz="750" dirty="0">
                <a:solidFill>
                  <a:srgbClr val="1B2430">
                    <a:alpha val="75000"/>
                  </a:srgbClr>
                </a:solidFill>
                <a:latin typeface="Inter" pitchFamily="34" charset="0"/>
                <a:ea typeface="Inter" pitchFamily="34" charset="-122"/>
                <a:cs typeface="Inter" pitchFamily="34" charset="-120"/>
              </a:rPr>
              <a:t>caveats and negative results can disappear.</a:t>
            </a:r>
            <a:endParaRPr lang="en-US" sz="750" dirty="0"/>
          </a:p>
        </p:txBody>
      </p:sp>
      <p:sp>
        <p:nvSpPr>
          <p:cNvPr id="20" name="Text 17"/>
          <p:cNvSpPr/>
          <p:nvPr/>
        </p:nvSpPr>
        <p:spPr>
          <a:xfrm>
            <a:off x="3193256" y="2573396"/>
            <a:ext cx="1828800" cy="642938"/>
          </a:xfrm>
          <a:prstGeom prst="rect">
            <a:avLst/>
          </a:prstGeom>
          <a:noFill/>
          <a:ln/>
        </p:spPr>
        <p:txBody>
          <a:bodyPr wrap="square" lIns="8509" tIns="93599" rIns="144526"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Videos &amp; talks</a:t>
            </a:r>
            <a:endParaRPr lang="en-US" sz="900" dirty="0"/>
          </a:p>
        </p:txBody>
      </p:sp>
      <p:sp>
        <p:nvSpPr>
          <p:cNvPr id="21" name="Text 18"/>
          <p:cNvSpPr/>
          <p:nvPr/>
        </p:nvSpPr>
        <p:spPr>
          <a:xfrm>
            <a:off x="5022056" y="2573396"/>
            <a:ext cx="1828800" cy="642938"/>
          </a:xfrm>
          <a:prstGeom prst="rect">
            <a:avLst/>
          </a:prstGeom>
          <a:noFill/>
          <a:ln/>
        </p:spPr>
        <p:txBody>
          <a:bodyPr wrap="square" lIns="8509" tIns="93599" rIns="144526" bIns="8509" rtlCol="0" anchor="t">
            <a:spAutoFit/>
          </a:bodyPr>
          <a:lstStyle/>
          <a:p>
            <a:pPr marL="0" indent="0" algn="l">
              <a:lnSpc>
                <a:spcPct val="105600"/>
              </a:lnSpc>
              <a:buNone/>
            </a:pPr>
            <a:r>
              <a:rPr lang="en-US" sz="700" b="1" dirty="0">
                <a:solidFill>
                  <a:srgbClr val="1B2430">
                    <a:alpha val="81000"/>
                  </a:srgbClr>
                </a:solidFill>
                <a:latin typeface="Inter Bold" pitchFamily="34" charset="0"/>
                <a:ea typeface="Inter Bold" pitchFamily="34" charset="-122"/>
                <a:cs typeface="Inter Bold" pitchFamily="34" charset="-120"/>
              </a:rPr>
              <a:t>Coordination of slides, narration, subtitles, timing, and demonstrations.</a:t>
            </a:r>
            <a:endParaRPr lang="en-US" sz="700" dirty="0"/>
          </a:p>
        </p:txBody>
      </p:sp>
      <p:sp>
        <p:nvSpPr>
          <p:cNvPr id="22" name="Text 19"/>
          <p:cNvSpPr/>
          <p:nvPr/>
        </p:nvSpPr>
        <p:spPr>
          <a:xfrm>
            <a:off x="6858000" y="2668051"/>
            <a:ext cx="811234" cy="112514"/>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1B2430"/>
                </a:solidFill>
                <a:latin typeface="Inter Bold" pitchFamily="34" charset="0"/>
                <a:ea typeface="Inter Bold" pitchFamily="34" charset="-122"/>
                <a:cs typeface="Inter Bold" pitchFamily="34" charset="-120"/>
              </a:rPr>
              <a:t>Synchronization:</a:t>
            </a:r>
            <a:endParaRPr lang="en-US" sz="700" dirty="0"/>
          </a:p>
        </p:txBody>
      </p:sp>
      <p:sp>
        <p:nvSpPr>
          <p:cNvPr id="23" name="Text 20"/>
          <p:cNvSpPr/>
          <p:nvPr/>
        </p:nvSpPr>
        <p:spPr>
          <a:xfrm>
            <a:off x="6858000" y="2668051"/>
            <a:ext cx="1523014" cy="376498"/>
          </a:xfrm>
          <a:prstGeom prst="rect">
            <a:avLst/>
          </a:prstGeom>
          <a:noFill/>
          <a:ln/>
        </p:spPr>
        <p:txBody>
          <a:bodyPr wrap="square" lIns="0" tIns="0" rIns="0" bIns="0" rtlCol="0" anchor="t">
            <a:spAutoFit/>
          </a:bodyPr>
          <a:lstStyle/>
          <a:p>
            <a:pPr marL="0" indent="0" algn="l">
              <a:lnSpc>
                <a:spcPct val="105600"/>
              </a:lnSpc>
              <a:buNone/>
            </a:pPr>
            <a:r>
              <a:rPr lang="en-US" sz="750" dirty="0">
                <a:solidFill>
                  <a:srgbClr val="1B2430">
                    <a:alpha val="75000"/>
                  </a:srgbClr>
                </a:solidFill>
                <a:latin typeface="Inter" pitchFamily="34" charset="0"/>
                <a:ea typeface="Inter" pitchFamily="34" charset="-122"/>
                <a:cs typeface="Inter" pitchFamily="34" charset="-120"/>
              </a:rPr>
              <a:t>multimodal elements may misalign claims and evidence.</a:t>
            </a:r>
            <a:endParaRPr lang="en-US" sz="750" dirty="0"/>
          </a:p>
        </p:txBody>
      </p:sp>
      <p:sp>
        <p:nvSpPr>
          <p:cNvPr id="24" name="Text 21"/>
          <p:cNvSpPr/>
          <p:nvPr/>
        </p:nvSpPr>
        <p:spPr>
          <a:xfrm>
            <a:off x="3193256" y="3216334"/>
            <a:ext cx="1828800" cy="642938"/>
          </a:xfrm>
          <a:prstGeom prst="rect">
            <a:avLst/>
          </a:prstGeom>
          <a:noFill/>
          <a:ln/>
        </p:spPr>
        <p:txBody>
          <a:bodyPr wrap="square" lIns="8509" tIns="93599" rIns="144526"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Social &amp; project pages</a:t>
            </a:r>
            <a:endParaRPr lang="en-US" sz="900" dirty="0"/>
          </a:p>
        </p:txBody>
      </p:sp>
      <p:sp>
        <p:nvSpPr>
          <p:cNvPr id="25" name="Text 22"/>
          <p:cNvSpPr/>
          <p:nvPr/>
        </p:nvSpPr>
        <p:spPr>
          <a:xfrm>
            <a:off x="5022056" y="3216334"/>
            <a:ext cx="1828800" cy="642938"/>
          </a:xfrm>
          <a:prstGeom prst="rect">
            <a:avLst/>
          </a:prstGeom>
          <a:noFill/>
          <a:ln/>
        </p:spPr>
        <p:txBody>
          <a:bodyPr wrap="square" lIns="8509" tIns="93599" rIns="144526" bIns="8509" rtlCol="0" anchor="t">
            <a:spAutoFit/>
          </a:bodyPr>
          <a:lstStyle/>
          <a:p>
            <a:pPr marL="0" indent="0" algn="l">
              <a:lnSpc>
                <a:spcPct val="105600"/>
              </a:lnSpc>
              <a:buNone/>
            </a:pPr>
            <a:r>
              <a:rPr lang="en-US" sz="700" b="1" dirty="0">
                <a:solidFill>
                  <a:srgbClr val="1B2430">
                    <a:alpha val="81000"/>
                  </a:srgbClr>
                </a:solidFill>
                <a:latin typeface="Inter Bold" pitchFamily="34" charset="0"/>
                <a:ea typeface="Inter Bold" pitchFamily="34" charset="-122"/>
                <a:cs typeface="Inter Bold" pitchFamily="34" charset="-120"/>
              </a:rPr>
              <a:t>Audience-adapted summaries for broader visibility and reuse.</a:t>
            </a:r>
            <a:endParaRPr lang="en-US" sz="700" dirty="0"/>
          </a:p>
        </p:txBody>
      </p:sp>
      <p:sp>
        <p:nvSpPr>
          <p:cNvPr id="26" name="Text 23"/>
          <p:cNvSpPr/>
          <p:nvPr/>
        </p:nvSpPr>
        <p:spPr>
          <a:xfrm>
            <a:off x="6858000" y="3310989"/>
            <a:ext cx="689009" cy="112514"/>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1B2430"/>
                </a:solidFill>
                <a:latin typeface="Inter Bold" pitchFamily="34" charset="0"/>
                <a:ea typeface="Inter Bold" pitchFamily="34" charset="-122"/>
                <a:cs typeface="Inter Bold" pitchFamily="34" charset="-120"/>
              </a:rPr>
              <a:t>Simplification:</a:t>
            </a:r>
            <a:endParaRPr lang="en-US" sz="700" dirty="0"/>
          </a:p>
        </p:txBody>
      </p:sp>
      <p:sp>
        <p:nvSpPr>
          <p:cNvPr id="27" name="Text 24"/>
          <p:cNvSpPr/>
          <p:nvPr/>
        </p:nvSpPr>
        <p:spPr>
          <a:xfrm>
            <a:off x="6858000" y="3310989"/>
            <a:ext cx="1617557" cy="244506"/>
          </a:xfrm>
          <a:prstGeom prst="rect">
            <a:avLst/>
          </a:prstGeom>
          <a:noFill/>
          <a:ln/>
        </p:spPr>
        <p:txBody>
          <a:bodyPr wrap="square" lIns="0" tIns="0" rIns="0" bIns="0" rtlCol="0" anchor="t">
            <a:spAutoFit/>
          </a:bodyPr>
          <a:lstStyle/>
          <a:p>
            <a:pPr marL="0" indent="0" algn="l">
              <a:lnSpc>
                <a:spcPct val="105600"/>
              </a:lnSpc>
              <a:buNone/>
            </a:pPr>
            <a:r>
              <a:rPr lang="en-US" sz="750" dirty="0">
                <a:solidFill>
                  <a:srgbClr val="1B2430">
                    <a:alpha val="75000"/>
                  </a:srgbClr>
                </a:solidFill>
                <a:latin typeface="Inter" pitchFamily="34" charset="0"/>
                <a:ea typeface="Inter" pitchFamily="34" charset="-122"/>
                <a:cs typeface="Inter" pitchFamily="34" charset="-120"/>
              </a:rPr>
              <a:t>nuance can become exaggeration.</a:t>
            </a:r>
            <a:endParaRPr lang="en-US" sz="750" dirty="0"/>
          </a:p>
        </p:txBody>
      </p:sp>
      <p:sp>
        <p:nvSpPr>
          <p:cNvPr id="28" name="Text 25"/>
          <p:cNvSpPr/>
          <p:nvPr/>
        </p:nvSpPr>
        <p:spPr>
          <a:xfrm>
            <a:off x="3193256" y="3859271"/>
            <a:ext cx="1828800" cy="642938"/>
          </a:xfrm>
          <a:prstGeom prst="rect">
            <a:avLst/>
          </a:prstGeom>
          <a:noFill/>
          <a:ln/>
        </p:spPr>
        <p:txBody>
          <a:bodyPr wrap="square" lIns="8509" tIns="93599" rIns="144526" bIns="8509" rtlCol="0" anchor="t">
            <a:spAutoFit/>
          </a:bodyPr>
          <a:lstStyle/>
          <a:p>
            <a:pPr marL="0" indent="0" algn="l">
              <a:lnSpc>
                <a:spcPct val="89600"/>
              </a:lnSpc>
              <a:buNone/>
            </a:pPr>
            <a:r>
              <a:rPr lang="en-US" sz="900" b="1" dirty="0">
                <a:solidFill>
                  <a:srgbClr val="C06C3E"/>
                </a:solidFill>
                <a:latin typeface="Space Grotesk Bold" pitchFamily="34" charset="0"/>
                <a:ea typeface="Space Grotesk Bold" pitchFamily="34" charset="-122"/>
                <a:cs typeface="Space Grotesk Bold" pitchFamily="34" charset="-120"/>
              </a:rPr>
              <a:t>Interactive paper agents</a:t>
            </a:r>
            <a:endParaRPr lang="en-US" sz="900" dirty="0"/>
          </a:p>
        </p:txBody>
      </p:sp>
      <p:sp>
        <p:nvSpPr>
          <p:cNvPr id="29" name="Text 26"/>
          <p:cNvSpPr/>
          <p:nvPr/>
        </p:nvSpPr>
        <p:spPr>
          <a:xfrm>
            <a:off x="5022056" y="3859271"/>
            <a:ext cx="1828800" cy="642938"/>
          </a:xfrm>
          <a:prstGeom prst="rect">
            <a:avLst/>
          </a:prstGeom>
          <a:noFill/>
          <a:ln/>
        </p:spPr>
        <p:txBody>
          <a:bodyPr wrap="square" lIns="8509" tIns="93599" rIns="144526" bIns="8509" rtlCol="0" anchor="t">
            <a:spAutoFit/>
          </a:bodyPr>
          <a:lstStyle/>
          <a:p>
            <a:pPr marL="0" indent="0" algn="l">
              <a:lnSpc>
                <a:spcPct val="105600"/>
              </a:lnSpc>
              <a:buNone/>
            </a:pPr>
            <a:r>
              <a:rPr lang="en-US" sz="700" b="1" dirty="0">
                <a:solidFill>
                  <a:srgbClr val="1B2430">
                    <a:alpha val="81000"/>
                  </a:srgbClr>
                </a:solidFill>
                <a:latin typeface="Inter Bold" pitchFamily="34" charset="0"/>
                <a:ea typeface="Inter Bold" pitchFamily="34" charset="-122"/>
                <a:cs typeface="Inter Bold" pitchFamily="34" charset="-120"/>
              </a:rPr>
              <a:t>Expose methods, code, workflows, and explanations through dialogue.</a:t>
            </a:r>
            <a:endParaRPr lang="en-US" sz="700" dirty="0"/>
          </a:p>
        </p:txBody>
      </p:sp>
      <p:sp>
        <p:nvSpPr>
          <p:cNvPr id="30" name="Text 27"/>
          <p:cNvSpPr/>
          <p:nvPr/>
        </p:nvSpPr>
        <p:spPr>
          <a:xfrm>
            <a:off x="6858000" y="3953926"/>
            <a:ext cx="628120" cy="112514"/>
          </a:xfrm>
          <a:prstGeom prst="rect">
            <a:avLst/>
          </a:prstGeom>
          <a:noFill/>
          <a:ln/>
        </p:spPr>
        <p:txBody>
          <a:bodyPr wrap="none" lIns="0" tIns="0" rIns="0" bIns="0" rtlCol="0" anchor="t">
            <a:spAutoFit/>
          </a:bodyPr>
          <a:lstStyle/>
          <a:p>
            <a:pPr marL="0" indent="0" algn="l">
              <a:lnSpc>
                <a:spcPct val="105600"/>
              </a:lnSpc>
              <a:buNone/>
            </a:pPr>
            <a:r>
              <a:rPr lang="en-US" sz="700" b="1" dirty="0">
                <a:solidFill>
                  <a:srgbClr val="1B2430"/>
                </a:solidFill>
                <a:latin typeface="Inter Bold" pitchFamily="34" charset="0"/>
                <a:ea typeface="Inter Bold" pitchFamily="34" charset="-122"/>
                <a:cs typeface="Inter Bold" pitchFamily="34" charset="-120"/>
              </a:rPr>
              <a:t>Scope creep:</a:t>
            </a:r>
            <a:endParaRPr lang="en-US" sz="700" dirty="0"/>
          </a:p>
        </p:txBody>
      </p:sp>
      <p:sp>
        <p:nvSpPr>
          <p:cNvPr id="31" name="Text 28"/>
          <p:cNvSpPr/>
          <p:nvPr/>
        </p:nvSpPr>
        <p:spPr>
          <a:xfrm>
            <a:off x="6858000" y="3953926"/>
            <a:ext cx="1623138" cy="244506"/>
          </a:xfrm>
          <a:prstGeom prst="rect">
            <a:avLst/>
          </a:prstGeom>
          <a:noFill/>
          <a:ln/>
        </p:spPr>
        <p:txBody>
          <a:bodyPr wrap="square" lIns="0" tIns="0" rIns="0" bIns="0" rtlCol="0" anchor="t">
            <a:spAutoFit/>
          </a:bodyPr>
          <a:lstStyle/>
          <a:p>
            <a:pPr marL="0" indent="0" algn="l">
              <a:lnSpc>
                <a:spcPct val="105600"/>
              </a:lnSpc>
              <a:buNone/>
            </a:pPr>
            <a:r>
              <a:rPr lang="en-US" sz="750" dirty="0">
                <a:solidFill>
                  <a:srgbClr val="1B2430">
                    <a:alpha val="75000"/>
                  </a:srgbClr>
                </a:solidFill>
                <a:latin typeface="Inter" pitchFamily="34" charset="0"/>
                <a:ea typeface="Inter" pitchFamily="34" charset="-122"/>
                <a:cs typeface="Inter" pitchFamily="34" charset="-120"/>
              </a:rPr>
              <a:t>users may apply tools beyond validated conditions.</a:t>
            </a:r>
            <a:endParaRPr lang="en-US" sz="750" dirty="0"/>
          </a:p>
        </p:txBody>
      </p:sp>
      <p:sp>
        <p:nvSpPr>
          <p:cNvPr id="32" name="Text 29"/>
          <p:cNvSpPr/>
          <p:nvPr/>
        </p:nvSpPr>
        <p:spPr>
          <a:xfrm>
            <a:off x="428625" y="4766528"/>
            <a:ext cx="1535906" cy="289322"/>
          </a:xfrm>
          <a:prstGeom prst="rect">
            <a:avLst/>
          </a:prstGeom>
          <a:noFill/>
          <a:ln/>
        </p:spPr>
        <p:txBody>
          <a:bodyPr wrap="square" lIns="0" tIns="0" rIns="0" bIns="0" rtlCol="0" anchor="t">
            <a:spAutoFit/>
          </a:bodyPr>
          <a:lstStyle/>
          <a:p>
            <a:pPr marL="0" indent="0" algn="l">
              <a:lnSpc>
                <a:spcPct val="84000"/>
              </a:lnSpc>
              <a:buNone/>
            </a:pPr>
            <a:r>
              <a:rPr lang="en-US" sz="1050" b="1" dirty="0">
                <a:solidFill>
                  <a:srgbClr val="2F6F73"/>
                </a:solidFill>
                <a:latin typeface="Space Grotesk Bold" pitchFamily="34" charset="0"/>
                <a:ea typeface="Space Grotesk Bold" pitchFamily="34" charset="-122"/>
                <a:cs typeface="Space Grotesk Bold" pitchFamily="34" charset="-120"/>
              </a:rPr>
              <a:t>Operating principle</a:t>
            </a:r>
            <a:endParaRPr lang="en-US" sz="1050" dirty="0"/>
          </a:p>
        </p:txBody>
      </p:sp>
      <p:sp>
        <p:nvSpPr>
          <p:cNvPr id="33" name="Text 30"/>
          <p:cNvSpPr/>
          <p:nvPr/>
        </p:nvSpPr>
        <p:spPr>
          <a:xfrm>
            <a:off x="2135981" y="4766528"/>
            <a:ext cx="6550819" cy="289322"/>
          </a:xfrm>
          <a:prstGeom prst="rect">
            <a:avLst/>
          </a:prstGeom>
          <a:noFill/>
          <a:ln/>
        </p:spPr>
        <p:txBody>
          <a:bodyPr wrap="square" lIns="0" tIns="0"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Dissemination outputs should remain </a:t>
            </a:r>
            <a:r>
              <a:rPr lang="en-US" sz="750" b="1" dirty="0">
                <a:solidFill>
                  <a:srgbClr val="C06C3E"/>
                </a:solidFill>
                <a:latin typeface="Inter Bold" pitchFamily="34" charset="0"/>
                <a:ea typeface="Inter Bold" pitchFamily="34" charset="-122"/>
                <a:cs typeface="Inter Bold" pitchFamily="34" charset="-120"/>
              </a:rPr>
              <a:t>editable drafts under author oversight</a:t>
            </a:r>
            <a:r>
              <a:rPr lang="en-US" sz="800" dirty="0">
                <a:solidFill>
                  <a:srgbClr val="1B2430">
                    <a:alpha val="78000"/>
                  </a:srgbClr>
                </a:solidFill>
                <a:latin typeface="Inter" pitchFamily="34" charset="0"/>
                <a:ea typeface="Inter" pitchFamily="34" charset="-122"/>
                <a:cs typeface="Inter" pitchFamily="34" charset="-120"/>
              </a:rPr>
              <a:t>, not autonomous public communication. Fidelity, usability, and audience adaptation must be evaluated together.</a:t>
            </a:r>
            <a:endParaRPr lang="en-US" sz="800" dirty="0"/>
          </a:p>
        </p:txBody>
      </p:sp>
      <p:sp>
        <p:nvSpPr>
          <p:cNvPr id="34" name="Text 31"/>
          <p:cNvSpPr/>
          <p:nvPr/>
        </p:nvSpPr>
        <p:spPr>
          <a:xfrm>
            <a:off x="428625" y="4947047"/>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48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END-TO-END RESEARCH SYSTEMS</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End-to-end systems amplify handoff failures</a:t>
            </a:r>
            <a:endParaRPr lang="en-US" sz="1950" dirty="0"/>
          </a:p>
        </p:txBody>
      </p:sp>
      <p:sp>
        <p:nvSpPr>
          <p:cNvPr id="5" name="Text 2"/>
          <p:cNvSpPr/>
          <p:nvPr/>
        </p:nvSpPr>
        <p:spPr>
          <a:xfrm>
            <a:off x="428625" y="957821"/>
            <a:ext cx="7858125" cy="342007"/>
          </a:xfrm>
          <a:prstGeom prst="rect">
            <a:avLst/>
          </a:prstGeom>
          <a:noFill/>
          <a:ln/>
        </p:spPr>
        <p:txBody>
          <a:bodyPr wrap="square" lIns="0" tIns="0" rIns="0" bIns="0" rtlCol="0" anchor="t">
            <a:spAutoFit/>
          </a:bodyPr>
          <a:lstStyle/>
          <a:p>
            <a:pPr marL="0" indent="0" algn="l">
              <a:lnSpc>
                <a:spcPct val="106400"/>
              </a:lnSpc>
              <a:buNone/>
            </a:pPr>
            <a:r>
              <a:rPr lang="en-US" sz="950" dirty="0">
                <a:solidFill>
                  <a:srgbClr val="1B2430">
                    <a:alpha val="78000"/>
                  </a:srgbClr>
                </a:solidFill>
                <a:latin typeface="Inter" pitchFamily="34" charset="0"/>
                <a:ea typeface="Inter" pitchFamily="34" charset="-122"/>
                <a:cs typeface="Inter" pitchFamily="34" charset="-120"/>
              </a:rPr>
              <a:t>Lifecycle-scale systems are impressive because they connect stages; their main risk is silent error propagation when one artifact becomes the next stage’s premise.</a:t>
            </a:r>
            <a:endParaRPr lang="en-US" sz="950" dirty="0"/>
          </a:p>
        </p:txBody>
      </p:sp>
      <p:sp>
        <p:nvSpPr>
          <p:cNvPr id="6" name="Text 3"/>
          <p:cNvSpPr/>
          <p:nvPr/>
        </p:nvSpPr>
        <p:spPr>
          <a:xfrm>
            <a:off x="428625" y="1496281"/>
            <a:ext cx="1916897" cy="296466"/>
          </a:xfrm>
          <a:prstGeom prst="rect">
            <a:avLst/>
          </a:prstGeom>
          <a:noFill/>
          <a:ln/>
        </p:spPr>
        <p:txBody>
          <a:bodyPr wrap="square" lIns="8509" tIns="68072"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ARCHITECTURE</a:t>
            </a:r>
            <a:endParaRPr lang="en-US" sz="600" dirty="0"/>
          </a:p>
        </p:txBody>
      </p:sp>
      <p:sp>
        <p:nvSpPr>
          <p:cNvPr id="7" name="Text 4"/>
          <p:cNvSpPr/>
          <p:nvPr/>
        </p:nvSpPr>
        <p:spPr>
          <a:xfrm>
            <a:off x="2345522" y="1496281"/>
            <a:ext cx="1916897" cy="296466"/>
          </a:xfrm>
          <a:prstGeom prst="rect">
            <a:avLst/>
          </a:prstGeom>
          <a:noFill/>
          <a:ln/>
        </p:spPr>
        <p:txBody>
          <a:bodyPr wrap="square" lIns="8509" tIns="68072"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ADVANTAGE</a:t>
            </a:r>
            <a:endParaRPr lang="en-US" sz="600" dirty="0"/>
          </a:p>
        </p:txBody>
      </p:sp>
      <p:sp>
        <p:nvSpPr>
          <p:cNvPr id="8" name="Text 5"/>
          <p:cNvSpPr/>
          <p:nvPr/>
        </p:nvSpPr>
        <p:spPr>
          <a:xfrm>
            <a:off x="4262419" y="1496281"/>
            <a:ext cx="1916925" cy="296466"/>
          </a:xfrm>
          <a:prstGeom prst="rect">
            <a:avLst/>
          </a:prstGeom>
          <a:noFill/>
          <a:ln/>
        </p:spPr>
        <p:txBody>
          <a:bodyPr wrap="square" lIns="8509" tIns="68072" rIns="8509" bIns="8509" rtlCol="0" anchor="ctr">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HANDOFF RISK</a:t>
            </a:r>
            <a:endParaRPr lang="en-US" sz="600" dirty="0"/>
          </a:p>
        </p:txBody>
      </p:sp>
      <p:sp>
        <p:nvSpPr>
          <p:cNvPr id="9" name="Text 6"/>
          <p:cNvSpPr/>
          <p:nvPr/>
        </p:nvSpPr>
        <p:spPr>
          <a:xfrm>
            <a:off x="428625" y="1792746"/>
            <a:ext cx="1916897" cy="607219"/>
          </a:xfrm>
          <a:prstGeom prst="rect">
            <a:avLst/>
          </a:prstGeom>
          <a:noFill/>
          <a:ln/>
        </p:spPr>
        <p:txBody>
          <a:bodyPr wrap="square" lIns="8509" tIns="85090" rIns="170053" bIns="8509" rtlCol="0" anchor="t">
            <a:spAutoFit/>
          </a:bodyPr>
          <a:lstStyle/>
          <a:p>
            <a:pPr marL="0" indent="0" algn="l">
              <a:lnSpc>
                <a:spcPct val="88000"/>
              </a:lnSpc>
              <a:buNone/>
            </a:pPr>
            <a:r>
              <a:rPr lang="en-US" sz="950" b="1" dirty="0">
                <a:solidFill>
                  <a:srgbClr val="2F6F73"/>
                </a:solidFill>
                <a:latin typeface="Space Grotesk Bold" pitchFamily="34" charset="0"/>
                <a:ea typeface="Space Grotesk Bold" pitchFamily="34" charset="-122"/>
                <a:cs typeface="Space Grotesk Bold" pitchFamily="34" charset="-120"/>
              </a:rPr>
              <a:t>Sequential pipelines</a:t>
            </a:r>
            <a:endParaRPr lang="en-US" sz="950" dirty="0"/>
          </a:p>
        </p:txBody>
      </p:sp>
      <p:sp>
        <p:nvSpPr>
          <p:cNvPr id="10" name="Text 7"/>
          <p:cNvSpPr/>
          <p:nvPr/>
        </p:nvSpPr>
        <p:spPr>
          <a:xfrm>
            <a:off x="2345522" y="1792746"/>
            <a:ext cx="1916897" cy="607219"/>
          </a:xfrm>
          <a:prstGeom prst="rect">
            <a:avLst/>
          </a:prstGeom>
          <a:noFill/>
          <a:ln/>
        </p:spPr>
        <p:txBody>
          <a:bodyPr wrap="square" lIns="8509" tIns="85090" rIns="170053" bIns="8509" rtlCol="0" anchor="t">
            <a:spAutoFit/>
          </a:bodyPr>
          <a:lstStyle/>
          <a:p>
            <a:pPr marL="0" indent="0" algn="l">
              <a:lnSpc>
                <a:spcPct val="108000"/>
              </a:lnSpc>
              <a:buNone/>
            </a:pPr>
            <a:r>
              <a:rPr lang="en-US" sz="700" b="1" dirty="0">
                <a:solidFill>
                  <a:srgbClr val="1B2430">
                    <a:alpha val="82000"/>
                  </a:srgbClr>
                </a:solidFill>
                <a:latin typeface="Inter Bold" pitchFamily="34" charset="0"/>
                <a:ea typeface="Inter Bold" pitchFamily="34" charset="-122"/>
                <a:cs typeface="Inter Bold" pitchFamily="34" charset="-120"/>
              </a:rPr>
              <a:t>Simple flow from idea generation to experiments, writing, and revision.</a:t>
            </a:r>
            <a:endParaRPr lang="en-US" sz="700" dirty="0"/>
          </a:p>
        </p:txBody>
      </p:sp>
      <p:sp>
        <p:nvSpPr>
          <p:cNvPr id="11" name="Text 8"/>
          <p:cNvSpPr/>
          <p:nvPr/>
        </p:nvSpPr>
        <p:spPr>
          <a:xfrm>
            <a:off x="4269563" y="1882043"/>
            <a:ext cx="1433047" cy="116086"/>
          </a:xfrm>
          <a:prstGeom prst="rect">
            <a:avLst/>
          </a:prstGeom>
          <a:noFill/>
          <a:ln/>
        </p:spPr>
        <p:txBody>
          <a:bodyPr wrap="none" lIns="0" tIns="0" rIns="0" bIns="0" rtlCol="0" anchor="t">
            <a:spAutoFit/>
          </a:bodyPr>
          <a:lstStyle/>
          <a:p>
            <a:pPr marL="0" indent="0" algn="l">
              <a:lnSpc>
                <a:spcPct val="108000"/>
              </a:lnSpc>
              <a:buNone/>
            </a:pPr>
            <a:r>
              <a:rPr lang="en-US" sz="700" b="1" dirty="0">
                <a:solidFill>
                  <a:srgbClr val="C06C3E"/>
                </a:solidFill>
                <a:latin typeface="Inter Black" pitchFamily="34" charset="0"/>
                <a:ea typeface="Inter Black" pitchFamily="34" charset="-122"/>
                <a:cs typeface="Inter Black" pitchFamily="34" charset="-120"/>
              </a:rPr>
              <a:t>Compounding premise error:</a:t>
            </a:r>
            <a:endParaRPr lang="en-US" sz="700" dirty="0"/>
          </a:p>
        </p:txBody>
      </p:sp>
      <p:sp>
        <p:nvSpPr>
          <p:cNvPr id="12" name="Text 9"/>
          <p:cNvSpPr/>
          <p:nvPr/>
        </p:nvSpPr>
        <p:spPr>
          <a:xfrm>
            <a:off x="4269563" y="1882043"/>
            <a:ext cx="1744721" cy="395753"/>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75000"/>
                  </a:srgbClr>
                </a:solidFill>
                <a:latin typeface="Inter" pitchFamily="34" charset="0"/>
                <a:ea typeface="Inter" pitchFamily="34" charset="-122"/>
                <a:cs typeface="Inter" pitchFamily="34" charset="-120"/>
              </a:rPr>
              <a:t>a weak idea or wrong code can become a polished paper.</a:t>
            </a:r>
            <a:endParaRPr lang="en-US" sz="750" dirty="0"/>
          </a:p>
        </p:txBody>
      </p:sp>
      <p:sp>
        <p:nvSpPr>
          <p:cNvPr id="13" name="Text 10"/>
          <p:cNvSpPr/>
          <p:nvPr/>
        </p:nvSpPr>
        <p:spPr>
          <a:xfrm>
            <a:off x="428625" y="2399965"/>
            <a:ext cx="1916897" cy="607219"/>
          </a:xfrm>
          <a:prstGeom prst="rect">
            <a:avLst/>
          </a:prstGeom>
          <a:noFill/>
          <a:ln/>
        </p:spPr>
        <p:txBody>
          <a:bodyPr wrap="square" lIns="8509" tIns="85090" rIns="170053" bIns="8509" rtlCol="0" anchor="t">
            <a:spAutoFit/>
          </a:bodyPr>
          <a:lstStyle/>
          <a:p>
            <a:pPr marL="0" indent="0" algn="l">
              <a:lnSpc>
                <a:spcPct val="88000"/>
              </a:lnSpc>
              <a:buNone/>
            </a:pPr>
            <a:r>
              <a:rPr lang="en-US" sz="950" b="1" dirty="0">
                <a:solidFill>
                  <a:srgbClr val="2F6F73"/>
                </a:solidFill>
                <a:latin typeface="Space Grotesk Bold" pitchFamily="34" charset="0"/>
                <a:ea typeface="Space Grotesk Bold" pitchFamily="34" charset="-122"/>
                <a:cs typeface="Space Grotesk Bold" pitchFamily="34" charset="-120"/>
              </a:rPr>
              <a:t>Search-based systems</a:t>
            </a:r>
            <a:endParaRPr lang="en-US" sz="950" dirty="0"/>
          </a:p>
        </p:txBody>
      </p:sp>
      <p:sp>
        <p:nvSpPr>
          <p:cNvPr id="14" name="Text 11"/>
          <p:cNvSpPr/>
          <p:nvPr/>
        </p:nvSpPr>
        <p:spPr>
          <a:xfrm>
            <a:off x="2345522" y="2399965"/>
            <a:ext cx="1916897" cy="607219"/>
          </a:xfrm>
          <a:prstGeom prst="rect">
            <a:avLst/>
          </a:prstGeom>
          <a:noFill/>
          <a:ln/>
        </p:spPr>
        <p:txBody>
          <a:bodyPr wrap="square" lIns="8509" tIns="85090" rIns="170053" bIns="8509" rtlCol="0" anchor="t">
            <a:spAutoFit/>
          </a:bodyPr>
          <a:lstStyle/>
          <a:p>
            <a:pPr marL="0" indent="0" algn="l">
              <a:lnSpc>
                <a:spcPct val="108000"/>
              </a:lnSpc>
              <a:buNone/>
            </a:pPr>
            <a:r>
              <a:rPr lang="en-US" sz="700" b="1" dirty="0">
                <a:solidFill>
                  <a:srgbClr val="1B2430">
                    <a:alpha val="82000"/>
                  </a:srgbClr>
                </a:solidFill>
                <a:latin typeface="Inter Bold" pitchFamily="34" charset="0"/>
                <a:ea typeface="Inter Bold" pitchFamily="34" charset="-122"/>
                <a:cs typeface="Inter Bold" pitchFamily="34" charset="-120"/>
              </a:rPr>
              <a:t>Explore alternatives through tree search, evolution, sampling, or self-improvement.</a:t>
            </a:r>
            <a:endParaRPr lang="en-US" sz="700" dirty="0"/>
          </a:p>
        </p:txBody>
      </p:sp>
      <p:sp>
        <p:nvSpPr>
          <p:cNvPr id="15" name="Text 12"/>
          <p:cNvSpPr/>
          <p:nvPr/>
        </p:nvSpPr>
        <p:spPr>
          <a:xfrm>
            <a:off x="4269563" y="2489262"/>
            <a:ext cx="1231599" cy="116086"/>
          </a:xfrm>
          <a:prstGeom prst="rect">
            <a:avLst/>
          </a:prstGeom>
          <a:noFill/>
          <a:ln/>
        </p:spPr>
        <p:txBody>
          <a:bodyPr wrap="none" lIns="0" tIns="0" rIns="0" bIns="0" rtlCol="0" anchor="t">
            <a:spAutoFit/>
          </a:bodyPr>
          <a:lstStyle/>
          <a:p>
            <a:pPr marL="0" indent="0" algn="l">
              <a:lnSpc>
                <a:spcPct val="108000"/>
              </a:lnSpc>
              <a:buNone/>
            </a:pPr>
            <a:r>
              <a:rPr lang="en-US" sz="700" b="1" dirty="0">
                <a:solidFill>
                  <a:srgbClr val="C06C3E"/>
                </a:solidFill>
                <a:latin typeface="Inter Black" pitchFamily="34" charset="0"/>
                <a:ea typeface="Inter Black" pitchFamily="34" charset="-122"/>
                <a:cs typeface="Inter Black" pitchFamily="34" charset="-120"/>
              </a:rPr>
              <a:t>Metric over-optimization:</a:t>
            </a:r>
            <a:endParaRPr lang="en-US" sz="700" dirty="0"/>
          </a:p>
        </p:txBody>
      </p:sp>
      <p:sp>
        <p:nvSpPr>
          <p:cNvPr id="16" name="Text 13"/>
          <p:cNvSpPr/>
          <p:nvPr/>
        </p:nvSpPr>
        <p:spPr>
          <a:xfrm>
            <a:off x="4269563" y="2489262"/>
            <a:ext cx="1571290" cy="395753"/>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75000"/>
                  </a:srgbClr>
                </a:solidFill>
                <a:latin typeface="Inter" pitchFamily="34" charset="0"/>
                <a:ea typeface="Inter" pitchFamily="34" charset="-122"/>
                <a:cs typeface="Inter" pitchFamily="34" charset="-120"/>
              </a:rPr>
              <a:t>search can optimize shallow scores if evaluators are weak.</a:t>
            </a:r>
            <a:endParaRPr lang="en-US" sz="750" dirty="0"/>
          </a:p>
        </p:txBody>
      </p:sp>
      <p:sp>
        <p:nvSpPr>
          <p:cNvPr id="17" name="Text 14"/>
          <p:cNvSpPr/>
          <p:nvPr/>
        </p:nvSpPr>
        <p:spPr>
          <a:xfrm>
            <a:off x="428625" y="3007184"/>
            <a:ext cx="1916897" cy="607219"/>
          </a:xfrm>
          <a:prstGeom prst="rect">
            <a:avLst/>
          </a:prstGeom>
          <a:noFill/>
          <a:ln/>
        </p:spPr>
        <p:txBody>
          <a:bodyPr wrap="square" lIns="8509" tIns="85090" rIns="170053" bIns="8509" rtlCol="0" anchor="t">
            <a:spAutoFit/>
          </a:bodyPr>
          <a:lstStyle/>
          <a:p>
            <a:pPr marL="0" indent="0" algn="l">
              <a:lnSpc>
                <a:spcPct val="88000"/>
              </a:lnSpc>
              <a:buNone/>
            </a:pPr>
            <a:r>
              <a:rPr lang="en-US" sz="950" b="1" dirty="0">
                <a:solidFill>
                  <a:srgbClr val="2F6F73"/>
                </a:solidFill>
                <a:latin typeface="Space Grotesk Bold" pitchFamily="34" charset="0"/>
                <a:ea typeface="Space Grotesk Bold" pitchFamily="34" charset="-122"/>
                <a:cs typeface="Space Grotesk Bold" pitchFamily="34" charset="-120"/>
              </a:rPr>
              <a:t>Skill-based systems</a:t>
            </a:r>
            <a:endParaRPr lang="en-US" sz="950" dirty="0"/>
          </a:p>
        </p:txBody>
      </p:sp>
      <p:sp>
        <p:nvSpPr>
          <p:cNvPr id="18" name="Text 15"/>
          <p:cNvSpPr/>
          <p:nvPr/>
        </p:nvSpPr>
        <p:spPr>
          <a:xfrm>
            <a:off x="2345522" y="3007184"/>
            <a:ext cx="1916897" cy="607219"/>
          </a:xfrm>
          <a:prstGeom prst="rect">
            <a:avLst/>
          </a:prstGeom>
          <a:noFill/>
          <a:ln/>
        </p:spPr>
        <p:txBody>
          <a:bodyPr wrap="square" lIns="8509" tIns="85090" rIns="170053" bIns="8509" rtlCol="0" anchor="t">
            <a:spAutoFit/>
          </a:bodyPr>
          <a:lstStyle/>
          <a:p>
            <a:pPr marL="0" indent="0" algn="l">
              <a:lnSpc>
                <a:spcPct val="108000"/>
              </a:lnSpc>
              <a:buNone/>
            </a:pPr>
            <a:r>
              <a:rPr lang="en-US" sz="700" b="1" dirty="0">
                <a:solidFill>
                  <a:srgbClr val="1B2430">
                    <a:alpha val="82000"/>
                  </a:srgbClr>
                </a:solidFill>
                <a:latin typeface="Inter Bold" pitchFamily="34" charset="0"/>
                <a:ea typeface="Inter Bold" pitchFamily="34" charset="-122"/>
                <a:cs typeface="Inter Bold" pitchFamily="34" charset="-120"/>
              </a:rPr>
              <a:t>Use modular tools for retrieval, coding, analysis, writing, and evaluation.</a:t>
            </a:r>
            <a:endParaRPr lang="en-US" sz="700" dirty="0"/>
          </a:p>
        </p:txBody>
      </p:sp>
      <p:sp>
        <p:nvSpPr>
          <p:cNvPr id="19" name="Text 16"/>
          <p:cNvSpPr/>
          <p:nvPr/>
        </p:nvSpPr>
        <p:spPr>
          <a:xfrm>
            <a:off x="4269563" y="3096481"/>
            <a:ext cx="523866" cy="116086"/>
          </a:xfrm>
          <a:prstGeom prst="rect">
            <a:avLst/>
          </a:prstGeom>
          <a:noFill/>
          <a:ln/>
        </p:spPr>
        <p:txBody>
          <a:bodyPr wrap="none" lIns="0" tIns="0" rIns="0" bIns="0" rtlCol="0" anchor="t">
            <a:spAutoFit/>
          </a:bodyPr>
          <a:lstStyle/>
          <a:p>
            <a:pPr marL="0" indent="0" algn="l">
              <a:lnSpc>
                <a:spcPct val="108000"/>
              </a:lnSpc>
              <a:buNone/>
            </a:pPr>
            <a:r>
              <a:rPr lang="en-US" sz="700" b="1" dirty="0">
                <a:solidFill>
                  <a:srgbClr val="C06C3E"/>
                </a:solidFill>
                <a:latin typeface="Inter Black" pitchFamily="34" charset="0"/>
                <a:ea typeface="Inter Black" pitchFamily="34" charset="-122"/>
                <a:cs typeface="Inter Black" pitchFamily="34" charset="-120"/>
              </a:rPr>
              <a:t>State loss:</a:t>
            </a:r>
            <a:endParaRPr lang="en-US" sz="700" dirty="0"/>
          </a:p>
        </p:txBody>
      </p:sp>
      <p:sp>
        <p:nvSpPr>
          <p:cNvPr id="20" name="Text 17"/>
          <p:cNvSpPr/>
          <p:nvPr/>
        </p:nvSpPr>
        <p:spPr>
          <a:xfrm>
            <a:off x="4269563" y="3096481"/>
            <a:ext cx="1727504" cy="395753"/>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75000"/>
                  </a:srgbClr>
                </a:solidFill>
                <a:latin typeface="Inter" pitchFamily="34" charset="0"/>
                <a:ea typeface="Inter" pitchFamily="34" charset="-122"/>
                <a:cs typeface="Inter" pitchFamily="34" charset="-120"/>
              </a:rPr>
              <a:t>artifacts lose provenance when modules do not share traceable context.</a:t>
            </a:r>
            <a:endParaRPr lang="en-US" sz="750" dirty="0"/>
          </a:p>
        </p:txBody>
      </p:sp>
      <p:sp>
        <p:nvSpPr>
          <p:cNvPr id="21" name="Text 18"/>
          <p:cNvSpPr/>
          <p:nvPr/>
        </p:nvSpPr>
        <p:spPr>
          <a:xfrm>
            <a:off x="428625" y="3614403"/>
            <a:ext cx="1916897" cy="607219"/>
          </a:xfrm>
          <a:prstGeom prst="rect">
            <a:avLst/>
          </a:prstGeom>
          <a:noFill/>
          <a:ln/>
        </p:spPr>
        <p:txBody>
          <a:bodyPr wrap="square" lIns="8509" tIns="85090" rIns="170053" bIns="8509" rtlCol="0" anchor="t">
            <a:spAutoFit/>
          </a:bodyPr>
          <a:lstStyle/>
          <a:p>
            <a:pPr marL="0" indent="0" algn="l">
              <a:lnSpc>
                <a:spcPct val="88000"/>
              </a:lnSpc>
              <a:buNone/>
            </a:pPr>
            <a:r>
              <a:rPr lang="en-US" sz="950" b="1" dirty="0">
                <a:solidFill>
                  <a:srgbClr val="2F6F73"/>
                </a:solidFill>
                <a:latin typeface="Space Grotesk Bold" pitchFamily="34" charset="0"/>
                <a:ea typeface="Space Grotesk Bold" pitchFamily="34" charset="-122"/>
                <a:cs typeface="Space Grotesk Bold" pitchFamily="34" charset="-120"/>
              </a:rPr>
              <a:t>Multi-agent systems</a:t>
            </a:r>
            <a:endParaRPr lang="en-US" sz="950" dirty="0"/>
          </a:p>
        </p:txBody>
      </p:sp>
      <p:sp>
        <p:nvSpPr>
          <p:cNvPr id="22" name="Text 19"/>
          <p:cNvSpPr/>
          <p:nvPr/>
        </p:nvSpPr>
        <p:spPr>
          <a:xfrm>
            <a:off x="2345522" y="3614403"/>
            <a:ext cx="1916897" cy="607219"/>
          </a:xfrm>
          <a:prstGeom prst="rect">
            <a:avLst/>
          </a:prstGeom>
          <a:noFill/>
          <a:ln/>
        </p:spPr>
        <p:txBody>
          <a:bodyPr wrap="square" lIns="8509" tIns="85090" rIns="170053" bIns="8509" rtlCol="0" anchor="t">
            <a:spAutoFit/>
          </a:bodyPr>
          <a:lstStyle/>
          <a:p>
            <a:pPr marL="0" indent="0" algn="l">
              <a:lnSpc>
                <a:spcPct val="108000"/>
              </a:lnSpc>
              <a:buNone/>
            </a:pPr>
            <a:r>
              <a:rPr lang="en-US" sz="700" b="1" dirty="0">
                <a:solidFill>
                  <a:srgbClr val="1B2430">
                    <a:alpha val="82000"/>
                  </a:srgbClr>
                </a:solidFill>
                <a:latin typeface="Inter Bold" pitchFamily="34" charset="0"/>
                <a:ea typeface="Inter Bold" pitchFamily="34" charset="-122"/>
                <a:cs typeface="Inter Bold" pitchFamily="34" charset="-120"/>
              </a:rPr>
              <a:t>Role separation supports specialization, critique, and parallel exploration.</a:t>
            </a:r>
            <a:endParaRPr lang="en-US" sz="700" dirty="0"/>
          </a:p>
        </p:txBody>
      </p:sp>
      <p:sp>
        <p:nvSpPr>
          <p:cNvPr id="23" name="Text 20"/>
          <p:cNvSpPr/>
          <p:nvPr/>
        </p:nvSpPr>
        <p:spPr>
          <a:xfrm>
            <a:off x="4269563" y="3703700"/>
            <a:ext cx="1404221" cy="116086"/>
          </a:xfrm>
          <a:prstGeom prst="rect">
            <a:avLst/>
          </a:prstGeom>
          <a:noFill/>
          <a:ln/>
        </p:spPr>
        <p:txBody>
          <a:bodyPr wrap="none" lIns="0" tIns="0" rIns="0" bIns="0" rtlCol="0" anchor="t">
            <a:spAutoFit/>
          </a:bodyPr>
          <a:lstStyle/>
          <a:p>
            <a:pPr marL="0" indent="0" algn="l">
              <a:lnSpc>
                <a:spcPct val="108000"/>
              </a:lnSpc>
              <a:buNone/>
            </a:pPr>
            <a:r>
              <a:rPr lang="en-US" sz="700" b="1" dirty="0">
                <a:solidFill>
                  <a:srgbClr val="C06C3E"/>
                </a:solidFill>
                <a:latin typeface="Inter Black" pitchFamily="34" charset="0"/>
                <a:ea typeface="Inter Black" pitchFamily="34" charset="-122"/>
                <a:cs typeface="Inter Black" pitchFamily="34" charset="-120"/>
              </a:rPr>
              <a:t>Coordinated misconception:</a:t>
            </a:r>
            <a:endParaRPr lang="en-US" sz="700" dirty="0"/>
          </a:p>
        </p:txBody>
      </p:sp>
      <p:sp>
        <p:nvSpPr>
          <p:cNvPr id="24" name="Text 21"/>
          <p:cNvSpPr/>
          <p:nvPr/>
        </p:nvSpPr>
        <p:spPr>
          <a:xfrm>
            <a:off x="4269563" y="3703700"/>
            <a:ext cx="1744024" cy="395753"/>
          </a:xfrm>
          <a:prstGeom prst="rect">
            <a:avLst/>
          </a:prstGeom>
          <a:noFill/>
          <a:ln/>
        </p:spPr>
        <p:txBody>
          <a:bodyPr wrap="square" lIns="0" tIns="0" rIns="0" bIns="0" rtlCol="0" anchor="t">
            <a:spAutoFit/>
          </a:bodyPr>
          <a:lstStyle/>
          <a:p>
            <a:pPr marL="0" indent="0" algn="l">
              <a:lnSpc>
                <a:spcPct val="108000"/>
              </a:lnSpc>
              <a:buNone/>
            </a:pPr>
            <a:r>
              <a:rPr lang="en-US" sz="750" dirty="0">
                <a:solidFill>
                  <a:srgbClr val="1B2430">
                    <a:alpha val="75000"/>
                  </a:srgbClr>
                </a:solidFill>
                <a:latin typeface="Inter" pitchFamily="34" charset="0"/>
                <a:ea typeface="Inter" pitchFamily="34" charset="-122"/>
                <a:cs typeface="Inter" pitchFamily="34" charset="-120"/>
              </a:rPr>
              <a:t>agents may share errors or produce deliberation without better science.</a:t>
            </a:r>
            <a:endParaRPr lang="en-US" sz="750" dirty="0"/>
          </a:p>
        </p:txBody>
      </p:sp>
      <p:sp>
        <p:nvSpPr>
          <p:cNvPr id="25" name="Text 22"/>
          <p:cNvSpPr/>
          <p:nvPr/>
        </p:nvSpPr>
        <p:spPr>
          <a:xfrm>
            <a:off x="6479381" y="1592721"/>
            <a:ext cx="2235994" cy="185151"/>
          </a:xfrm>
          <a:prstGeom prst="rect">
            <a:avLst/>
          </a:prstGeom>
          <a:noFill/>
          <a:ln/>
        </p:spPr>
        <p:txBody>
          <a:bodyPr wrap="none" lIns="0" tIns="0" rIns="0" bIns="0" rtlCol="0" anchor="t">
            <a:spAutoFit/>
          </a:bodyPr>
          <a:lstStyle/>
          <a:p>
            <a:pPr marL="0" indent="0" algn="l">
              <a:lnSpc>
                <a:spcPct val="86400"/>
              </a:lnSpc>
              <a:buNone/>
            </a:pPr>
            <a:r>
              <a:rPr lang="en-US" sz="1200" b="1" kern="0" spc="-1" dirty="0">
                <a:solidFill>
                  <a:srgbClr val="C06C3E"/>
                </a:solidFill>
                <a:latin typeface="Space Grotesk Bold" pitchFamily="34" charset="0"/>
                <a:ea typeface="Space Grotesk Bold" pitchFamily="34" charset="-122"/>
                <a:cs typeface="Space Grotesk Bold" pitchFamily="34" charset="-120"/>
              </a:rPr>
              <a:t>Where failure propagates</a:t>
            </a:r>
            <a:endParaRPr lang="en-US" sz="1200" dirty="0"/>
          </a:p>
        </p:txBody>
      </p:sp>
      <p:sp>
        <p:nvSpPr>
          <p:cNvPr id="26" name="Text 23"/>
          <p:cNvSpPr/>
          <p:nvPr/>
        </p:nvSpPr>
        <p:spPr>
          <a:xfrm>
            <a:off x="6479381" y="1863598"/>
            <a:ext cx="2235994" cy="289992"/>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1B2430">
                    <a:alpha val="75000"/>
                  </a:srgbClr>
                </a:solidFill>
                <a:latin typeface="Inter" pitchFamily="34" charset="0"/>
                <a:ea typeface="Inter" pitchFamily="34" charset="-122"/>
                <a:cs typeface="Inter" pitchFamily="34" charset="-120"/>
              </a:rPr>
              <a:t>The survey argues that many failures occur between stages, not only inside individual tools.</a:t>
            </a:r>
            <a:endParaRPr lang="en-US" sz="750" dirty="0"/>
          </a:p>
        </p:txBody>
      </p:sp>
      <p:sp>
        <p:nvSpPr>
          <p:cNvPr id="27" name="Text 24"/>
          <p:cNvSpPr/>
          <p:nvPr/>
        </p:nvSpPr>
        <p:spPr>
          <a:xfrm>
            <a:off x="6479381" y="2267889"/>
            <a:ext cx="471488" cy="289322"/>
          </a:xfrm>
          <a:prstGeom prst="rect">
            <a:avLst/>
          </a:prstGeom>
          <a:noFill/>
          <a:ln/>
        </p:spPr>
        <p:txBody>
          <a:bodyPr wrap="none" lIns="0" tIns="68072" rIns="0" bIns="0" rtlCol="0" anchor="t">
            <a:spAutoFit/>
          </a:bodyPr>
          <a:lstStyle/>
          <a:p>
            <a:pPr marL="0" indent="0" algn="l">
              <a:buNone/>
            </a:pPr>
            <a:r>
              <a:rPr lang="en-US" sz="650" b="1" kern="0" spc="1" dirty="0">
                <a:solidFill>
                  <a:srgbClr val="2F6F73"/>
                </a:solidFill>
                <a:latin typeface="Space Grotesk Bold" pitchFamily="34" charset="0"/>
                <a:ea typeface="Space Grotesk Bold" pitchFamily="34" charset="-122"/>
                <a:cs typeface="Space Grotesk Bold" pitchFamily="34" charset="-120"/>
              </a:rPr>
              <a:t>S1→S3</a:t>
            </a:r>
            <a:endParaRPr lang="en-US" sz="650" dirty="0"/>
          </a:p>
        </p:txBody>
      </p:sp>
      <p:sp>
        <p:nvSpPr>
          <p:cNvPr id="28" name="Text 25"/>
          <p:cNvSpPr/>
          <p:nvPr/>
        </p:nvSpPr>
        <p:spPr>
          <a:xfrm>
            <a:off x="7036594" y="2267889"/>
            <a:ext cx="1678781" cy="289322"/>
          </a:xfrm>
          <a:prstGeom prst="rect">
            <a:avLst/>
          </a:prstGeom>
          <a:noFill/>
          <a:ln/>
        </p:spPr>
        <p:txBody>
          <a:bodyPr wrap="square" lIns="0" tIns="68072" rIns="0" bIns="0" rtlCol="0" anchor="t">
            <a:spAutoFit/>
          </a:bodyPr>
          <a:lstStyle/>
          <a:p>
            <a:pPr marL="0" indent="0" algn="l">
              <a:lnSpc>
                <a:spcPct val="100000"/>
              </a:lnSpc>
              <a:buNone/>
            </a:pPr>
            <a:r>
              <a:rPr lang="en-US" sz="650" dirty="0">
                <a:solidFill>
                  <a:srgbClr val="1B2430">
                    <a:alpha val="72000"/>
                  </a:srgbClr>
                </a:solidFill>
                <a:latin typeface="Inter" pitchFamily="34" charset="0"/>
                <a:ea typeface="Inter" pitchFamily="34" charset="-122"/>
                <a:cs typeface="Inter" pitchFamily="34" charset="-120"/>
              </a:rPr>
              <a:t>Promising idea weakens after implementation.</a:t>
            </a:r>
            <a:endParaRPr lang="en-US" sz="650" dirty="0"/>
          </a:p>
        </p:txBody>
      </p:sp>
      <p:sp>
        <p:nvSpPr>
          <p:cNvPr id="29" name="Text 26"/>
          <p:cNvSpPr/>
          <p:nvPr/>
        </p:nvSpPr>
        <p:spPr>
          <a:xfrm>
            <a:off x="6479381" y="2567927"/>
            <a:ext cx="471488" cy="289322"/>
          </a:xfrm>
          <a:prstGeom prst="rect">
            <a:avLst/>
          </a:prstGeom>
          <a:noFill/>
          <a:ln/>
        </p:spPr>
        <p:txBody>
          <a:bodyPr wrap="none" lIns="0" tIns="68072" rIns="0" bIns="0" rtlCol="0" anchor="t">
            <a:spAutoFit/>
          </a:bodyPr>
          <a:lstStyle/>
          <a:p>
            <a:pPr marL="0" indent="0" algn="l">
              <a:buNone/>
            </a:pPr>
            <a:r>
              <a:rPr lang="en-US" sz="650" b="1" kern="0" spc="1" dirty="0">
                <a:solidFill>
                  <a:srgbClr val="2F6F73"/>
                </a:solidFill>
                <a:latin typeface="Space Grotesk Bold" pitchFamily="34" charset="0"/>
                <a:ea typeface="Space Grotesk Bold" pitchFamily="34" charset="-122"/>
                <a:cs typeface="Space Grotesk Bold" pitchFamily="34" charset="-120"/>
              </a:rPr>
              <a:t>S2→S5</a:t>
            </a:r>
            <a:endParaRPr lang="en-US" sz="650" dirty="0"/>
          </a:p>
        </p:txBody>
      </p:sp>
      <p:sp>
        <p:nvSpPr>
          <p:cNvPr id="30" name="Text 27"/>
          <p:cNvSpPr/>
          <p:nvPr/>
        </p:nvSpPr>
        <p:spPr>
          <a:xfrm>
            <a:off x="7036594" y="2567927"/>
            <a:ext cx="1678781" cy="289322"/>
          </a:xfrm>
          <a:prstGeom prst="rect">
            <a:avLst/>
          </a:prstGeom>
          <a:noFill/>
          <a:ln/>
        </p:spPr>
        <p:txBody>
          <a:bodyPr wrap="square" lIns="0" tIns="68072" rIns="0" bIns="0" rtlCol="0" anchor="t">
            <a:spAutoFit/>
          </a:bodyPr>
          <a:lstStyle/>
          <a:p>
            <a:pPr marL="0" indent="0" algn="l">
              <a:lnSpc>
                <a:spcPct val="100000"/>
              </a:lnSpc>
              <a:buNone/>
            </a:pPr>
            <a:r>
              <a:rPr lang="en-US" sz="650" dirty="0">
                <a:solidFill>
                  <a:srgbClr val="1B2430">
                    <a:alpha val="72000"/>
                  </a:srgbClr>
                </a:solidFill>
                <a:latin typeface="Inter" pitchFamily="34" charset="0"/>
                <a:ea typeface="Inter" pitchFamily="34" charset="-122"/>
                <a:cs typeface="Inter" pitchFamily="34" charset="-120"/>
              </a:rPr>
              <a:t>Retrieved evidence becomes overstated claims.</a:t>
            </a:r>
            <a:endParaRPr lang="en-US" sz="650" dirty="0"/>
          </a:p>
        </p:txBody>
      </p:sp>
      <p:sp>
        <p:nvSpPr>
          <p:cNvPr id="31" name="Text 28"/>
          <p:cNvSpPr/>
          <p:nvPr/>
        </p:nvSpPr>
        <p:spPr>
          <a:xfrm>
            <a:off x="6479381" y="2867964"/>
            <a:ext cx="471488" cy="289322"/>
          </a:xfrm>
          <a:prstGeom prst="rect">
            <a:avLst/>
          </a:prstGeom>
          <a:noFill/>
          <a:ln/>
        </p:spPr>
        <p:txBody>
          <a:bodyPr wrap="none" lIns="0" tIns="68072" rIns="0" bIns="0" rtlCol="0" anchor="t">
            <a:spAutoFit/>
          </a:bodyPr>
          <a:lstStyle/>
          <a:p>
            <a:pPr marL="0" indent="0" algn="l">
              <a:buNone/>
            </a:pPr>
            <a:r>
              <a:rPr lang="en-US" sz="650" b="1" kern="0" spc="1" dirty="0">
                <a:solidFill>
                  <a:srgbClr val="2F6F73"/>
                </a:solidFill>
                <a:latin typeface="Space Grotesk Bold" pitchFamily="34" charset="0"/>
                <a:ea typeface="Space Grotesk Bold" pitchFamily="34" charset="-122"/>
                <a:cs typeface="Space Grotesk Bold" pitchFamily="34" charset="-120"/>
              </a:rPr>
              <a:t>S3→S4</a:t>
            </a:r>
            <a:endParaRPr lang="en-US" sz="650" dirty="0"/>
          </a:p>
        </p:txBody>
      </p:sp>
      <p:sp>
        <p:nvSpPr>
          <p:cNvPr id="32" name="Text 29"/>
          <p:cNvSpPr/>
          <p:nvPr/>
        </p:nvSpPr>
        <p:spPr>
          <a:xfrm>
            <a:off x="7036594" y="2867964"/>
            <a:ext cx="1678781" cy="289322"/>
          </a:xfrm>
          <a:prstGeom prst="rect">
            <a:avLst/>
          </a:prstGeom>
          <a:noFill/>
          <a:ln/>
        </p:spPr>
        <p:txBody>
          <a:bodyPr wrap="square" lIns="0" tIns="68072" rIns="0" bIns="0" rtlCol="0" anchor="t">
            <a:spAutoFit/>
          </a:bodyPr>
          <a:lstStyle/>
          <a:p>
            <a:pPr marL="0" indent="0" algn="l">
              <a:lnSpc>
                <a:spcPct val="100000"/>
              </a:lnSpc>
              <a:buNone/>
            </a:pPr>
            <a:r>
              <a:rPr lang="en-US" sz="650" dirty="0">
                <a:solidFill>
                  <a:srgbClr val="1B2430">
                    <a:alpha val="72000"/>
                  </a:srgbClr>
                </a:solidFill>
                <a:latin typeface="Inter" pitchFamily="34" charset="0"/>
                <a:ea typeface="Inter" pitchFamily="34" charset="-122"/>
                <a:cs typeface="Inter" pitchFamily="34" charset="-120"/>
              </a:rPr>
              <a:t>Experiment logs become misleading figures.</a:t>
            </a:r>
            <a:endParaRPr lang="en-US" sz="650" dirty="0"/>
          </a:p>
        </p:txBody>
      </p:sp>
      <p:sp>
        <p:nvSpPr>
          <p:cNvPr id="33" name="Text 30"/>
          <p:cNvSpPr/>
          <p:nvPr/>
        </p:nvSpPr>
        <p:spPr>
          <a:xfrm>
            <a:off x="6479381" y="3168002"/>
            <a:ext cx="471488" cy="289322"/>
          </a:xfrm>
          <a:prstGeom prst="rect">
            <a:avLst/>
          </a:prstGeom>
          <a:noFill/>
          <a:ln/>
        </p:spPr>
        <p:txBody>
          <a:bodyPr wrap="none" lIns="0" tIns="68072" rIns="0" bIns="0" rtlCol="0" anchor="t">
            <a:spAutoFit/>
          </a:bodyPr>
          <a:lstStyle/>
          <a:p>
            <a:pPr marL="0" indent="0" algn="l">
              <a:buNone/>
            </a:pPr>
            <a:r>
              <a:rPr lang="en-US" sz="650" b="1" kern="0" spc="1" dirty="0">
                <a:solidFill>
                  <a:srgbClr val="2F6F73"/>
                </a:solidFill>
                <a:latin typeface="Space Grotesk Bold" pitchFamily="34" charset="0"/>
                <a:ea typeface="Space Grotesk Bold" pitchFamily="34" charset="-122"/>
                <a:cs typeface="Space Grotesk Bold" pitchFamily="34" charset="-120"/>
              </a:rPr>
              <a:t>S4→S5</a:t>
            </a:r>
            <a:endParaRPr lang="en-US" sz="650" dirty="0"/>
          </a:p>
        </p:txBody>
      </p:sp>
      <p:sp>
        <p:nvSpPr>
          <p:cNvPr id="34" name="Text 31"/>
          <p:cNvSpPr/>
          <p:nvPr/>
        </p:nvSpPr>
        <p:spPr>
          <a:xfrm>
            <a:off x="7036594" y="3168002"/>
            <a:ext cx="1678781" cy="289322"/>
          </a:xfrm>
          <a:prstGeom prst="rect">
            <a:avLst/>
          </a:prstGeom>
          <a:noFill/>
          <a:ln/>
        </p:spPr>
        <p:txBody>
          <a:bodyPr wrap="square" lIns="0" tIns="68072" rIns="0" bIns="0" rtlCol="0" anchor="t">
            <a:spAutoFit/>
          </a:bodyPr>
          <a:lstStyle/>
          <a:p>
            <a:pPr marL="0" indent="0" algn="l">
              <a:lnSpc>
                <a:spcPct val="100000"/>
              </a:lnSpc>
              <a:buNone/>
            </a:pPr>
            <a:r>
              <a:rPr lang="en-US" sz="650" dirty="0">
                <a:solidFill>
                  <a:srgbClr val="1B2430">
                    <a:alpha val="72000"/>
                  </a:srgbClr>
                </a:solidFill>
                <a:latin typeface="Inter" pitchFamily="34" charset="0"/>
                <a:ea typeface="Inter" pitchFamily="34" charset="-122"/>
                <a:cs typeface="Inter" pitchFamily="34" charset="-120"/>
              </a:rPr>
              <a:t>Visual artifacts become unsupported manuscript claims.</a:t>
            </a:r>
            <a:endParaRPr lang="en-US" sz="650" dirty="0"/>
          </a:p>
        </p:txBody>
      </p:sp>
      <p:sp>
        <p:nvSpPr>
          <p:cNvPr id="35" name="Text 32"/>
          <p:cNvSpPr/>
          <p:nvPr/>
        </p:nvSpPr>
        <p:spPr>
          <a:xfrm>
            <a:off x="428625" y="4385928"/>
            <a:ext cx="1500188" cy="394302"/>
          </a:xfrm>
          <a:prstGeom prst="rect">
            <a:avLst/>
          </a:prstGeom>
          <a:noFill/>
          <a:ln/>
        </p:spPr>
        <p:txBody>
          <a:bodyPr wrap="square" lIns="0" tIns="0" rIns="0" bIns="0" rtlCol="0" anchor="t">
            <a:spAutoFit/>
          </a:bodyPr>
          <a:lstStyle/>
          <a:p>
            <a:pPr marL="0" indent="0" algn="l">
              <a:lnSpc>
                <a:spcPct val="84000"/>
              </a:lnSpc>
              <a:buNone/>
            </a:pPr>
            <a:r>
              <a:rPr lang="en-US" sz="1100" b="1" dirty="0">
                <a:solidFill>
                  <a:srgbClr val="2F6F73"/>
                </a:solidFill>
                <a:latin typeface="Space Grotesk Bold" pitchFamily="34" charset="0"/>
                <a:ea typeface="Space Grotesk Bold" pitchFamily="34" charset="-122"/>
                <a:cs typeface="Space Grotesk Bold" pitchFamily="34" charset="-120"/>
              </a:rPr>
              <a:t>Evaluation question</a:t>
            </a:r>
            <a:endParaRPr lang="en-US" sz="1100" dirty="0"/>
          </a:p>
        </p:txBody>
      </p:sp>
      <p:sp>
        <p:nvSpPr>
          <p:cNvPr id="36" name="Text 33"/>
          <p:cNvSpPr/>
          <p:nvPr/>
        </p:nvSpPr>
        <p:spPr>
          <a:xfrm>
            <a:off x="2128838" y="4385928"/>
            <a:ext cx="6572250" cy="394302"/>
          </a:xfrm>
          <a:prstGeom prst="rect">
            <a:avLst/>
          </a:prstGeom>
          <a:noFill/>
          <a:ln/>
        </p:spPr>
        <p:txBody>
          <a:bodyPr wrap="square" lIns="0" tIns="0" rIns="0" bIns="0" rtlCol="0" anchor="t">
            <a:spAutoFit/>
          </a:bodyPr>
          <a:lstStyle/>
          <a:p>
            <a:pPr marL="0" indent="0" algn="l">
              <a:lnSpc>
                <a:spcPct val="96000"/>
              </a:lnSpc>
              <a:buNone/>
            </a:pPr>
            <a:r>
              <a:rPr lang="en-US" sz="1150" b="1" dirty="0">
                <a:solidFill>
                  <a:srgbClr val="C06C3E"/>
                </a:solidFill>
                <a:latin typeface="Space Grotesk Bold" pitchFamily="34" charset="0"/>
                <a:ea typeface="Space Grotesk Bold" pitchFamily="34" charset="-122"/>
                <a:cs typeface="Space Grotesk Bold" pitchFamily="34" charset="-120"/>
              </a:rPr>
              <a:t>Not “Can the system produce a paper?” but “Can it maintain scientific fidelity across the complete lifecycle?”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00038"/>
            <a:ext cx="8286750" cy="107156"/>
          </a:xfrm>
          <a:prstGeom prst="rect">
            <a:avLst/>
          </a:prstGeom>
          <a:noFill/>
          <a:ln/>
        </p:spPr>
        <p:txBody>
          <a:bodyPr wrap="square" lIns="0" tIns="0" rIns="0" bIns="0" rtlCol="0" anchor="t">
            <a:spAutoFit/>
          </a:bodyPr>
          <a:lstStyle/>
          <a:p>
            <a:pPr marL="0" indent="0" algn="l">
              <a:buNone/>
            </a:pPr>
            <a:r>
              <a:rPr lang="en-US" sz="650" b="1" kern="0" spc="2" dirty="0">
                <a:solidFill>
                  <a:srgbClr val="2F6F73"/>
                </a:solidFill>
                <a:latin typeface="Space Grotesk Bold" pitchFamily="34" charset="0"/>
                <a:ea typeface="Space Grotesk Bold" pitchFamily="34" charset="-122"/>
                <a:cs typeface="Space Grotesk Bold" pitchFamily="34" charset="-120"/>
              </a:rPr>
              <a:t>CONCLUSION AND FUTURE DIRECTION</a:t>
            </a:r>
            <a:endParaRPr lang="en-US" sz="650" dirty="0"/>
          </a:p>
        </p:txBody>
      </p:sp>
      <p:sp>
        <p:nvSpPr>
          <p:cNvPr id="4" name="Text 1"/>
          <p:cNvSpPr/>
          <p:nvPr/>
        </p:nvSpPr>
        <p:spPr>
          <a:xfrm>
            <a:off x="428625" y="478631"/>
            <a:ext cx="8286750" cy="292531"/>
          </a:xfrm>
          <a:prstGeom prst="rect">
            <a:avLst/>
          </a:prstGeom>
          <a:noFill/>
          <a:ln/>
        </p:spPr>
        <p:txBody>
          <a:bodyPr wrap="none" lIns="0" tIns="0" rIns="0" bIns="0" rtlCol="0" anchor="t">
            <a:spAutoFit/>
          </a:bodyPr>
          <a:lstStyle/>
          <a:p>
            <a:pPr marL="0" indent="0" algn="l">
              <a:lnSpc>
                <a:spcPct val="84000"/>
              </a:lnSpc>
              <a:buNone/>
            </a:pPr>
            <a:r>
              <a:rPr lang="en-US" sz="1950" b="1" kern="0" spc="-1" dirty="0">
                <a:solidFill>
                  <a:srgbClr val="1B2430"/>
                </a:solidFill>
                <a:latin typeface="Space Grotesk Bold" pitchFamily="34" charset="0"/>
                <a:ea typeface="Space Grotesk Bold" pitchFamily="34" charset="-122"/>
                <a:cs typeface="Space Grotesk Bold" pitchFamily="34" charset="-120"/>
              </a:rPr>
              <a:t>The credible path is human-governed automation</a:t>
            </a:r>
            <a:endParaRPr lang="en-US" sz="1950" dirty="0"/>
          </a:p>
        </p:txBody>
      </p:sp>
      <p:sp>
        <p:nvSpPr>
          <p:cNvPr id="5" name="Text 2"/>
          <p:cNvSpPr/>
          <p:nvPr/>
        </p:nvSpPr>
        <p:spPr>
          <a:xfrm>
            <a:off x="428625" y="957821"/>
            <a:ext cx="7893844" cy="342007"/>
          </a:xfrm>
          <a:prstGeom prst="rect">
            <a:avLst/>
          </a:prstGeom>
          <a:noFill/>
          <a:ln/>
        </p:spPr>
        <p:txBody>
          <a:bodyPr wrap="square" lIns="0" tIns="0" rIns="0" bIns="0" rtlCol="0" anchor="t">
            <a:spAutoFit/>
          </a:bodyPr>
          <a:lstStyle/>
          <a:p>
            <a:pPr marL="0" indent="0" algn="l">
              <a:lnSpc>
                <a:spcPct val="106400"/>
              </a:lnSpc>
              <a:buNone/>
            </a:pPr>
            <a:r>
              <a:rPr lang="en-US" sz="950" dirty="0">
                <a:solidFill>
                  <a:srgbClr val="1B2430">
                    <a:alpha val="78000"/>
                  </a:srgbClr>
                </a:solidFill>
                <a:latin typeface="Inter" pitchFamily="34" charset="0"/>
                <a:ea typeface="Inter" pitchFamily="34" charset="-122"/>
                <a:cs typeface="Inter" pitchFamily="34" charset="-120"/>
              </a:rPr>
              <a:t>The survey argues against unchecked full autonomy and for reliable, transparent AI assistance that expands research capacity while preserving scientific judgment.</a:t>
            </a:r>
            <a:endParaRPr lang="en-US" sz="950" dirty="0"/>
          </a:p>
        </p:txBody>
      </p:sp>
      <p:sp>
        <p:nvSpPr>
          <p:cNvPr id="6" name="Text 3"/>
          <p:cNvSpPr/>
          <p:nvPr/>
        </p:nvSpPr>
        <p:spPr>
          <a:xfrm>
            <a:off x="428625" y="1735596"/>
            <a:ext cx="2571750" cy="171450"/>
          </a:xfrm>
          <a:prstGeom prst="rect">
            <a:avLst/>
          </a:prstGeom>
          <a:noFill/>
          <a:ln/>
        </p:spPr>
        <p:txBody>
          <a:bodyPr wrap="none" lIns="0" tIns="0" rIns="0" bIns="0" rtlCol="0" anchor="t">
            <a:spAutoFit/>
          </a:bodyPr>
          <a:lstStyle/>
          <a:p>
            <a:pPr marL="0" indent="0" algn="l">
              <a:lnSpc>
                <a:spcPct val="80000"/>
              </a:lnSpc>
              <a:buNone/>
            </a:pPr>
            <a:r>
              <a:rPr lang="en-US" sz="1200" b="1" dirty="0">
                <a:solidFill>
                  <a:srgbClr val="C06C3E"/>
                </a:solidFill>
                <a:latin typeface="Space Grotesk Bold" pitchFamily="34" charset="0"/>
                <a:ea typeface="Space Grotesk Bold" pitchFamily="34" charset="-122"/>
                <a:cs typeface="Space Grotesk Bold" pitchFamily="34" charset="-120"/>
              </a:rPr>
              <a:t>Operating doctrine</a:t>
            </a:r>
            <a:endParaRPr lang="en-US" sz="1200" dirty="0"/>
          </a:p>
        </p:txBody>
      </p:sp>
      <p:sp>
        <p:nvSpPr>
          <p:cNvPr id="7" name="Text 4"/>
          <p:cNvSpPr/>
          <p:nvPr/>
        </p:nvSpPr>
        <p:spPr>
          <a:xfrm>
            <a:off x="428625" y="2021346"/>
            <a:ext cx="2571750" cy="462893"/>
          </a:xfrm>
          <a:prstGeom prst="rect">
            <a:avLst/>
          </a:prstGeom>
          <a:noFill/>
          <a:ln/>
        </p:spPr>
        <p:txBody>
          <a:bodyPr wrap="square" lIns="0" tIns="0" rIns="0" bIns="0" rtlCol="0" anchor="t">
            <a:spAutoFit/>
          </a:bodyPr>
          <a:lstStyle/>
          <a:p>
            <a:pPr marL="0" indent="0" algn="l">
              <a:lnSpc>
                <a:spcPct val="86400"/>
              </a:lnSpc>
              <a:buNone/>
            </a:pPr>
            <a:r>
              <a:rPr lang="en-US" sz="1500" b="1" kern="0" spc="-1" dirty="0">
                <a:solidFill>
                  <a:srgbClr val="2F6F73"/>
                </a:solidFill>
                <a:latin typeface="Space Grotesk Bold" pitchFamily="34" charset="0"/>
                <a:ea typeface="Space Grotesk Bold" pitchFamily="34" charset="-122"/>
                <a:cs typeface="Space Grotesk Bold" pitchFamily="34" charset="-120"/>
              </a:rPr>
              <a:t>Automate friction; do not outsource science</a:t>
            </a:r>
            <a:endParaRPr lang="en-US" sz="1500" dirty="0"/>
          </a:p>
        </p:txBody>
      </p:sp>
      <p:sp>
        <p:nvSpPr>
          <p:cNvPr id="8" name="Text 5"/>
          <p:cNvSpPr/>
          <p:nvPr/>
        </p:nvSpPr>
        <p:spPr>
          <a:xfrm>
            <a:off x="428625" y="2627114"/>
            <a:ext cx="2571750" cy="973782"/>
          </a:xfrm>
          <a:prstGeom prst="rect">
            <a:avLst/>
          </a:prstGeom>
          <a:noFill/>
          <a:ln/>
        </p:spPr>
        <p:txBody>
          <a:bodyPr wrap="square" lIns="0" tIns="0" rIns="0" bIns="0" rtlCol="0" anchor="t">
            <a:spAutoFit/>
          </a:bodyPr>
          <a:lstStyle/>
          <a:p>
            <a:pPr marL="0" indent="0" algn="l">
              <a:lnSpc>
                <a:spcPct val="113600"/>
              </a:lnSpc>
              <a:buNone/>
            </a:pPr>
            <a:r>
              <a:rPr lang="en-US" sz="850" dirty="0">
                <a:solidFill>
                  <a:srgbClr val="1B2430">
                    <a:alpha val="76000"/>
                  </a:srgbClr>
                </a:solidFill>
                <a:latin typeface="Inter" pitchFamily="34" charset="0"/>
                <a:ea typeface="Inter" pitchFamily="34" charset="-122"/>
                <a:cs typeface="Inter" pitchFamily="34" charset="-120"/>
              </a:rPr>
              <a:t>AI systems should accelerate retrieval, drafting, coding, visualization, review support, and dissemination. Researchers should retain ownership over what counts as evidence, contribution, interpretation, and responsible publication.</a:t>
            </a:r>
            <a:endParaRPr lang="en-US" sz="850" dirty="0"/>
          </a:p>
        </p:txBody>
      </p:sp>
      <p:sp>
        <p:nvSpPr>
          <p:cNvPr id="9" name="Text 6"/>
          <p:cNvSpPr/>
          <p:nvPr/>
        </p:nvSpPr>
        <p:spPr>
          <a:xfrm>
            <a:off x="428625" y="3772346"/>
            <a:ext cx="2571750" cy="508043"/>
          </a:xfrm>
          <a:prstGeom prst="rect">
            <a:avLst/>
          </a:prstGeom>
          <a:noFill/>
          <a:ln/>
        </p:spPr>
        <p:txBody>
          <a:bodyPr wrap="square" lIns="0" tIns="102108" rIns="0" bIns="0" rtlCol="0" anchor="t">
            <a:spAutoFit/>
          </a:bodyPr>
          <a:lstStyle/>
          <a:p>
            <a:pPr marL="0" indent="0" algn="l">
              <a:lnSpc>
                <a:spcPct val="108800"/>
              </a:lnSpc>
              <a:buNone/>
            </a:pPr>
            <a:r>
              <a:rPr lang="en-US" sz="700" b="1" dirty="0">
                <a:solidFill>
                  <a:srgbClr val="C06C3E"/>
                </a:solidFill>
                <a:latin typeface="Space Grotesk Bold" pitchFamily="34" charset="0"/>
                <a:ea typeface="Space Grotesk Bold" pitchFamily="34" charset="-122"/>
                <a:cs typeface="Space Grotesk Bold" pitchFamily="34" charset="-120"/>
              </a:rPr>
              <a:t>Core boundary:</a:t>
            </a:r>
            <a:r>
              <a:rPr lang="en-US" sz="750" dirty="0">
                <a:solidFill>
                  <a:srgbClr val="1B2430">
                    <a:alpha val="72000"/>
                  </a:srgbClr>
                </a:solidFill>
                <a:latin typeface="Inter" pitchFamily="34" charset="0"/>
                <a:ea typeface="Inter" pitchFamily="34" charset="-122"/>
                <a:cs typeface="Inter" pitchFamily="34" charset="-120"/>
              </a:rPr>
              <a:t> generation can be delegated; accountability for claims, citations, experiments, rebuttal commitments, and public summaries cannot.</a:t>
            </a:r>
            <a:endParaRPr lang="en-US" sz="700" dirty="0"/>
          </a:p>
        </p:txBody>
      </p:sp>
      <p:sp>
        <p:nvSpPr>
          <p:cNvPr id="10" name="Text 7"/>
          <p:cNvSpPr/>
          <p:nvPr/>
        </p:nvSpPr>
        <p:spPr>
          <a:xfrm>
            <a:off x="3300413" y="1621296"/>
            <a:ext cx="1357313" cy="300038"/>
          </a:xfrm>
          <a:prstGeom prst="rect">
            <a:avLst/>
          </a:prstGeom>
          <a:noFill/>
          <a:ln/>
        </p:spPr>
        <p:txBody>
          <a:bodyPr wrap="square" lIns="0" tIns="85090" rIns="0" bIns="0" rtlCol="0" anchor="t">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DESIGN PRINCIPLE</a:t>
            </a:r>
            <a:endParaRPr lang="en-US" sz="600" dirty="0"/>
          </a:p>
        </p:txBody>
      </p:sp>
      <p:sp>
        <p:nvSpPr>
          <p:cNvPr id="11" name="Text 8"/>
          <p:cNvSpPr/>
          <p:nvPr/>
        </p:nvSpPr>
        <p:spPr>
          <a:xfrm>
            <a:off x="4786313" y="1621296"/>
            <a:ext cx="3929063" cy="300038"/>
          </a:xfrm>
          <a:prstGeom prst="rect">
            <a:avLst/>
          </a:prstGeom>
          <a:noFill/>
          <a:ln/>
        </p:spPr>
        <p:txBody>
          <a:bodyPr wrap="square" lIns="0" tIns="85090" rIns="0" bIns="0" rtlCol="0" anchor="t">
            <a:spAutoFit/>
          </a:bodyPr>
          <a:lstStyle/>
          <a:p>
            <a:pPr marL="0" indent="0" algn="l">
              <a:buNone/>
            </a:pPr>
            <a:r>
              <a:rPr lang="en-US" sz="600" b="1" kern="0" spc="1" dirty="0">
                <a:solidFill>
                  <a:srgbClr val="1B2430">
                    <a:alpha val="58000"/>
                  </a:srgbClr>
                </a:solidFill>
                <a:latin typeface="Space Grotesk Bold" pitchFamily="34" charset="0"/>
                <a:ea typeface="Space Grotesk Bold" pitchFamily="34" charset="-122"/>
                <a:cs typeface="Space Grotesk Bold" pitchFamily="34" charset="-120"/>
              </a:rPr>
              <a:t>PRACTICAL MEANING</a:t>
            </a:r>
            <a:endParaRPr lang="en-US" sz="600" dirty="0"/>
          </a:p>
        </p:txBody>
      </p:sp>
      <p:sp>
        <p:nvSpPr>
          <p:cNvPr id="12" name="Text 9"/>
          <p:cNvSpPr/>
          <p:nvPr/>
        </p:nvSpPr>
        <p:spPr>
          <a:xfrm>
            <a:off x="3300413" y="1935621"/>
            <a:ext cx="1357313" cy="542925"/>
          </a:xfrm>
          <a:prstGeom prst="rect">
            <a:avLst/>
          </a:prstGeom>
          <a:noFill/>
          <a:ln/>
        </p:spPr>
        <p:txBody>
          <a:bodyPr wrap="square" lIns="0" tIns="110617" rIns="0" bIns="0" rtlCol="0" anchor="t">
            <a:spAutoFit/>
          </a:bodyPr>
          <a:lstStyle/>
          <a:p>
            <a:pPr marL="0" indent="0" algn="l">
              <a:lnSpc>
                <a:spcPct val="86400"/>
              </a:lnSpc>
              <a:buNone/>
            </a:pPr>
            <a:r>
              <a:rPr lang="en-US" sz="1000" b="1" dirty="0">
                <a:solidFill>
                  <a:srgbClr val="C06C3E"/>
                </a:solidFill>
                <a:latin typeface="Space Grotesk Bold" pitchFamily="34" charset="0"/>
                <a:ea typeface="Space Grotesk Bold" pitchFamily="34" charset="-122"/>
                <a:cs typeface="Space Grotesk Bold" pitchFamily="34" charset="-120"/>
              </a:rPr>
              <a:t>01</a:t>
            </a:r>
            <a:r>
              <a:rPr lang="en-US" sz="1000" b="1" dirty="0">
                <a:solidFill>
                  <a:srgbClr val="2F6F73"/>
                </a:solidFill>
                <a:latin typeface="Space Grotesk Bold" pitchFamily="34" charset="0"/>
                <a:ea typeface="Space Grotesk Bold" pitchFamily="34" charset="-122"/>
                <a:cs typeface="Space Grotesk Bold" pitchFamily="34" charset="-120"/>
              </a:rPr>
              <a:t>Maintain provenance</a:t>
            </a:r>
            <a:endParaRPr lang="en-US" sz="1000" dirty="0"/>
          </a:p>
        </p:txBody>
      </p:sp>
      <p:sp>
        <p:nvSpPr>
          <p:cNvPr id="13" name="Text 10"/>
          <p:cNvSpPr/>
          <p:nvPr/>
        </p:nvSpPr>
        <p:spPr>
          <a:xfrm>
            <a:off x="4786313" y="1935621"/>
            <a:ext cx="3929063" cy="542925"/>
          </a:xfrm>
          <a:prstGeom prst="rect">
            <a:avLst/>
          </a:prstGeom>
          <a:noFill/>
          <a:ln/>
        </p:spPr>
        <p:txBody>
          <a:bodyPr wrap="square" lIns="0" tIns="110617"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Link </a:t>
            </a:r>
            <a:r>
              <a:rPr lang="en-US" sz="750" b="1" dirty="0">
                <a:solidFill>
                  <a:srgbClr val="1B2430"/>
                </a:solidFill>
                <a:latin typeface="Inter Bold" pitchFamily="34" charset="0"/>
                <a:ea typeface="Inter Bold" pitchFamily="34" charset="-122"/>
                <a:cs typeface="Inter Bold" pitchFamily="34" charset="-120"/>
              </a:rPr>
              <a:t>hypotheses, papers, code, experiments, figures, claims, reviews, rebuttals, and revisions</a:t>
            </a:r>
            <a:r>
              <a:rPr lang="en-US" sz="800" dirty="0">
                <a:solidFill>
                  <a:srgbClr val="1B2430">
                    <a:alpha val="78000"/>
                  </a:srgbClr>
                </a:solidFill>
                <a:latin typeface="Inter" pitchFamily="34" charset="0"/>
                <a:ea typeface="Inter" pitchFamily="34" charset="-122"/>
                <a:cs typeface="Inter" pitchFamily="34" charset="-120"/>
              </a:rPr>
              <a:t> so downstream artifacts remain auditable.</a:t>
            </a:r>
            <a:endParaRPr lang="en-US" sz="800" dirty="0"/>
          </a:p>
        </p:txBody>
      </p:sp>
      <p:sp>
        <p:nvSpPr>
          <p:cNvPr id="14" name="Text 11"/>
          <p:cNvSpPr/>
          <p:nvPr/>
        </p:nvSpPr>
        <p:spPr>
          <a:xfrm>
            <a:off x="3300413" y="2489262"/>
            <a:ext cx="1357313" cy="542925"/>
          </a:xfrm>
          <a:prstGeom prst="rect">
            <a:avLst/>
          </a:prstGeom>
          <a:noFill/>
          <a:ln/>
        </p:spPr>
        <p:txBody>
          <a:bodyPr wrap="square" lIns="0" tIns="110617" rIns="0" bIns="0" rtlCol="0" anchor="t">
            <a:spAutoFit/>
          </a:bodyPr>
          <a:lstStyle/>
          <a:p>
            <a:pPr marL="0" indent="0" algn="l">
              <a:lnSpc>
                <a:spcPct val="86400"/>
              </a:lnSpc>
              <a:buNone/>
            </a:pPr>
            <a:r>
              <a:rPr lang="en-US" sz="1000" b="1" dirty="0">
                <a:solidFill>
                  <a:srgbClr val="C06C3E"/>
                </a:solidFill>
                <a:latin typeface="Space Grotesk Bold" pitchFamily="34" charset="0"/>
                <a:ea typeface="Space Grotesk Bold" pitchFamily="34" charset="-122"/>
                <a:cs typeface="Space Grotesk Bold" pitchFamily="34" charset="-120"/>
              </a:rPr>
              <a:t>02</a:t>
            </a:r>
            <a:r>
              <a:rPr lang="en-US" sz="1000" b="1" dirty="0">
                <a:solidFill>
                  <a:srgbClr val="2F6F73"/>
                </a:solidFill>
                <a:latin typeface="Space Grotesk Bold" pitchFamily="34" charset="0"/>
                <a:ea typeface="Space Grotesk Bold" pitchFamily="34" charset="-122"/>
                <a:cs typeface="Space Grotesk Bold" pitchFamily="34" charset="-120"/>
              </a:rPr>
              <a:t>Ground outputs in evidence</a:t>
            </a:r>
            <a:endParaRPr lang="en-US" sz="1000" dirty="0"/>
          </a:p>
        </p:txBody>
      </p:sp>
      <p:sp>
        <p:nvSpPr>
          <p:cNvPr id="15" name="Text 12"/>
          <p:cNvSpPr/>
          <p:nvPr/>
        </p:nvSpPr>
        <p:spPr>
          <a:xfrm>
            <a:off x="4786313" y="2489262"/>
            <a:ext cx="3929063" cy="542925"/>
          </a:xfrm>
          <a:prstGeom prst="rect">
            <a:avLst/>
          </a:prstGeom>
          <a:noFill/>
          <a:ln/>
        </p:spPr>
        <p:txBody>
          <a:bodyPr wrap="square" lIns="0" tIns="110617"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Use retrieval, execution, citation validation, logs, and reproducibility checks instead of textual self-judgment alone.</a:t>
            </a:r>
            <a:endParaRPr lang="en-US" sz="800" dirty="0"/>
          </a:p>
        </p:txBody>
      </p:sp>
      <p:sp>
        <p:nvSpPr>
          <p:cNvPr id="16" name="Text 13"/>
          <p:cNvSpPr/>
          <p:nvPr/>
        </p:nvSpPr>
        <p:spPr>
          <a:xfrm>
            <a:off x="3300413" y="3042903"/>
            <a:ext cx="1357313" cy="542925"/>
          </a:xfrm>
          <a:prstGeom prst="rect">
            <a:avLst/>
          </a:prstGeom>
          <a:noFill/>
          <a:ln/>
        </p:spPr>
        <p:txBody>
          <a:bodyPr wrap="square" lIns="0" tIns="110617" rIns="0" bIns="0" rtlCol="0" anchor="t">
            <a:spAutoFit/>
          </a:bodyPr>
          <a:lstStyle/>
          <a:p>
            <a:pPr marL="0" indent="0" algn="l">
              <a:lnSpc>
                <a:spcPct val="86400"/>
              </a:lnSpc>
              <a:buNone/>
            </a:pPr>
            <a:r>
              <a:rPr lang="en-US" sz="1000" b="1" dirty="0">
                <a:solidFill>
                  <a:srgbClr val="C06C3E"/>
                </a:solidFill>
                <a:latin typeface="Space Grotesk Bold" pitchFamily="34" charset="0"/>
                <a:ea typeface="Space Grotesk Bold" pitchFamily="34" charset="-122"/>
                <a:cs typeface="Space Grotesk Bold" pitchFamily="34" charset="-120"/>
              </a:rPr>
              <a:t>03</a:t>
            </a:r>
            <a:r>
              <a:rPr lang="en-US" sz="1000" b="1" dirty="0">
                <a:solidFill>
                  <a:srgbClr val="2F6F73"/>
                </a:solidFill>
                <a:latin typeface="Space Grotesk Bold" pitchFamily="34" charset="0"/>
                <a:ea typeface="Space Grotesk Bold" pitchFamily="34" charset="-122"/>
                <a:cs typeface="Space Grotesk Bold" pitchFamily="34" charset="-120"/>
              </a:rPr>
              <a:t>Checkpoint phase boundaries</a:t>
            </a:r>
            <a:endParaRPr lang="en-US" sz="1000" dirty="0"/>
          </a:p>
        </p:txBody>
      </p:sp>
      <p:sp>
        <p:nvSpPr>
          <p:cNvPr id="17" name="Text 14"/>
          <p:cNvSpPr/>
          <p:nvPr/>
        </p:nvSpPr>
        <p:spPr>
          <a:xfrm>
            <a:off x="4786313" y="3042903"/>
            <a:ext cx="3929063" cy="542925"/>
          </a:xfrm>
          <a:prstGeom prst="rect">
            <a:avLst/>
          </a:prstGeom>
          <a:noFill/>
          <a:ln/>
        </p:spPr>
        <p:txBody>
          <a:bodyPr wrap="square" lIns="0" tIns="110617"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Verify handoffs where errors propagate: idea to experiment, evidence to claim, review to revision, and paper to public artifact.</a:t>
            </a:r>
            <a:endParaRPr lang="en-US" sz="800" dirty="0"/>
          </a:p>
        </p:txBody>
      </p:sp>
      <p:sp>
        <p:nvSpPr>
          <p:cNvPr id="18" name="Text 15"/>
          <p:cNvSpPr/>
          <p:nvPr/>
        </p:nvSpPr>
        <p:spPr>
          <a:xfrm>
            <a:off x="3300413" y="3596543"/>
            <a:ext cx="1357313" cy="542925"/>
          </a:xfrm>
          <a:prstGeom prst="rect">
            <a:avLst/>
          </a:prstGeom>
          <a:noFill/>
          <a:ln/>
        </p:spPr>
        <p:txBody>
          <a:bodyPr wrap="square" lIns="0" tIns="110617" rIns="0" bIns="0" rtlCol="0" anchor="t">
            <a:spAutoFit/>
          </a:bodyPr>
          <a:lstStyle/>
          <a:p>
            <a:pPr marL="0" indent="0" algn="l">
              <a:lnSpc>
                <a:spcPct val="86400"/>
              </a:lnSpc>
              <a:buNone/>
            </a:pPr>
            <a:r>
              <a:rPr lang="en-US" sz="1000" b="1" dirty="0">
                <a:solidFill>
                  <a:srgbClr val="C06C3E"/>
                </a:solidFill>
                <a:latin typeface="Space Grotesk Bold" pitchFamily="34" charset="0"/>
                <a:ea typeface="Space Grotesk Bold" pitchFamily="34" charset="-122"/>
                <a:cs typeface="Space Grotesk Bold" pitchFamily="34" charset="-120"/>
              </a:rPr>
              <a:t>04</a:t>
            </a:r>
            <a:r>
              <a:rPr lang="en-US" sz="1000" b="1" dirty="0">
                <a:solidFill>
                  <a:srgbClr val="2F6F73"/>
                </a:solidFill>
                <a:latin typeface="Space Grotesk Bold" pitchFamily="34" charset="0"/>
                <a:ea typeface="Space Grotesk Bold" pitchFamily="34" charset="-122"/>
                <a:cs typeface="Space Grotesk Bold" pitchFamily="34" charset="-120"/>
              </a:rPr>
              <a:t>Make AI use transparent</a:t>
            </a:r>
            <a:endParaRPr lang="en-US" sz="1000" dirty="0"/>
          </a:p>
        </p:txBody>
      </p:sp>
      <p:sp>
        <p:nvSpPr>
          <p:cNvPr id="19" name="Text 16"/>
          <p:cNvSpPr/>
          <p:nvPr/>
        </p:nvSpPr>
        <p:spPr>
          <a:xfrm>
            <a:off x="4786313" y="3596543"/>
            <a:ext cx="3929063" cy="542925"/>
          </a:xfrm>
          <a:prstGeom prst="rect">
            <a:avLst/>
          </a:prstGeom>
          <a:noFill/>
          <a:ln/>
        </p:spPr>
        <p:txBody>
          <a:bodyPr wrap="square" lIns="0" tIns="110617" rIns="0" bIns="0" rtlCol="0" anchor="t">
            <a:spAutoFit/>
          </a:bodyPr>
          <a:lstStyle/>
          <a:p>
            <a:pPr marL="0" indent="0" algn="l">
              <a:lnSpc>
                <a:spcPct val="108000"/>
              </a:lnSpc>
              <a:buNone/>
            </a:pPr>
            <a:r>
              <a:rPr lang="en-US" sz="800" dirty="0">
                <a:solidFill>
                  <a:srgbClr val="1B2430">
                    <a:alpha val="78000"/>
                  </a:srgbClr>
                </a:solidFill>
                <a:latin typeface="Inter" pitchFamily="34" charset="0"/>
                <a:ea typeface="Inter" pitchFamily="34" charset="-122"/>
                <a:cs typeface="Inter" pitchFamily="34" charset="-120"/>
              </a:rPr>
              <a:t>Shift governance from unreliable detection toward disclosure, attribution, and accountability for high-risk uses.</a:t>
            </a:r>
            <a:endParaRPr lang="en-US" sz="800" dirty="0"/>
          </a:p>
        </p:txBody>
      </p:sp>
      <p:sp>
        <p:nvSpPr>
          <p:cNvPr id="20" name="Text 17"/>
          <p:cNvSpPr/>
          <p:nvPr/>
        </p:nvSpPr>
        <p:spPr>
          <a:xfrm>
            <a:off x="428625" y="4558996"/>
            <a:ext cx="1785938" cy="418300"/>
          </a:xfrm>
          <a:prstGeom prst="rect">
            <a:avLst/>
          </a:prstGeom>
          <a:noFill/>
          <a:ln/>
        </p:spPr>
        <p:txBody>
          <a:bodyPr wrap="square" lIns="0" tIns="0" rIns="0" bIns="0" rtlCol="0" anchor="t">
            <a:spAutoFit/>
          </a:bodyPr>
          <a:lstStyle/>
          <a:p>
            <a:pPr marL="0" indent="0" algn="l">
              <a:lnSpc>
                <a:spcPct val="84000"/>
              </a:lnSpc>
              <a:buNone/>
            </a:pPr>
            <a:r>
              <a:rPr lang="en-US" sz="1200" b="1" kern="0" spc="-1" dirty="0">
                <a:solidFill>
                  <a:srgbClr val="C06C3E"/>
                </a:solidFill>
                <a:latin typeface="Space Grotesk Bold" pitchFamily="34" charset="0"/>
                <a:ea typeface="Space Grotesk Bold" pitchFamily="34" charset="-122"/>
                <a:cs typeface="Space Grotesk Bold" pitchFamily="34" charset="-120"/>
              </a:rPr>
              <a:t>Closing takeaway</a:t>
            </a:r>
            <a:endParaRPr lang="en-US" sz="1200" dirty="0"/>
          </a:p>
        </p:txBody>
      </p:sp>
      <p:sp>
        <p:nvSpPr>
          <p:cNvPr id="21" name="Text 18"/>
          <p:cNvSpPr/>
          <p:nvPr/>
        </p:nvSpPr>
        <p:spPr>
          <a:xfrm>
            <a:off x="2414588" y="4558996"/>
            <a:ext cx="6286500" cy="418300"/>
          </a:xfrm>
          <a:prstGeom prst="rect">
            <a:avLst/>
          </a:prstGeom>
          <a:noFill/>
          <a:ln/>
        </p:spPr>
        <p:txBody>
          <a:bodyPr wrap="square" lIns="0" tIns="0" rIns="0" bIns="0" rtlCol="0" anchor="t">
            <a:spAutoFit/>
          </a:bodyPr>
          <a:lstStyle/>
          <a:p>
            <a:pPr marL="0" indent="0" algn="l">
              <a:lnSpc>
                <a:spcPct val="97600"/>
              </a:lnSpc>
              <a:buNone/>
            </a:pPr>
            <a:r>
              <a:rPr lang="en-US" sz="1200" b="1" dirty="0">
                <a:solidFill>
                  <a:srgbClr val="2F6F73"/>
                </a:solidFill>
                <a:latin typeface="Space Grotesk Bold" pitchFamily="34" charset="0"/>
                <a:ea typeface="Space Grotesk Bold" pitchFamily="34" charset="-122"/>
                <a:cs typeface="Space Grotesk Bold" pitchFamily="34" charset="-120"/>
              </a:rPr>
              <a:t>AI can amplify human creativity and rigor when it preserves judgment, interpretation, experimental design, argumentation, and final responsibility.</a:t>
            </a:r>
            <a:endParaRPr lang="en-US" sz="1200" dirty="0"/>
          </a:p>
        </p:txBody>
      </p:sp>
      <p:sp>
        <p:nvSpPr>
          <p:cNvPr id="22" name="Text 19"/>
          <p:cNvSpPr/>
          <p:nvPr/>
        </p:nvSpPr>
        <p:spPr>
          <a:xfrm>
            <a:off x="428625" y="4947047"/>
            <a:ext cx="2356489" cy="89297"/>
          </a:xfrm>
          <a:prstGeom prst="rect">
            <a:avLst/>
          </a:prstGeom>
          <a:noFill/>
          <a:ln/>
        </p:spPr>
        <p:txBody>
          <a:bodyPr wrap="square" lIns="0" tIns="0" rIns="0" bIns="0" rtlCol="0" anchor="t">
            <a:spAutoFit/>
          </a:bodyPr>
          <a:lstStyle/>
          <a:p>
            <a:pPr marL="0" indent="0" algn="l">
              <a:buNone/>
            </a:pPr>
            <a:r>
              <a:rPr lang="en-US" sz="550" kern="0" spc="1" dirty="0">
                <a:solidFill>
                  <a:srgbClr val="1B2430">
                    <a:alpha val="48000"/>
                  </a:srgbClr>
                </a:solidFill>
                <a:latin typeface="Inter" pitchFamily="34" charset="0"/>
                <a:ea typeface="Inter" pitchFamily="34" charset="-122"/>
                <a:cs typeface="Inter" pitchFamily="34" charset="-120"/>
              </a:rPr>
              <a:t>KONG ET AL., AI FOR AUTO-RESEARCH: A SURVEY, 2026</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2709</Words>
  <Application>Microsoft Macintosh PowerPoint</Application>
  <PresentationFormat>On-screen Show (16:9)</PresentationFormat>
  <Paragraphs>339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Inter</vt:lpstr>
      <vt:lpstr>Inter Black</vt:lpstr>
      <vt:lpstr>Inter Bold</vt:lpstr>
      <vt:lpstr>Inter ExtraBold</vt:lpstr>
      <vt:lpstr>Space Grotesk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Kong Lingdong</cp:lastModifiedBy>
  <cp:revision>3</cp:revision>
  <dcterms:created xsi:type="dcterms:W3CDTF">2026-05-19T00:04:12Z</dcterms:created>
  <dcterms:modified xsi:type="dcterms:W3CDTF">2026-05-19T00:06:18Z</dcterms:modified>
</cp:coreProperties>
</file>