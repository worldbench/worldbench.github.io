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Benchmarks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Creation</c:v>
                </c:pt>
                <c:pt idx="1">
                  <c:v>Writing</c:v>
                </c:pt>
                <c:pt idx="2">
                  <c:v>Validation</c:v>
                </c:pt>
                <c:pt idx="3">
                  <c:v>Dissemination</c:v>
                </c:pt>
                <c:pt idx="4">
                  <c:v>Cross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</c:v>
                </c:pt>
                <c:pt idx="1">
                  <c:v>3</c:v>
                </c:pt>
                <c:pt idx="2">
                  <c:v>6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21-5A43-AD99-7487FAFC54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63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640080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</a:rPr>
              <a:t>AI for Auto-Research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3232" y="120700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7D98"/>
                </a:solidFill>
              </a:rPr>
              <a:t>A Survey of AI Across the Complete Academic Research Lifecycle</a:t>
            </a:r>
            <a:endParaRPr lang="en-US" sz="1250" dirty="0"/>
          </a:p>
        </p:txBody>
      </p:sp>
      <p:pic>
        <p:nvPicPr>
          <p:cNvPr id="6" name="Image 0" descr="/mnt/data/auto_research_assets/fig_life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960120"/>
            <a:ext cx="5166360" cy="2971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" y="2176272"/>
            <a:ext cx="4480560" cy="1170432"/>
          </a:xfrm>
          <a:prstGeom prst="roundRect">
            <a:avLst>
              <a:gd name="adj" fmla="val 6250"/>
            </a:avLst>
          </a:prstGeom>
          <a:solidFill>
            <a:srgbClr val="ECFDF5"/>
          </a:solidFill>
          <a:ln w="12700">
            <a:solidFill>
              <a:srgbClr val="CD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87552" y="2404872"/>
            <a:ext cx="4005072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</a:rPr>
              <a:t>From local assistance to lifecycle-level research automation.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5840" y="3044952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</a:rPr>
              <a:t>Core framing of the survey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86384" y="3794760"/>
            <a:ext cx="9601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77824" y="39136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4A24B"/>
                </a:solidFill>
              </a:rPr>
              <a:t>4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50392" y="4233672"/>
            <a:ext cx="832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27D98"/>
                </a:solidFill>
              </a:rPr>
              <a:t>phases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1956816" y="3794760"/>
            <a:ext cx="9601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048256" y="39136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57B9D"/>
                </a:solidFill>
              </a:rPr>
              <a:t>8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020824" y="4233672"/>
            <a:ext cx="832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27D98"/>
                </a:solidFill>
              </a:rPr>
              <a:t>stages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127248" y="3794760"/>
            <a:ext cx="9601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218688" y="39136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B5EA7"/>
                </a:solidFill>
              </a:rPr>
              <a:t>5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191256" y="4233672"/>
            <a:ext cx="832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27D98"/>
                </a:solidFill>
              </a:rPr>
              <a:t>method families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297680" y="3794760"/>
            <a:ext cx="9601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389120" y="39136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</a:rPr>
              <a:t>50+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361688" y="4233672"/>
            <a:ext cx="832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27D98"/>
                </a:solidFill>
              </a:rPr>
              <a:t>benchmarks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749808" y="489204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A43"/>
                </a:solidFill>
              </a:rPr>
              <a:t>Paper focus: capability, reliability, and governance boundaries for AI-assisted research.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survey now?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systems are moving from single-task assistants to autonomous research workflows.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22402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73152" cy="2240280"/>
          </a:xfrm>
          <a:prstGeom prst="rect">
            <a:avLst/>
          </a:prstGeom>
          <a:solidFill>
            <a:srgbClr val="54A24B"/>
          </a:solidFill>
          <a:ln w="12700">
            <a:solidFill>
              <a:srgbClr val="54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5819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Cost frontier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1920240" cy="1581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pipelines can generate complete research-like artifacts at very low cost.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417320"/>
            <a:ext cx="22402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37560" y="1417320"/>
            <a:ext cx="73152" cy="224028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66160" y="15819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$15 papers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1920240"/>
            <a:ext cx="1920240" cy="1581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can run for many hours, execute experiments, draft manuscripts, and simulate critique.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1417320"/>
            <a:ext cx="22402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89320" y="1417320"/>
            <a:ext cx="73152" cy="22402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15819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 horizon agents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1920240"/>
            <a:ext cx="1920240" cy="1581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now span ideation, retrieval, coding, writing, review, rebuttal, and Paper2X.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41080" y="1417320"/>
            <a:ext cx="22402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41080" y="1417320"/>
            <a:ext cx="73152" cy="2240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869680" y="15819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systems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69680" y="1920240"/>
            <a:ext cx="1920240" cy="1581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field lacks a unified analysis of reliability across the complete lifecycle.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4343400"/>
            <a:ext cx="10332720" cy="1143000"/>
          </a:xfrm>
          <a:prstGeom prst="roundRect">
            <a:avLst>
              <a:gd name="adj" fmla="val 6400"/>
            </a:avLst>
          </a:prstGeom>
          <a:solidFill>
            <a:srgbClr val="ECFDF5"/>
          </a:solidFill>
          <a:ln w="12700">
            <a:solidFill>
              <a:srgbClr val="CD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52144" y="4572000"/>
            <a:ext cx="985723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</a:rPr>
              <a:t>The bottleneck is no longer whether AI can produce research-like artifacts; it is whether AI can preserve evidence, judgment, provenance, and accountability.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170432" y="5184648"/>
            <a:ext cx="9820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</a:rPr>
              <a:t>Motivation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Central thesis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Generation has outpaced scientific verification.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4A24B"/>
                </a:solidFill>
              </a:rPr>
              <a:t>What AI is increasingly good at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41248" y="1975104"/>
            <a:ext cx="443484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43B53"/>
                </a:solidFill>
              </a:rPr>
              <a:t>Producing fluent artifacts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43B53"/>
                </a:solidFill>
              </a:rPr>
              <a:t>Following templates and rubrics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43B53"/>
                </a:solidFill>
              </a:rPr>
              <a:t>Retrieval-grounded synthesis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43B53"/>
                </a:solidFill>
              </a:rPr>
              <a:t>Tool-mediated execution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43B53"/>
                </a:solidFill>
              </a:rPr>
              <a:t>Fast iteration and formatting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29400" y="141732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76F51"/>
                </a:solidFill>
              </a:rPr>
              <a:t>What remains fragile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20840" y="1975104"/>
            <a:ext cx="448056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43B53"/>
                </a:solidFill>
              </a:rPr>
              <a:t>Novelty and research promise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43B53"/>
                </a:solidFill>
              </a:rPr>
              <a:t>Semantic correctness of experiments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43B53"/>
                </a:solidFill>
              </a:rPr>
              <a:t>Faithful claim-evidence links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43B53"/>
                </a:solidFill>
              </a:rPr>
              <a:t>Review judgment and robustness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43B53"/>
                </a:solidFill>
              </a:rPr>
              <a:t>Accountability across phases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40680" y="1408176"/>
            <a:ext cx="1042416" cy="347472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5074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A43"/>
                </a:solidFill>
              </a:rPr>
              <a:t>Reliable deployment = human-governed collaboration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 and corpus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survey covers public systems, tools, and benchmarks through April 2026.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141732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73152" cy="201168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1832" y="158191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Coverage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1832" y="1920240"/>
            <a:ext cx="3154680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research workflows in computer science and machine learning, including cross-disciplinary systems when they support research tasks.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07408" y="141732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07408" y="1417320"/>
            <a:ext cx="73152" cy="2011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36008" y="158191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Collection strategy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36008" y="1920240"/>
            <a:ext cx="3154680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 search, citation snowballing, community repositories, open-source projects, and benchmark leaderboards.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01584" y="141732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01584" y="1417320"/>
            <a:ext cx="73152" cy="2011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30184" y="158191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Inclusion criteria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30184" y="1920240"/>
            <a:ext cx="3154680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Targets a lifecycle stage, is publicly accessible, and provides enough method or evaluation detail for critical analysis.</a:t>
            </a:r>
            <a:endParaRPr lang="en-US" sz="1100" dirty="0"/>
          </a:p>
        </p:txBody>
      </p:sp>
      <p:pic>
        <p:nvPicPr>
          <p:cNvPr id="19" name="Image 0" descr="/mnt/data/auto_research_assets/paper_header_abs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840480"/>
            <a:ext cx="10424160" cy="19659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Lifecycle framework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epistemological phases organize the full research process.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230428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7780">
            <a:solidFill>
              <a:srgbClr val="54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17904" y="1143000"/>
            <a:ext cx="685800" cy="685800"/>
          </a:xfrm>
          <a:prstGeom prst="ellipse">
            <a:avLst/>
          </a:prstGeom>
          <a:solidFill>
            <a:srgbClr val="54A24B"/>
          </a:solidFill>
          <a:ln w="12700">
            <a:solidFill>
              <a:srgbClr val="54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17904" y="13075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96112" y="194767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Creation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2432304"/>
            <a:ext cx="190195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3B53"/>
                </a:solidFill>
              </a:rPr>
              <a:t>Produce ideas, evidence, code, tables, and figures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45536" y="2240280"/>
            <a:ext cx="256032" cy="27432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47872" y="1600200"/>
            <a:ext cx="230428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778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34256" y="114300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34256" y="13075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12464" y="194767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Writing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49040" y="2432304"/>
            <a:ext cx="190195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3B53"/>
                </a:solidFill>
              </a:rPr>
              <a:t>Organize evidence into scholarly arguments and manuscripts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61888" y="2240280"/>
            <a:ext cx="256032" cy="27432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64224" y="1600200"/>
            <a:ext cx="230428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778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0608" y="1143000"/>
            <a:ext cx="685800" cy="68580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50608" y="13075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28816" y="194767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Validation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65392" y="2432304"/>
            <a:ext cx="190195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3B53"/>
                </a:solidFill>
              </a:rPr>
              <a:t>Subject claims to review, critique, rebuttal, and revision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778240" y="2240280"/>
            <a:ext cx="256032" cy="27432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180576" y="1600200"/>
            <a:ext cx="230428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778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966960" y="114300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966960" y="13075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345168" y="194767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Dissemination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81744" y="2432304"/>
            <a:ext cx="190195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3B53"/>
                </a:solidFill>
              </a:rPr>
              <a:t>Translate papers into posters, slides, videos, pages, and agents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188720" y="4389120"/>
            <a:ext cx="9784080" cy="1051560"/>
          </a:xfrm>
          <a:prstGeom prst="roundRect">
            <a:avLst>
              <a:gd name="adj" fmla="val 6957"/>
            </a:avLst>
          </a:prstGeom>
          <a:solidFill>
            <a:srgbClr val="ECFDF5"/>
          </a:solidFill>
          <a:ln w="12700">
            <a:solidFill>
              <a:srgbClr val="CD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426464" y="4617720"/>
            <a:ext cx="9308592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</a:rPr>
              <a:t>The lifecycle is not strictly linear: review can trigger new experiments, and dissemination can reveal ambiguities that require rewriting.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444752" y="5138928"/>
            <a:ext cx="9272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</a:rPr>
              <a:t>Feedback loops are first-class objects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Eight stages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taxonomy separates different AI capabilities and risk profiles.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54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9808" y="1545336"/>
            <a:ext cx="347472" cy="347472"/>
          </a:xfrm>
          <a:prstGeom prst="ellipse">
            <a:avLst/>
          </a:prstGeom>
          <a:solidFill>
            <a:srgbClr val="54A24B"/>
          </a:solidFill>
          <a:ln w="12700">
            <a:solidFill>
              <a:srgbClr val="54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162763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07008" y="153619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02A43"/>
                </a:solidFill>
              </a:rPr>
              <a:t>Idea Generation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207008" y="1810512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B53"/>
                </a:solidFill>
              </a:rPr>
              <a:t>Hypotheses, research questions, candidate directions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3520440" y="1417320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54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30168" y="1545336"/>
            <a:ext cx="347472" cy="347472"/>
          </a:xfrm>
          <a:prstGeom prst="ellipse">
            <a:avLst/>
          </a:prstGeom>
          <a:solidFill>
            <a:srgbClr val="54A24B"/>
          </a:solidFill>
          <a:ln w="12700">
            <a:solidFill>
              <a:srgbClr val="54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30168" y="162763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87368" y="153619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02A43"/>
                </a:solidFill>
              </a:rPr>
              <a:t>Literature Review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4087368" y="1810512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B53"/>
                </a:solidFill>
              </a:rPr>
              <a:t>Retrieval, synthesis, citation support, deep research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400800" y="1417320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54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10528" y="1545336"/>
            <a:ext cx="347472" cy="347472"/>
          </a:xfrm>
          <a:prstGeom prst="ellipse">
            <a:avLst/>
          </a:prstGeom>
          <a:solidFill>
            <a:srgbClr val="54A24B"/>
          </a:solidFill>
          <a:ln w="12700">
            <a:solidFill>
              <a:srgbClr val="54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10528" y="162763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67728" y="153619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02A43"/>
                </a:solidFill>
              </a:rPr>
              <a:t>Coding &amp; Experiments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6967728" y="1810512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B53"/>
                </a:solidFill>
              </a:rPr>
              <a:t>Code generation, paper-to-code, orchestration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9281160" y="1417320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54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390888" y="1545336"/>
            <a:ext cx="347472" cy="347472"/>
          </a:xfrm>
          <a:prstGeom prst="ellipse">
            <a:avLst/>
          </a:prstGeom>
          <a:solidFill>
            <a:srgbClr val="54A24B"/>
          </a:solidFill>
          <a:ln w="12700">
            <a:solidFill>
              <a:srgbClr val="54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390888" y="162763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848088" y="153619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02A43"/>
                </a:solidFill>
              </a:rPr>
              <a:t>Tables &amp; Figures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9848088" y="1810512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B53"/>
                </a:solidFill>
              </a:rPr>
              <a:t>Plots, method diagrams, formulas, pseudocode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40080" y="3410712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49808" y="3538728"/>
            <a:ext cx="347472" cy="347472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49808" y="362102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07008" y="3529584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02A43"/>
                </a:solidFill>
              </a:rPr>
              <a:t>Paper Writing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207008" y="3803904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B53"/>
                </a:solidFill>
              </a:rPr>
              <a:t>Drafting, editing, citation-aware manuscript construction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3520440" y="3410712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630168" y="3538728"/>
            <a:ext cx="347472" cy="347472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30168" y="362102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087368" y="3529584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02A43"/>
                </a:solidFill>
              </a:rPr>
              <a:t>Peer Review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4087368" y="3803904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B53"/>
                </a:solidFill>
              </a:rPr>
              <a:t>Review drafting, meta-review support, reviewer matching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6400800" y="3410712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510528" y="3538728"/>
            <a:ext cx="347472" cy="347472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10528" y="362102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67728" y="3529584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02A43"/>
                </a:solidFill>
              </a:rPr>
              <a:t>Rebuttal &amp; Revision</a:t>
            </a:r>
            <a:endParaRPr lang="en-US" sz="1220" dirty="0"/>
          </a:p>
        </p:txBody>
      </p:sp>
      <p:sp>
        <p:nvSpPr>
          <p:cNvPr id="41" name="Text 39"/>
          <p:cNvSpPr/>
          <p:nvPr/>
        </p:nvSpPr>
        <p:spPr>
          <a:xfrm>
            <a:off x="6967728" y="3803904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B53"/>
                </a:solidFill>
              </a:rPr>
              <a:t>Comment analysis, response writing, revision planning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9281160" y="3410712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390888" y="3538728"/>
            <a:ext cx="347472" cy="3474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390888" y="362102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848088" y="3529584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02A43"/>
                </a:solidFill>
              </a:rPr>
              <a:t>Paper2X</a:t>
            </a:r>
            <a:endParaRPr lang="en-US" sz="1220" dirty="0"/>
          </a:p>
        </p:txBody>
      </p:sp>
      <p:sp>
        <p:nvSpPr>
          <p:cNvPr id="46" name="Text 44"/>
          <p:cNvSpPr/>
          <p:nvPr/>
        </p:nvSpPr>
        <p:spPr>
          <a:xfrm>
            <a:off x="9848088" y="3803904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B53"/>
                </a:solidFill>
              </a:rPr>
              <a:t>Posters, slides, videos, social media, project pages, agents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841248" y="57150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Each stage has different grounding signals, evaluation protocols, and failure modes.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Methodological families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systems combine a small set of recurring design patterns.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1389888"/>
            <a:ext cx="199339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" y="1389888"/>
            <a:ext cx="73152" cy="1874520"/>
          </a:xfrm>
          <a:prstGeom prst="rect">
            <a:avLst/>
          </a:prstGeom>
          <a:solidFill>
            <a:srgbClr val="54A24B"/>
          </a:solidFill>
          <a:ln w="12700">
            <a:solidFill>
              <a:srgbClr val="54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86968" y="1554480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6968" y="1892808"/>
            <a:ext cx="1673352" cy="1216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Templates, roles, rubrics, CoT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62656" y="1389888"/>
            <a:ext cx="199339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62656" y="1389888"/>
            <a:ext cx="73152" cy="187452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91256" y="1554480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91256" y="1892808"/>
            <a:ext cx="1673352" cy="1216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Grounding in papers, code, logs, graphs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66944" y="1389888"/>
            <a:ext cx="199339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66944" y="1389888"/>
            <a:ext cx="73152" cy="18745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95544" y="1554480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Agentic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95544" y="1892808"/>
            <a:ext cx="1673352" cy="1216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Planning, tools, memory, self-reflection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71232" y="1389888"/>
            <a:ext cx="199339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571232" y="1389888"/>
            <a:ext cx="73152" cy="18745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99832" y="1554480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99832" y="1892808"/>
            <a:ext cx="1673352" cy="1216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SFT, preference, RL, domain adaptation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875520" y="1389888"/>
            <a:ext cx="199339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875520" y="1389888"/>
            <a:ext cx="73152" cy="18745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104120" y="1554480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Hybrid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104120" y="1892808"/>
            <a:ext cx="1673352" cy="1216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Coupled orchestration with grounding and scoring</a:t>
            </a:r>
            <a:endParaRPr lang="en-US" sz="1050" dirty="0"/>
          </a:p>
        </p:txBody>
      </p:sp>
      <p:pic>
        <p:nvPicPr>
          <p:cNvPr id="27" name="Image 0" descr="/mnt/data/auto_research_assets/table_method_famil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03320"/>
            <a:ext cx="10424160" cy="21031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Development timeline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field shifted from local assistance to multi-stage orchestration.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5840" y="2468880"/>
            <a:ext cx="9875520" cy="0"/>
          </a:xfrm>
          <a:prstGeom prst="line">
            <a:avLst/>
          </a:prstGeom>
          <a:noFill/>
          <a:ln w="254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51560" y="2286000"/>
            <a:ext cx="384048" cy="384048"/>
          </a:xfrm>
          <a:prstGeom prst="ellipse">
            <a:avLst/>
          </a:prstGeom>
          <a:solidFill>
            <a:srgbClr val="54A24B"/>
          </a:solidFill>
          <a:ln w="12700">
            <a:solidFill>
              <a:srgbClr val="54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944368"/>
            <a:ext cx="2971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944368"/>
            <a:ext cx="73152" cy="1508760"/>
          </a:xfrm>
          <a:prstGeom prst="rect">
            <a:avLst/>
          </a:prstGeom>
          <a:solidFill>
            <a:srgbClr val="54A24B"/>
          </a:solidFill>
          <a:ln w="12700">
            <a:solidFill>
              <a:srgbClr val="54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1089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2024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447288"/>
            <a:ext cx="265176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Single-stage assistants: literature QA, coding, domain-specific workflows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20640" y="2286000"/>
            <a:ext cx="384048" cy="384048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17720" y="2944368"/>
            <a:ext cx="2971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17720" y="2944368"/>
            <a:ext cx="73152" cy="150876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31089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3447288"/>
            <a:ext cx="265176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end-to-end agents: idea -&gt; experiment -&gt; paper -&gt; review-style evaluation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89720" y="2286000"/>
            <a:ext cx="384048" cy="38404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686800" y="2944368"/>
            <a:ext cx="2971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86800" y="2944368"/>
            <a:ext cx="73152" cy="1508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915400" y="31089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2025-2026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15400" y="3447288"/>
            <a:ext cx="265176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Specialized agents and benchmarks for nearly every lifecycle stage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4400" y="4983480"/>
            <a:ext cx="1033272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CD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52144" y="5212080"/>
            <a:ext cx="985723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</a:rPr>
              <a:t>This trajectory makes orchestration, evaluation, reliability, and governance as important as model scale.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170432" y="5458968"/>
            <a:ext cx="9820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</a:rPr>
              <a:t>Timeline implication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94944" y="914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4A24B"/>
                </a:solidFill>
              </a:rPr>
              <a:t>P1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76656" y="135331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</a:rPr>
              <a:t>Creation: producing research artifacts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212848"/>
            <a:ext cx="576072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</a:rPr>
              <a:t>The richest current ecosystem, but uneven maturity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</a:rPr>
              <a:t>Core question: what is the contribution and what evidence supports it?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</a:rPr>
              <a:t>Four stages: ideation, literature review, coding/experiments, tables/figures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51663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54A24B"/>
          </a:solidFill>
          <a:ln w="12700">
            <a:solidFill>
              <a:srgbClr val="54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529437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Creation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555955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</a:rPr>
              <a:t>Ideas, evidence, artifacts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19272" y="5422392"/>
            <a:ext cx="256032" cy="201168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66160" y="51663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75888" y="529437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Writing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75888" y="555955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</a:rPr>
              <a:t>Argument and manuscript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53912" y="5422392"/>
            <a:ext cx="256032" cy="201168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0" y="51663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10528" y="529437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Validation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10528" y="555955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</a:rPr>
              <a:t>Critique and revision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988552" y="5422392"/>
            <a:ext cx="256032" cy="201168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235440" y="51663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345168" y="529437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Dissemination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45168" y="555955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</a:rPr>
              <a:t>Paper2X communication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S1 - Idea generation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apparent novelty, but persistent execution and feasibility gaps.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73152" cy="2103120"/>
          </a:xfrm>
          <a:prstGeom prst="rect">
            <a:avLst/>
          </a:prstGeom>
          <a:solidFill>
            <a:srgbClr val="54A24B"/>
          </a:solidFill>
          <a:ln w="12700">
            <a:solidFill>
              <a:srgbClr val="54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5361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Approaches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3017520" cy="1444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prompting; retrieval- and knowledge-graph-grounded generation; multi-agent debate; learned scoring; test-time search.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89120" y="1371600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89120" y="1371600"/>
            <a:ext cx="73152" cy="210312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15361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1874520"/>
            <a:ext cx="3017520" cy="1444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 increasingly connect generated ideas to literature, trends, and structured scientific knowledge.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092440" y="1371600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92440" y="1371600"/>
            <a:ext cx="73152" cy="21031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21040" y="15361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limitation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1874520"/>
            <a:ext cx="3017520" cy="1444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 often look novel before implementation but degrade after execution; LLM judges may overvalue surface novelty.</a:t>
            </a:r>
            <a:endParaRPr lang="en-US" sz="1080" dirty="0"/>
          </a:p>
        </p:txBody>
      </p:sp>
      <p:pic>
        <p:nvPicPr>
          <p:cNvPr id="19" name="Image 0" descr="/mnt/data/auto_research_assets/findings_idea_gene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822192"/>
            <a:ext cx="10012680" cy="20116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S2 - Literature review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of the fastest-maturing areas because it is externally grounded.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49834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73152" cy="148132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58191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Retrieval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920240"/>
            <a:ext cx="46634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retrieval, citation graphs, agentic multi-step search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49834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09360" y="1417320"/>
            <a:ext cx="73152" cy="14813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37960" y="158191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Synthesis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1920240"/>
            <a:ext cx="46634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Survey generation, outline planning, topic organization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3383280"/>
            <a:ext cx="49834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" y="3383280"/>
            <a:ext cx="73152" cy="148132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35478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research agents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886200"/>
            <a:ext cx="46634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-&gt; retrieve -&gt; read -&gt; update -&gt; synthesize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383280"/>
            <a:ext cx="49834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0" y="3383280"/>
            <a:ext cx="73152" cy="14813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37960" y="35478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3886200"/>
            <a:ext cx="46634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 accuracy, coverage completeness, coherence, grounding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4400" y="5486400"/>
            <a:ext cx="10241280" cy="502920"/>
          </a:xfrm>
          <a:prstGeom prst="roundRect">
            <a:avLst>
              <a:gd name="adj" fmla="val 14545"/>
            </a:avLst>
          </a:prstGeom>
          <a:solidFill>
            <a:srgbClr val="ECFDF5"/>
          </a:solidFill>
          <a:ln w="12700">
            <a:solidFill>
              <a:srgbClr val="CD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52144" y="5715000"/>
            <a:ext cx="9765792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</a:rPr>
              <a:t>Key bottleneck: generating plausible related-work text is easier than grounding each claim in the correct source.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170432" y="5687568"/>
            <a:ext cx="9729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</a:rPr>
              <a:t>Literature review insight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S3 - Coding and experiments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Executable code is not enough: research code must implement the intended algorithm.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3533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</a:rPr>
              <a:t>Capability progression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2148840" cy="868680"/>
          </a:xfrm>
          <a:prstGeom prst="roundRect">
            <a:avLst>
              <a:gd name="adj" fmla="val 6316"/>
            </a:avLst>
          </a:prstGeom>
          <a:solidFill>
            <a:srgbClr val="54A24B"/>
          </a:solidFill>
          <a:ln w="12700">
            <a:solidFill>
              <a:srgbClr val="54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20299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Code generation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231343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local code tasks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90672" y="2148840"/>
            <a:ext cx="256032" cy="219456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20440" y="1874520"/>
            <a:ext cx="2148840" cy="868680"/>
          </a:xfrm>
          <a:prstGeom prst="roundRect">
            <a:avLst>
              <a:gd name="adj" fmla="val 6316"/>
            </a:avLst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30168" y="20299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Paper-to-code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30168" y="231343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reproduce methods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88152" y="2148840"/>
            <a:ext cx="256032" cy="219456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17920" y="1874520"/>
            <a:ext cx="2148840" cy="868680"/>
          </a:xfrm>
          <a:prstGeom prst="roundRect">
            <a:avLst>
              <a:gd name="adj" fmla="val 6316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27648" y="20299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Experiment agents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27648" y="231343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orchestrate runs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485632" y="2148840"/>
            <a:ext cx="256032" cy="219456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915400" y="1874520"/>
            <a:ext cx="2148840" cy="868680"/>
          </a:xfrm>
          <a:prstGeom prst="roundRect">
            <a:avLst>
              <a:gd name="adj" fmla="val 6316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025128" y="20299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Analysis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25128" y="231343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interpret results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68680" y="3703320"/>
            <a:ext cx="4754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68680" y="3703320"/>
            <a:ext cx="73152" cy="1417320"/>
          </a:xfrm>
          <a:prstGeom prst="rect">
            <a:avLst/>
          </a:prstGeom>
          <a:solidFill>
            <a:srgbClr val="54A24B"/>
          </a:solidFill>
          <a:ln w="12700">
            <a:solidFill>
              <a:srgbClr val="54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97280" y="386791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AI helps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4206240"/>
            <a:ext cx="443484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Boilerplate, debugging, small code modifications, benchmark harnesses, logs, and experiment scheduling.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3703320"/>
            <a:ext cx="4754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63640" y="3703320"/>
            <a:ext cx="73152" cy="14173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92240" y="386791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AI struggles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92240" y="4206240"/>
            <a:ext cx="443484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Novel research implementation, hidden assumptions, semantic mismatches, reproducibility, and experiment design.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S4 - Tables and figures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plausibility can hide scientific inaccuracies.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73152" cy="19202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58191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generated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2971800" cy="1261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Plots, comparison tables, method diagrams, algorithms, equations, and LaTeX/TikZ figures.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41732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34840" y="1417320"/>
            <a:ext cx="73152" cy="19202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58191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Assessment axes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1920240"/>
            <a:ext cx="2971800" cy="1261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fidelity, data correctness, notation consistency, comparison structure, and scientific meaning.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83880" y="141732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83880" y="1417320"/>
            <a:ext cx="73152" cy="19202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12480" y="158191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issue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1920240"/>
            <a:ext cx="2971800" cy="1261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figure may look publication-ready while misrepresenting data, symbols, or causal relationships.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0" y="3977640"/>
            <a:ext cx="10149840" cy="841248"/>
          </a:xfrm>
          <a:prstGeom prst="roundRect">
            <a:avLst>
              <a:gd name="adj" fmla="val 6522"/>
            </a:avLst>
          </a:prstGeom>
          <a:solidFill>
            <a:srgbClr val="FFF8E6"/>
          </a:solidFill>
          <a:ln w="12700">
            <a:solidFill>
              <a:srgbClr val="FAD7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34440" y="4197096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A43"/>
                </a:solidFill>
              </a:rPr>
              <a:t>Takeaway: scientific visualization requires both design quality and evidence preservation.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94944" y="914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57B9D"/>
                </a:solidFill>
              </a:rPr>
              <a:t>P2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76656" y="135331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</a:rPr>
              <a:t>Writing: organizing evidence into argument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212848"/>
            <a:ext cx="576072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</a:rPr>
              <a:t>Paper writing is not just formatting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</a:rPr>
              <a:t>It requires rhetorical structure, citation grounding, and claim-evidence alignment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</a:rPr>
              <a:t>Full-paper generation remains much less reliable than section-level assistance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51663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54A24B"/>
          </a:solidFill>
          <a:ln w="12700">
            <a:solidFill>
              <a:srgbClr val="54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529437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Creation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555955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</a:rPr>
              <a:t>Ideas, evidence, artifacts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19272" y="5422392"/>
            <a:ext cx="256032" cy="201168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66160" y="51663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75888" y="529437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Writing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75888" y="555955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</a:rPr>
              <a:t>Argument and manuscript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53912" y="5422392"/>
            <a:ext cx="256032" cy="201168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0" y="51663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10528" y="529437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Validation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10528" y="555955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</a:rPr>
              <a:t>Critique and revision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988552" y="5422392"/>
            <a:ext cx="256032" cy="201168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235440" y="51663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345168" y="529437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Dissemination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45168" y="555955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</a:rPr>
              <a:t>Paper2X communication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S5 - Paper writing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Mature tool support, but the hardest parts are argumentation and evidence control.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73152" cy="219456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Reliable assistance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2971800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Grammar polishing, restructuring, section drafting, consistency checks, LaTeX assistance, and style transfer.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32588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34840" y="1325880"/>
            <a:ext cx="73152" cy="21945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49047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Unreliable autonomy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1828800"/>
            <a:ext cx="2971800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 claims, shallow framing, hallucinated citations, weak novelty positioning, and rhetorical overclaiming.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83880" y="132588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83880" y="1325880"/>
            <a:ext cx="73152" cy="21945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12480" y="149047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deployment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1828800"/>
            <a:ext cx="2971800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Human-led writing with AI as a drafting, editing, retrieval, and revision assistant.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42519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A43"/>
                </a:solidFill>
              </a:rPr>
              <a:t>Writing converts artifacts into claims; this is where evidence, narrative, and responsibility must stay aligned.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94944" y="914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5EA7"/>
                </a:solidFill>
              </a:rPr>
              <a:t>P3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76656" y="135331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</a:rPr>
              <a:t>Validation: external critique and revision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212848"/>
            <a:ext cx="576072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</a:rPr>
              <a:t>Validation is where scientific claims are challenged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</a:rPr>
              <a:t>AI can assist review, meta-review, rebuttal, and revision planning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</a:rPr>
              <a:t>But judgment, fairness, and accountability cannot be delegated safely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51663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54A24B"/>
          </a:solidFill>
          <a:ln w="12700">
            <a:solidFill>
              <a:srgbClr val="54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529437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Creation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555955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</a:rPr>
              <a:t>Ideas, evidence, artifacts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19272" y="5422392"/>
            <a:ext cx="256032" cy="201168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66160" y="51663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75888" y="529437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Writing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75888" y="555955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</a:rPr>
              <a:t>Argument and manuscript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53912" y="5422392"/>
            <a:ext cx="256032" cy="201168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0" y="51663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10528" y="529437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Validation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10528" y="555955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</a:rPr>
              <a:t>Critique and revision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988552" y="5422392"/>
            <a:ext cx="256032" cy="201168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235440" y="51663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345168" y="529437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Dissemination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45168" y="555955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</a:rPr>
              <a:t>Paper2X communication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S6 - Peer review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reviews can be coherent yet lenient, biased, or manipulable.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2487168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73152" cy="24231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581912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generation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920240"/>
            <a:ext cx="2167128" cy="1764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critique, summaries, strengths, weaknesses, scores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20440" y="1417320"/>
            <a:ext cx="2487168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20440" y="1417320"/>
            <a:ext cx="73152" cy="242316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49040" y="1581912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Meta-review support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1920240"/>
            <a:ext cx="2167128" cy="1764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Aggregation, conflict detection, decision rationales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0" y="1417320"/>
            <a:ext cx="2487168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0" y="1417320"/>
            <a:ext cx="73152" cy="24231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29400" y="1581912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Reviewer matching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29400" y="1920240"/>
            <a:ext cx="2167128" cy="1764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Expertise retrieval and topic-author matching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281160" y="1417320"/>
            <a:ext cx="2487168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81160" y="1417320"/>
            <a:ext cx="73152" cy="2423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509760" y="1581912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risks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09760" y="1920240"/>
            <a:ext cx="2167128" cy="1764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Bias, robustness, grounding, score calibration, manipulation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97280" y="4800600"/>
            <a:ext cx="9875520" cy="841248"/>
          </a:xfrm>
          <a:prstGeom prst="roundRect">
            <a:avLst>
              <a:gd name="adj" fmla="val 8696"/>
            </a:avLst>
          </a:prstGeom>
          <a:solidFill>
            <a:srgbClr val="ECFDF5"/>
          </a:solidFill>
          <a:ln w="12700">
            <a:solidFill>
              <a:srgbClr val="CD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35024" y="5029200"/>
            <a:ext cx="94000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</a:rPr>
              <a:t>Review fluency is not the same as scientific scrutiny; the evaluation target must be grounded, robust judgment.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353312" y="5340096"/>
            <a:ext cx="9363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</a:rPr>
              <a:t>Peer review insight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S7 - Rebuttal and revision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question is whether responses lead to fulfilled, verifiable revisions.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847088" cy="1024128"/>
          </a:xfrm>
          <a:prstGeom prst="roundRect">
            <a:avLst>
              <a:gd name="adj" fmla="val 6250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90195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Review comments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2128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Concerns and requests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05456" y="2075688"/>
            <a:ext cx="219456" cy="201168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34640" y="1691640"/>
            <a:ext cx="1847088" cy="1024128"/>
          </a:xfrm>
          <a:prstGeom prst="roundRect">
            <a:avLst>
              <a:gd name="adj" fmla="val 6250"/>
            </a:avLst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26080" y="190195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22128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Group issues, detect evidence gaps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73168" y="2075688"/>
            <a:ext cx="219456" cy="201168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02352" y="1691640"/>
            <a:ext cx="1847088" cy="1024128"/>
          </a:xfrm>
          <a:prstGeom prst="roundRect">
            <a:avLst>
              <a:gd name="adj" fmla="val 62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93792" y="190195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Response draft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93792" y="22128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Answer, commit, clarify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040880" y="2075688"/>
            <a:ext cx="219456" cy="201168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70064" y="1691640"/>
            <a:ext cx="1847088" cy="1024128"/>
          </a:xfrm>
          <a:prstGeom prst="roundRect">
            <a:avLst>
              <a:gd name="adj" fmla="val 625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61504" y="190195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Revision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61504" y="22128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Run experiments, edit manuscript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308592" y="2075688"/>
            <a:ext cx="219456" cy="201168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637776" y="1691640"/>
            <a:ext cx="1847088" cy="1024128"/>
          </a:xfrm>
          <a:prstGeom prst="roundRect">
            <a:avLst>
              <a:gd name="adj" fmla="val 6250"/>
            </a:avLst>
          </a:prstGeom>
          <a:solidFill>
            <a:srgbClr val="54A24B"/>
          </a:solidFill>
          <a:ln w="12700">
            <a:solidFill>
              <a:srgbClr val="54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729216" y="190195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Verification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729216" y="22128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Check commitments are fulfilled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22960" y="379476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22960" y="3794760"/>
            <a:ext cx="73152" cy="13258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51560" y="39593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Potential benefit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4297680"/>
            <a:ext cx="4754880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cluster reviewer concerns, map them to required evidence, and improve clarity of responses.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379476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09360" y="3794760"/>
            <a:ext cx="73152" cy="1325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37960" y="39593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risk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37960" y="4297680"/>
            <a:ext cx="4754880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AI-generated rebuttals may promise changes that the final manuscript does not actually fulfill.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94944" y="914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261"/>
                </a:solidFill>
              </a:rPr>
              <a:t>P4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76656" y="135331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</a:rPr>
              <a:t>Dissemination: Paper2X communication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212848"/>
            <a:ext cx="576072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</a:rPr>
              <a:t>Dissemination artifacts increasingly shape how research is understood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</a:rPr>
              <a:t>Posters, slides, videos, project pages, demos, and agents need fidelity constraints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</a:rPr>
              <a:t>Audience adaptation must not become evidence distortion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51663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54A24B"/>
          </a:solidFill>
          <a:ln w="12700">
            <a:solidFill>
              <a:srgbClr val="54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529437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Creation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555955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</a:rPr>
              <a:t>Ideas, evidence, artifacts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19272" y="5422392"/>
            <a:ext cx="256032" cy="201168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66160" y="51663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75888" y="529437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Writing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75888" y="555955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</a:rPr>
              <a:t>Argument and manuscript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53912" y="5422392"/>
            <a:ext cx="256032" cy="201168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0" y="51663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10528" y="529437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Validation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10528" y="555955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</a:rPr>
              <a:t>Critique and revision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988552" y="5422392"/>
            <a:ext cx="256032" cy="201168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235440" y="51663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345168" y="529437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Dissemination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45168" y="555955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</a:rPr>
              <a:t>Paper2X communication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S8 - Paper2X dissemination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Communicating research requires compression without overstatement.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199339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73152" cy="1920240"/>
          </a:xfrm>
          <a:prstGeom prst="rect">
            <a:avLst/>
          </a:prstGeom>
          <a:solidFill>
            <a:srgbClr val="54A24B"/>
          </a:solidFill>
          <a:ln w="12700">
            <a:solidFill>
              <a:srgbClr val="54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581912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1673352" cy="1261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hierarchy, concise story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2898648" y="1417320"/>
            <a:ext cx="199339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98648" y="1417320"/>
            <a:ext cx="73152" cy="192024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27248" y="1581912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Slides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27248" y="1920240"/>
            <a:ext cx="1673352" cy="1261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arc, audience pacing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5202936" y="1417320"/>
            <a:ext cx="199339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02936" y="1417320"/>
            <a:ext cx="73152" cy="192024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31536" y="1581912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Video/Talk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31536" y="1920240"/>
            <a:ext cx="1673352" cy="1261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script, timing, visual demonstration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7507224" y="1417320"/>
            <a:ext cx="199339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507224" y="1417320"/>
            <a:ext cx="73152" cy="19202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35824" y="1581912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Social Media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35824" y="1920240"/>
            <a:ext cx="1673352" cy="1261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visibility, framing, accessible summary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9811512" y="1417320"/>
            <a:ext cx="199339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811512" y="1417320"/>
            <a:ext cx="73152" cy="19202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040112" y="1581912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Page/Agent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40112" y="1920240"/>
            <a:ext cx="1673352" cy="1261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access and adoption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1005840" y="4160520"/>
            <a:ext cx="10149840" cy="1051560"/>
          </a:xfrm>
          <a:prstGeom prst="roundRect">
            <a:avLst>
              <a:gd name="adj" fmla="val 6957"/>
            </a:avLst>
          </a:prstGeom>
          <a:solidFill>
            <a:srgbClr val="ECFDF5"/>
          </a:solidFill>
          <a:ln w="12700">
            <a:solidFill>
              <a:srgbClr val="CD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243584" y="4389120"/>
            <a:ext cx="9674352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</a:rPr>
              <a:t>Evaluation should focus on fidelity, usability, and audience adaptation - because dissemination artifacts can circulate independently from the paper.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261872" y="4910328"/>
            <a:ext cx="9637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</a:rPr>
              <a:t>Dissemination insight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Cross-phase research systems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agents expose the limits of autonomy.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4892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73152" cy="1508760"/>
          </a:xfrm>
          <a:prstGeom prst="rect">
            <a:avLst/>
          </a:prstGeom>
          <a:solidFill>
            <a:srgbClr val="54A24B"/>
          </a:solidFill>
          <a:ln w="12700">
            <a:solidFill>
              <a:srgbClr val="54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5819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Sequential pipelines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45720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stage-by-stage workflows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4892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73152" cy="150876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46520" y="15819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Search/self-improvement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1920240"/>
            <a:ext cx="45720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Generate, evaluate, iterate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429000"/>
            <a:ext cx="4892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" y="3429000"/>
            <a:ext cx="73152" cy="15087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35935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Skill/tool integrated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931920"/>
            <a:ext cx="45720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Specialized tools and execution environments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429000"/>
            <a:ext cx="4892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3429000"/>
            <a:ext cx="73152" cy="1508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46520" y="35935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Multi-agent systems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3931920"/>
            <a:ext cx="45720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specialization and simulated critique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51560" y="5623560"/>
            <a:ext cx="9966960" cy="438912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CD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89304" y="5852160"/>
            <a:ext cx="9491472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</a:rPr>
              <a:t>End-to-end coverage increases the importance of provenance, checkpoints, and phase-boundary verification.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307592" y="5760720"/>
            <a:ext cx="945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</a:rPr>
              <a:t>Cross-phase implication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 landscape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Benchmarks are becoming stage-specific, domain-aware, and workflow-aware.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Chart 0"/>
          <p:cNvGraphicFramePr/>
          <p:nvPr/>
        </p:nvGraphicFramePr>
        <p:xfrm>
          <a:off x="777240" y="1508760"/>
          <a:ext cx="47548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989320" y="1417320"/>
            <a:ext cx="5349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89320" y="1417320"/>
            <a:ext cx="73152" cy="109728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17920" y="158191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trend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217920" y="1920240"/>
            <a:ext cx="50292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isolated proxy metrics toward stage-specific, multi-axis assessment.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5989320" y="2788920"/>
            <a:ext cx="5349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73152" cy="10972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217920" y="295351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Remaining gap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17920" y="3291840"/>
            <a:ext cx="50292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performance can still diverge from real research value.</a:t>
            </a:r>
            <a:endParaRPr lang="en-US" sz="1180" dirty="0"/>
          </a:p>
        </p:txBody>
      </p:sp>
      <p:pic>
        <p:nvPicPr>
          <p:cNvPr id="16" name="Image 0" descr="/mnt/data/auto_research_assets/table_benchmar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230368"/>
            <a:ext cx="10698480" cy="8229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Capability boundary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 depends on structure, grounding, and external checkability.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325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54A24B"/>
                </a:solidFill>
              </a:rPr>
              <a:t>More reliable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97280" y="1874520"/>
            <a:ext cx="429768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</a:rPr>
              <a:t>Structured tasks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</a:rPr>
              <a:t>Grounded retrieval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</a:rPr>
              <a:t>Tool-mediated execution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</a:rPr>
              <a:t>Clear rubrics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</a:rPr>
              <a:t>External verification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03720" y="1325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76F51"/>
                </a:solidFill>
              </a:rPr>
              <a:t>Less reliable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040880" y="1874520"/>
            <a:ext cx="429768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</a:rPr>
              <a:t>Open-ended novelty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</a:rPr>
              <a:t>Implicit field judgment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</a:rPr>
              <a:t>Long-horizon research design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</a:rPr>
              <a:t>Unsupported claims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</a:rPr>
              <a:t>Opaque autonomy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23560" y="1444752"/>
            <a:ext cx="731520" cy="3474720"/>
          </a:xfrm>
          <a:prstGeom prst="line">
            <a:avLst/>
          </a:prstGeom>
          <a:noFill/>
          <a:ln w="254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43400" y="49834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A43"/>
                </a:solidFill>
              </a:rPr>
              <a:t>AI excels as a collaborator, not a scientist-in-the-loop replacement.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Failure propagation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Errors introduced early can be amplified downstream.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7780">
            <a:solidFill>
              <a:srgbClr val="54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02996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4A24B"/>
                </a:solidFill>
              </a:rPr>
              <a:t>Idea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34086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43B53"/>
                </a:solidFill>
              </a:rPr>
              <a:t>shallow novelty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96896" y="2176272"/>
            <a:ext cx="237744" cy="219456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44368" y="187452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778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35808" y="202996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57B9D"/>
                </a:solidFill>
              </a:rPr>
              <a:t>Experiment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35808" y="234086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43B53"/>
                </a:solidFill>
              </a:rPr>
              <a:t>wrong implementation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901184" y="2176272"/>
            <a:ext cx="237744" cy="219456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48656" y="187452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778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40096" y="202996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5EA7"/>
                </a:solidFill>
              </a:rPr>
              <a:t>Manuscript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40096" y="234086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43B53"/>
                </a:solidFill>
              </a:rPr>
              <a:t>unsupported claim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205472" y="2176272"/>
            <a:ext cx="237744" cy="219456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552944" y="187452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778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44384" y="202996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6F51"/>
                </a:solidFill>
              </a:rPr>
              <a:t>Review/Rebuttal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44384" y="234086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43B53"/>
                </a:solidFill>
              </a:rPr>
              <a:t>missed flaw or empty promise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509760" y="2176272"/>
            <a:ext cx="237744" cy="219456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857232" y="187452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778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948672" y="202996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</a:rPr>
              <a:t>Dissemination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948672" y="234086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43B53"/>
                </a:solidFill>
              </a:rPr>
              <a:t>overstated summary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60120" y="4251960"/>
            <a:ext cx="10241280" cy="1005840"/>
          </a:xfrm>
          <a:prstGeom prst="roundRect">
            <a:avLst>
              <a:gd name="adj" fmla="val 7273"/>
            </a:avLst>
          </a:prstGeom>
          <a:solidFill>
            <a:srgbClr val="ECFDF5"/>
          </a:solidFill>
          <a:ln w="12700">
            <a:solidFill>
              <a:srgbClr val="CD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97864" y="4480560"/>
            <a:ext cx="97657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</a:rPr>
              <a:t>The lifecycle view exposes hidden dependency chains: AI outputs must carry evidence, provenance, and verification signals across phase boundaries.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216152" y="4956048"/>
            <a:ext cx="9729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</a:rPr>
              <a:t>Why the taxonomy matters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principles for reliable AI-assisted research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artifact generators to trustworthy research collaborators.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4892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73152" cy="1508760"/>
          </a:xfrm>
          <a:prstGeom prst="rect">
            <a:avLst/>
          </a:prstGeom>
          <a:solidFill>
            <a:srgbClr val="54A24B"/>
          </a:solidFill>
          <a:ln w="12700">
            <a:solidFill>
              <a:srgbClr val="54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5819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Provenance across the lifecycle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45720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 ideas, evidence, code, figures, claims, reviews, rebuttals, and dissemination artifacts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4892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73152" cy="150876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46520" y="15819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Grounding over self-judgment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1920240"/>
            <a:ext cx="45720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retrieval and execution signals rather than purely textual self-evaluation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3429000"/>
            <a:ext cx="4892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" y="3429000"/>
            <a:ext cx="73152" cy="15087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35935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Human checkpoints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931920"/>
            <a:ext cx="45720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expert review at phase boundaries where errors propagate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3429000"/>
            <a:ext cx="4892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3429000"/>
            <a:ext cx="73152" cy="1508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46520" y="35935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Transparent AI involvement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3931920"/>
            <a:ext cx="45720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assistance visible for readers, reviewers, and institutions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Practitioner playbook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use AI across the lifecycle without outsourcing scientific judgment.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5212080" cy="557784"/>
          </a:xfrm>
          <a:prstGeom prst="rect">
            <a:avLst/>
          </a:prstGeom>
          <a:solidFill>
            <a:srgbClr val="102A43"/>
          </a:solidFill>
          <a:ln w="508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897880" y="1417320"/>
            <a:ext cx="5212080" cy="557784"/>
          </a:xfrm>
          <a:prstGeom prst="rect">
            <a:avLst/>
          </a:prstGeom>
          <a:solidFill>
            <a:srgbClr val="102A43"/>
          </a:solidFill>
          <a:ln w="508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581912"/>
            <a:ext cx="4937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 AI for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1581912"/>
            <a:ext cx="4937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 not outsource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002536"/>
            <a:ext cx="5212080" cy="557784"/>
          </a:xfrm>
          <a:prstGeom prst="rect">
            <a:avLst/>
          </a:prstGeom>
          <a:solidFill>
            <a:srgbClr val="FFFFFF"/>
          </a:solidFill>
          <a:ln w="508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897880" y="2002536"/>
            <a:ext cx="5212080" cy="557784"/>
          </a:xfrm>
          <a:prstGeom prst="rect">
            <a:avLst/>
          </a:prstGeom>
          <a:solidFill>
            <a:srgbClr val="FFFFFF"/>
          </a:solidFill>
          <a:ln w="508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2167128"/>
            <a:ext cx="4937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B53"/>
                </a:solidFill>
              </a:rPr>
              <a:t>Search, summarization, and first-pass synthesis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6035040" y="2167128"/>
            <a:ext cx="4937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B53"/>
                </a:solidFill>
              </a:rPr>
              <a:t>Novelty claims without literature verification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85800" y="2587752"/>
            <a:ext cx="5212080" cy="557784"/>
          </a:xfrm>
          <a:prstGeom prst="rect">
            <a:avLst/>
          </a:prstGeom>
          <a:solidFill>
            <a:srgbClr val="F1F5F9"/>
          </a:solidFill>
          <a:ln w="508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897880" y="2587752"/>
            <a:ext cx="5212080" cy="557784"/>
          </a:xfrm>
          <a:prstGeom prst="rect">
            <a:avLst/>
          </a:prstGeom>
          <a:solidFill>
            <a:srgbClr val="F1F5F9"/>
          </a:solidFill>
          <a:ln w="508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2752344"/>
            <a:ext cx="4937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B53"/>
                </a:solidFill>
              </a:rPr>
              <a:t>Boilerplate code and debugging support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6035040" y="2752344"/>
            <a:ext cx="4937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B53"/>
                </a:solidFill>
              </a:rPr>
              <a:t>Research-level implementation semantics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85800" y="3172968"/>
            <a:ext cx="5212080" cy="557784"/>
          </a:xfrm>
          <a:prstGeom prst="rect">
            <a:avLst/>
          </a:prstGeom>
          <a:solidFill>
            <a:srgbClr val="FFFFFF"/>
          </a:solidFill>
          <a:ln w="508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897880" y="3172968"/>
            <a:ext cx="5212080" cy="557784"/>
          </a:xfrm>
          <a:prstGeom prst="rect">
            <a:avLst/>
          </a:prstGeom>
          <a:solidFill>
            <a:srgbClr val="FFFFFF"/>
          </a:solidFill>
          <a:ln w="508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3337560"/>
            <a:ext cx="4937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B53"/>
                </a:solidFill>
              </a:rPr>
              <a:t>Drafting, polishing, and restructuring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6035040" y="3337560"/>
            <a:ext cx="4937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B53"/>
                </a:solidFill>
              </a:rPr>
              <a:t>Argumentation and claim-evidence alignment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85800" y="3758184"/>
            <a:ext cx="5212080" cy="557784"/>
          </a:xfrm>
          <a:prstGeom prst="rect">
            <a:avLst/>
          </a:prstGeom>
          <a:solidFill>
            <a:srgbClr val="F1F5F9"/>
          </a:solidFill>
          <a:ln w="508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897880" y="3758184"/>
            <a:ext cx="5212080" cy="557784"/>
          </a:xfrm>
          <a:prstGeom prst="rect">
            <a:avLst/>
          </a:prstGeom>
          <a:solidFill>
            <a:srgbClr val="F1F5F9"/>
          </a:solidFill>
          <a:ln w="508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3922776"/>
            <a:ext cx="4937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B53"/>
                </a:solidFill>
              </a:rPr>
              <a:t>Review/rebuttal scaffolding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6035040" y="3922776"/>
            <a:ext cx="4937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B53"/>
                </a:solidFill>
              </a:rPr>
              <a:t>Final judgment, commitments, and responsibility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85800" y="4343400"/>
            <a:ext cx="5212080" cy="557784"/>
          </a:xfrm>
          <a:prstGeom prst="rect">
            <a:avLst/>
          </a:prstGeom>
          <a:solidFill>
            <a:srgbClr val="FFFFFF"/>
          </a:solidFill>
          <a:ln w="508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897880" y="4343400"/>
            <a:ext cx="5212080" cy="557784"/>
          </a:xfrm>
          <a:prstGeom prst="rect">
            <a:avLst/>
          </a:prstGeom>
          <a:solidFill>
            <a:srgbClr val="FFFFFF"/>
          </a:solidFill>
          <a:ln w="508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60" y="4507992"/>
            <a:ext cx="4937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B53"/>
                </a:solidFill>
              </a:rPr>
              <a:t>Poster/slide/social-media drafts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6035040" y="4507992"/>
            <a:ext cx="4937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B53"/>
                </a:solidFill>
              </a:rPr>
              <a:t>Fidelity to paper evidence and limitations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Responsible use and limitations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paper argues for reliable human-governed automation, not full replacement.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73152" cy="2148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5361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Responsible use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3108960" cy="1490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should assist retrieval, drafting, coding, visualization, review support, and dissemination.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37160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34840" y="1371600"/>
            <a:ext cx="73152" cy="214884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5361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 responsibility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1874520"/>
            <a:ext cx="3108960" cy="1490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Researchers retain ownership of novelty, interpretation, verification, authorship, and accountability.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83880" y="137160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83880" y="1371600"/>
            <a:ext cx="73152" cy="2148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12480" y="15361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1874520"/>
            <a:ext cx="3108960" cy="1490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field evolves quickly; this survey is a structured snapshot through the search cutoff.</a:t>
            </a:r>
            <a:endParaRPr lang="en-US" sz="1100" dirty="0"/>
          </a:p>
        </p:txBody>
      </p:sp>
      <p:pic>
        <p:nvPicPr>
          <p:cNvPr id="19" name="Image 0" descr="/mnt/data/auto_research_assets/conclusion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886200"/>
            <a:ext cx="10012680" cy="16916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takeaway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amplify research, but only if verification scales with generation.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1325880"/>
            <a:ext cx="10287000" cy="1417320"/>
          </a:xfrm>
          <a:prstGeom prst="roundRect">
            <a:avLst>
              <a:gd name="adj" fmla="val 5161"/>
            </a:avLst>
          </a:prstGeom>
          <a:solidFill>
            <a:srgbClr val="ECFDF5"/>
          </a:solidFill>
          <a:ln w="12700">
            <a:solidFill>
              <a:srgbClr val="CD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97864" y="1554480"/>
            <a:ext cx="981151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</a:rPr>
              <a:t>The credible future is not fully autonomous science, but human-governed AI-assisted research with provenance, grounding, checkpoints, and transparent responsibility.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16152" y="2441448"/>
            <a:ext cx="9774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</a:rPr>
              <a:t>Main message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14400" y="333756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3337560"/>
            <a:ext cx="73152" cy="1508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35021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3840480"/>
            <a:ext cx="292608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fast, fluent, scalable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333756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17720" y="3337560"/>
            <a:ext cx="73152" cy="15087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35021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3840480"/>
            <a:ext cx="292608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hard, slow, expert-dependent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21040" y="333756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9D6E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21040" y="3337560"/>
            <a:ext cx="73152" cy="150876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49640" y="35021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49640" y="3840480"/>
            <a:ext cx="292608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missing control layer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580644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27D98"/>
                </a:solidFill>
              </a:rPr>
              <a:t>Project: worldbench.github.io/awesome-ai-auto-research   |   GitHub: github.com/worldbench/awesome-ai-auto-research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Auto-Research: A Survey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503152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2194</Words>
  <Application>Microsoft Macintosh PowerPoint</Application>
  <PresentationFormat>Widescreen</PresentationFormat>
  <Paragraphs>434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Auto-Research: A Survey - Introduction Slides</dc:title>
  <dc:subject>AI for Auto-Research: A Survey</dc:subject>
  <dc:creator>OpenAI</dc:creator>
  <cp:lastModifiedBy>Kong Lingdong</cp:lastModifiedBy>
  <cp:revision>2</cp:revision>
  <dcterms:created xsi:type="dcterms:W3CDTF">2026-05-18T23:04:37Z</dcterms:created>
  <dcterms:modified xsi:type="dcterms:W3CDTF">2026-05-18T23:08:09Z</dcterms:modified>
</cp:coreProperties>
</file>