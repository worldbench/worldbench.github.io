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rgbClr val="2E7D4F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3272F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Pattern-matching
code (SWE-bench)</c:v>
                  </c:pt>
                  <c:pt idx="1">
                    <c:v>Novel research
code</c:v>
                  </c:pt>
                  <c:pt idx="2">
                    <c:v>Formula gen.
(complex LaTeX)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38</c:v>
                </c:pt>
                <c:pt idx="2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3272F"/>
                  </a:solidFill>
                  <a:latin typeface="Georg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57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298A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60120"/>
            <a:ext cx="310896" cy="310896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" y="960120"/>
            <a:ext cx="310896" cy="310896"/>
          </a:xfrm>
          <a:prstGeom prst="rect">
            <a:avLst/>
          </a:prstGeom>
          <a:solidFill>
            <a:srgbClr val="2D63A6"/>
          </a:solidFill>
          <a:ln/>
        </p:spPr>
      </p:sp>
      <p:sp>
        <p:nvSpPr>
          <p:cNvPr id="4" name="Shape 2"/>
          <p:cNvSpPr/>
          <p:nvPr/>
        </p:nvSpPr>
        <p:spPr>
          <a:xfrm>
            <a:off x="1481328" y="960120"/>
            <a:ext cx="310896" cy="310896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5" name="Shape 3"/>
          <p:cNvSpPr/>
          <p:nvPr/>
        </p:nvSpPr>
        <p:spPr>
          <a:xfrm>
            <a:off x="1901952" y="960120"/>
            <a:ext cx="310896" cy="310896"/>
          </a:xfrm>
          <a:prstGeom prst="rect">
            <a:avLst/>
          </a:prstGeom>
          <a:solidFill>
            <a:srgbClr val="BE7C1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 ·  DEVELOPMENTS THROUGH APRIL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9115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for </a:t>
            </a:r>
            <a:pPr indent="0" marL="0">
              <a:buNone/>
            </a:pPr>
            <a:r>
              <a:rPr lang="en-US" sz="6200" b="1" dirty="0">
                <a:solidFill>
                  <a:srgbClr val="6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Auto-Research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640080" y="331012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C6C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analysis of AI across the complete research lifecycle — where reliable assistance ends and unreliable autonomy begins.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443984"/>
            <a:ext cx="10911535" cy="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61772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Lingdong Kong · Xian Sun · Wei Chow  and the Awesome AI Auto-Research Team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9194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authors · National University of Singapore and collaborating institutions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  worldbench.github.io/awesome-ai-auto-research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     github.com/worldbench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08415" y="4572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C3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PHASES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808415" y="50749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C3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STAGES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1F7A7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research has crossed a threshold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 longer limited to local writing or coding help — recent systems orchestrate multi-stage workflows that generate ideas, run experiments, draft manuscripts, and simulate critique with minimal human input.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93338" cy="274320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3393338" cy="914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642616"/>
            <a:ext cx="28446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SCIENTIST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932688" y="411480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fully generated research paper, end to 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99178" y="2331720"/>
            <a:ext cx="3393338" cy="274320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99178" y="2331720"/>
            <a:ext cx="3393338" cy="91440"/>
          </a:xfrm>
          <a:prstGeom prst="rect">
            <a:avLst/>
          </a:prstGeom>
          <a:solidFill>
            <a:srgbClr val="2D63A6"/>
          </a:solidFill>
          <a:ln/>
        </p:spPr>
      </p:sp>
      <p:sp>
        <p:nvSpPr>
          <p:cNvPr id="13" name="Text 11"/>
          <p:cNvSpPr/>
          <p:nvPr/>
        </p:nvSpPr>
        <p:spPr>
          <a:xfrm>
            <a:off x="4691786" y="2642616"/>
            <a:ext cx="28446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D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91786" y="3008376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228 h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4691786" y="411480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non-stop run → 100 papers · 11.4 billion tokens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8277" y="2331720"/>
            <a:ext cx="3393338" cy="274320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331720"/>
            <a:ext cx="3393338" cy="91440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18" name="Text 16"/>
          <p:cNvSpPr/>
          <p:nvPr/>
        </p:nvSpPr>
        <p:spPr>
          <a:xfrm>
            <a:off x="8450885" y="2642616"/>
            <a:ext cx="28446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B4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50885" y="3008376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 → 7.5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8450885" y="411480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draft-score gain across 20+ GPU experiments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2852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systems mark a shift: AI is moving from assisting individual tasks to running the research lifecycle itself.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BC473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BC4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 is racing ahead of integrity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produce research-like artifacts, yet remains far less reliable at verifying whether they are novel, faithful, executable, and scientifically meaningful.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64008" cy="457200"/>
          </a:xfrm>
          <a:prstGeom prst="rect">
            <a:avLst/>
          </a:prstGeom>
          <a:solidFill>
            <a:srgbClr val="BC4730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ideas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0" y="2286000"/>
            <a:ext cx="7894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 promising — but weaken sharply after implementation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10911535" cy="0"/>
          </a:xfrm>
          <a:prstGeom prst="line">
            <a:avLst/>
          </a:prstGeom>
          <a:noFill/>
          <a:ln w="9525">
            <a:solidFill>
              <a:srgbClr val="E2E1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89504"/>
            <a:ext cx="64008" cy="457200"/>
          </a:xfrm>
          <a:prstGeom prst="rect">
            <a:avLst/>
          </a:prstGeom>
          <a:solidFill>
            <a:srgbClr val="BC4730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28895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2889504"/>
            <a:ext cx="7894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successfully while implementing the wrong algorithm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0"/>
          </a:xfrm>
          <a:prstGeom prst="line">
            <a:avLst/>
          </a:prstGeom>
          <a:noFill/>
          <a:ln w="9525">
            <a:solidFill>
              <a:srgbClr val="E2E1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93008"/>
            <a:ext cx="64008" cy="457200"/>
          </a:xfrm>
          <a:prstGeom prst="rect">
            <a:avLst/>
          </a:prstGeom>
          <a:solidFill>
            <a:srgbClr val="BC4730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493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manuscripts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0" y="3493008"/>
            <a:ext cx="7894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conceal unsupported claims behind polished prose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10911535" cy="0"/>
          </a:xfrm>
          <a:prstGeom prst="line">
            <a:avLst/>
          </a:prstGeom>
          <a:noFill/>
          <a:ln w="9525">
            <a:solidFill>
              <a:srgbClr val="E2E1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96512"/>
            <a:ext cx="64008" cy="457200"/>
          </a:xfrm>
          <a:prstGeom prst="rect">
            <a:avLst/>
          </a:prstGeom>
          <a:solidFill>
            <a:srgbClr val="BC4730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reviews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0" y="4096512"/>
            <a:ext cx="7894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coherent yet lenient, biased, or easily manipulated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0"/>
          </a:xfrm>
          <a:prstGeom prst="line">
            <a:avLst/>
          </a:prstGeom>
          <a:noFill/>
          <a:ln w="9525">
            <a:solidFill>
              <a:srgbClr val="E2E1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700016"/>
            <a:ext cx="64008" cy="457200"/>
          </a:xfrm>
          <a:prstGeom prst="rect">
            <a:avLst/>
          </a:prstGeom>
          <a:solidFill>
            <a:srgbClr val="BC4730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" y="47000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657600" y="4700016"/>
            <a:ext cx="7894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promise revisions that are never actually fulfilled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230368"/>
            <a:ext cx="10911535" cy="0"/>
          </a:xfrm>
          <a:prstGeom prst="line">
            <a:avLst/>
          </a:prstGeom>
          <a:noFill/>
          <a:ln w="9525">
            <a:solidFill>
              <a:srgbClr val="E2E1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303520"/>
            <a:ext cx="64008" cy="457200"/>
          </a:xfrm>
          <a:prstGeom prst="rect">
            <a:avLst/>
          </a:prstGeom>
          <a:solidFill>
            <a:srgbClr val="BC4730"/>
          </a:solidFill>
          <a:ln/>
        </p:spPr>
      </p:sp>
      <p:sp>
        <p:nvSpPr>
          <p:cNvPr id="27" name="Text 25"/>
          <p:cNvSpPr/>
          <p:nvPr/>
        </p:nvSpPr>
        <p:spPr>
          <a:xfrm>
            <a:off x="877824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657600" y="5303520"/>
            <a:ext cx="7894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simplify results far beyond what the evidence supports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 is no longer whether AI can produce the forms of research — but whether it can preserve the substance: evidence, judgment, provenance, and accountability.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1F7A7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is a lifecycle — errors propagate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become experiments, experiments become claims, claims become manuscripts, reviews become revisions. An error introduced early is amplified at every later stage.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2024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21408" y="2468880"/>
            <a:ext cx="4047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298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26121" y="246888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20242E"/>
          </a:solidFill>
          <a:ln/>
        </p:spPr>
      </p:sp>
      <p:sp>
        <p:nvSpPr>
          <p:cNvPr id="10" name="Text 8"/>
          <p:cNvSpPr/>
          <p:nvPr/>
        </p:nvSpPr>
        <p:spPr>
          <a:xfrm>
            <a:off x="2526121" y="246888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07449" y="2468880"/>
            <a:ext cx="4047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298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12163" y="246888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20242E"/>
          </a:solidFill>
          <a:ln/>
        </p:spPr>
      </p:sp>
      <p:sp>
        <p:nvSpPr>
          <p:cNvPr id="13" name="Text 11"/>
          <p:cNvSpPr/>
          <p:nvPr/>
        </p:nvSpPr>
        <p:spPr>
          <a:xfrm>
            <a:off x="4412163" y="246888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93491" y="2468880"/>
            <a:ext cx="4047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298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98204" y="246888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20242E"/>
          </a:solidFill>
          <a:ln/>
        </p:spPr>
      </p:sp>
      <p:sp>
        <p:nvSpPr>
          <p:cNvPr id="16" name="Text 14"/>
          <p:cNvSpPr/>
          <p:nvPr/>
        </p:nvSpPr>
        <p:spPr>
          <a:xfrm>
            <a:off x="6298204" y="246888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9532" y="2468880"/>
            <a:ext cx="4047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298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84246" y="246888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20242E"/>
          </a:solidFill>
          <a:ln/>
        </p:spPr>
      </p:sp>
      <p:sp>
        <p:nvSpPr>
          <p:cNvPr id="19" name="Text 17"/>
          <p:cNvSpPr/>
          <p:nvPr/>
        </p:nvSpPr>
        <p:spPr>
          <a:xfrm>
            <a:off x="8184246" y="246888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65574" y="2468880"/>
            <a:ext cx="4047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298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070287" y="246888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20242E"/>
          </a:solidFill>
          <a:ln/>
        </p:spPr>
      </p:sp>
      <p:sp>
        <p:nvSpPr>
          <p:cNvPr id="22" name="Text 20"/>
          <p:cNvSpPr/>
          <p:nvPr/>
        </p:nvSpPr>
        <p:spPr>
          <a:xfrm>
            <a:off x="10070287" y="246888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3456432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unified lifecycle analysis, it is impossible to tell where AI reliably helps, where it fails systematically, and which deployment modes are scientifically credible.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5227168" cy="178308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79976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SURVEY DOES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70916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end-to-end analysis of AI auto-research across the complete academic lifecycle — organized into four epistemological phases and eight stages, following the temporal order of real research.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24448" y="4160520"/>
            <a:ext cx="5227168" cy="1783080"/>
          </a:xfrm>
          <a:prstGeom prst="rect">
            <a:avLst/>
          </a:prstGeom>
          <a:solidFill>
            <a:srgbClr val="20242E"/>
          </a:solidFill>
          <a:ln/>
        </p:spPr>
      </p:sp>
      <p:sp>
        <p:nvSpPr>
          <p:cNvPr id="28" name="Text 26"/>
          <p:cNvSpPr/>
          <p:nvPr/>
        </p:nvSpPr>
        <p:spPr>
          <a:xfrm>
            <a:off x="6598768" y="4379976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MAKES EXPLICIT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98768" y="470916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6C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 AI capabilities, risks, and verification requirements introduced at each phase — and the fragile hand-offs at the boundaries between them.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1F7A7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contributions to AI auto-research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62858" cy="397764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157984"/>
            <a:ext cx="841248" cy="841248"/>
          </a:xfrm>
          <a:prstGeom prst="ellipse">
            <a:avLst/>
          </a:prstGeom>
          <a:solidFill>
            <a:srgbClr val="2D63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700" y="2376708"/>
            <a:ext cx="403799" cy="4037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88538" y="2139696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AD9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950976" y="3200400"/>
            <a:ext cx="27593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unified taxonomy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50976" y="3977640"/>
            <a:ext cx="275935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and eight stages spanning the full lifecycle — covering mature areas like writing and coding alongside underexplored ones: rebuttal, scientific visualization, and dissemination.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14418" y="1828800"/>
            <a:ext cx="3362858" cy="397764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25314" y="2157984"/>
            <a:ext cx="841248" cy="841248"/>
          </a:xfrm>
          <a:prstGeom prst="ellipse">
            <a:avLst/>
          </a:prstGeom>
          <a:solidFill>
            <a:srgbClr val="6B4A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039" y="2376708"/>
            <a:ext cx="403799" cy="4037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62877" y="2139696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AD9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4725314" y="3200400"/>
            <a:ext cx="27593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synthesis of methods &amp; resources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4725314" y="3977640"/>
            <a:ext cx="275935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benchmarks, and methodological families mapped across the lifecycle — tracing the evolution from prompt-based assistance to RAG, agentic, fine-tuned, and hybrid workflows.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88757" y="1828800"/>
            <a:ext cx="3362858" cy="397764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99653" y="2157984"/>
            <a:ext cx="841248" cy="841248"/>
          </a:xfrm>
          <a:prstGeom prst="ellipse">
            <a:avLst/>
          </a:prstGeom>
          <a:solidFill>
            <a:srgbClr val="BE7C1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377" y="2376708"/>
            <a:ext cx="403799" cy="40379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37215" y="2139696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AD9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8499653" y="3200400"/>
            <a:ext cx="27593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Cross-cutting boundaries &amp; challenges</a:t>
            </a:r>
            <a:endParaRPr lang="en-US" sz="1850" dirty="0"/>
          </a:p>
        </p:txBody>
      </p:sp>
      <p:sp>
        <p:nvSpPr>
          <p:cNvPr id="22" name="Text 17"/>
          <p:cNvSpPr/>
          <p:nvPr/>
        </p:nvSpPr>
        <p:spPr>
          <a:xfrm>
            <a:off x="8499653" y="3977640"/>
            <a:ext cx="275935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capability limits and open problems — phase-boundary faithfulness, scientific judgment, reproducibility, citation provenance, governance, and cognitive ownership.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C3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108960" y="2395728"/>
            <a:ext cx="7253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Framework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127248" y="361188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vocabulary for comparing AI research systems: the lifecycle, methodological families, and how the field developed.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180015" y="2788920"/>
            <a:ext cx="1371600" cy="1371600"/>
          </a:xfrm>
          <a:prstGeom prst="ellipse">
            <a:avLst/>
          </a:prstGeom>
          <a:solidFill>
            <a:srgbClr val="1F7A7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6631" y="3145536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1F7A7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phases, eight interconnected stages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522144" cy="74980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215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039112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2522144" cy="3200400"/>
          </a:xfrm>
          <a:prstGeom prst="rect">
            <a:avLst/>
          </a:prstGeom>
          <a:solidFill>
            <a:srgbClr val="E7F0E9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606040"/>
            <a:ext cx="22844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1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606040"/>
            <a:ext cx="64008" cy="676656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2679192"/>
            <a:ext cx="206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2688" y="2852928"/>
            <a:ext cx="206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Generation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063240"/>
            <a:ext cx="204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Prompting, RAG, multi-agent, learned scoring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8952" y="3374136"/>
            <a:ext cx="22844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1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374136"/>
            <a:ext cx="64008" cy="676656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447288"/>
            <a:ext cx="206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32688" y="3621024"/>
            <a:ext cx="206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3831336"/>
            <a:ext cx="204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synthesis, deep research agents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58952" y="4142232"/>
            <a:ext cx="22844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1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142232"/>
            <a:ext cx="64008" cy="676656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215384"/>
            <a:ext cx="206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2688" y="4389120"/>
            <a:ext cx="206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&amp; Experiments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" y="4599432"/>
            <a:ext cx="204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orchestration, analysis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8952" y="4910328"/>
            <a:ext cx="22844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" y="4910328"/>
            <a:ext cx="64008" cy="676656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983480"/>
            <a:ext cx="206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2688" y="5157216"/>
            <a:ext cx="206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Tables &amp; Figures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2688" y="5367528"/>
            <a:ext cx="204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Diagrams, plots, formulas, pseudocode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" y="57607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the contribution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36544" y="1737360"/>
            <a:ext cx="2522144" cy="749808"/>
          </a:xfrm>
          <a:prstGeom prst="rect">
            <a:avLst/>
          </a:prstGeom>
          <a:solidFill>
            <a:srgbClr val="2D63A6"/>
          </a:solidFill>
          <a:ln/>
        </p:spPr>
      </p:sp>
      <p:sp>
        <p:nvSpPr>
          <p:cNvPr id="31" name="Text 29"/>
          <p:cNvSpPr/>
          <p:nvPr/>
        </p:nvSpPr>
        <p:spPr>
          <a:xfrm>
            <a:off x="3619424" y="1856232"/>
            <a:ext cx="215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19424" y="2039112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3436544" y="2487168"/>
            <a:ext cx="2522144" cy="3200400"/>
          </a:xfrm>
          <a:prstGeom prst="rect">
            <a:avLst/>
          </a:prstGeom>
          <a:solidFill>
            <a:srgbClr val="E4EAF2"/>
          </a:solidFill>
          <a:ln/>
        </p:spPr>
      </p:sp>
      <p:sp>
        <p:nvSpPr>
          <p:cNvPr id="34" name="Shape 32"/>
          <p:cNvSpPr/>
          <p:nvPr/>
        </p:nvSpPr>
        <p:spPr>
          <a:xfrm>
            <a:off x="3555416" y="2606040"/>
            <a:ext cx="22844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1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55416" y="2606040"/>
            <a:ext cx="64008" cy="676656"/>
          </a:xfrm>
          <a:prstGeom prst="rect">
            <a:avLst/>
          </a:prstGeom>
          <a:solidFill>
            <a:srgbClr val="2D63A6"/>
          </a:solidFill>
          <a:ln/>
        </p:spPr>
      </p:sp>
      <p:sp>
        <p:nvSpPr>
          <p:cNvPr id="36" name="Text 34"/>
          <p:cNvSpPr/>
          <p:nvPr/>
        </p:nvSpPr>
        <p:spPr>
          <a:xfrm>
            <a:off x="3729152" y="2679192"/>
            <a:ext cx="206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D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729152" y="2852928"/>
            <a:ext cx="206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Writing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729152" y="3063240"/>
            <a:ext cx="204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grammar and citation support through to fully automated paper generation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36544" y="57607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the argument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33008" y="1737360"/>
            <a:ext cx="2522144" cy="749808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41" name="Text 39"/>
          <p:cNvSpPr/>
          <p:nvPr/>
        </p:nvSpPr>
        <p:spPr>
          <a:xfrm>
            <a:off x="6415888" y="1856232"/>
            <a:ext cx="215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15888" y="2039112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6233008" y="2487168"/>
            <a:ext cx="2522144" cy="3200400"/>
          </a:xfrm>
          <a:prstGeom prst="rect">
            <a:avLst/>
          </a:prstGeom>
          <a:solidFill>
            <a:srgbClr val="ECE7F1"/>
          </a:solidFill>
          <a:ln/>
        </p:spPr>
      </p:sp>
      <p:sp>
        <p:nvSpPr>
          <p:cNvPr id="44" name="Shape 42"/>
          <p:cNvSpPr/>
          <p:nvPr/>
        </p:nvSpPr>
        <p:spPr>
          <a:xfrm>
            <a:off x="6351880" y="2606040"/>
            <a:ext cx="22844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1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1880" y="2606040"/>
            <a:ext cx="64008" cy="676656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46" name="Text 44"/>
          <p:cNvSpPr/>
          <p:nvPr/>
        </p:nvSpPr>
        <p:spPr>
          <a:xfrm>
            <a:off x="6525616" y="2679192"/>
            <a:ext cx="206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4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525616" y="2852928"/>
            <a:ext cx="206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Review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525616" y="3063240"/>
            <a:ext cx="204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review, meta-review, reviewer matching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51880" y="3374136"/>
            <a:ext cx="22844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1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1880" y="3374136"/>
            <a:ext cx="64008" cy="676656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51" name="Text 49"/>
          <p:cNvSpPr/>
          <p:nvPr/>
        </p:nvSpPr>
        <p:spPr>
          <a:xfrm>
            <a:off x="6525616" y="3447288"/>
            <a:ext cx="206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4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525616" y="3621024"/>
            <a:ext cx="206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Rebuttal &amp; Revision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525616" y="3831336"/>
            <a:ext cx="204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analysis, evidence-grounded responses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233008" y="57607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scrutiny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029471" y="1737360"/>
            <a:ext cx="2522144" cy="749808"/>
          </a:xfrm>
          <a:prstGeom prst="rect">
            <a:avLst/>
          </a:prstGeom>
          <a:solidFill>
            <a:srgbClr val="BE7C18"/>
          </a:solidFill>
          <a:ln/>
        </p:spPr>
      </p:sp>
      <p:sp>
        <p:nvSpPr>
          <p:cNvPr id="56" name="Text 54"/>
          <p:cNvSpPr/>
          <p:nvPr/>
        </p:nvSpPr>
        <p:spPr>
          <a:xfrm>
            <a:off x="9212351" y="1856232"/>
            <a:ext cx="215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212351" y="2039112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Dissemination</a:t>
            </a:r>
            <a:endParaRPr lang="en-US" sz="1900" dirty="0"/>
          </a:p>
        </p:txBody>
      </p:sp>
      <p:sp>
        <p:nvSpPr>
          <p:cNvPr id="58" name="Shape 56"/>
          <p:cNvSpPr/>
          <p:nvPr/>
        </p:nvSpPr>
        <p:spPr>
          <a:xfrm>
            <a:off x="9029471" y="2487168"/>
            <a:ext cx="2522144" cy="3200400"/>
          </a:xfrm>
          <a:prstGeom prst="rect">
            <a:avLst/>
          </a:prstGeom>
          <a:solidFill>
            <a:srgbClr val="F5ECD8"/>
          </a:solidFill>
          <a:ln/>
        </p:spPr>
      </p:sp>
      <p:sp>
        <p:nvSpPr>
          <p:cNvPr id="59" name="Shape 57"/>
          <p:cNvSpPr/>
          <p:nvPr/>
        </p:nvSpPr>
        <p:spPr>
          <a:xfrm>
            <a:off x="9148343" y="2606040"/>
            <a:ext cx="22844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1D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48343" y="2606040"/>
            <a:ext cx="64008" cy="676656"/>
          </a:xfrm>
          <a:prstGeom prst="rect">
            <a:avLst/>
          </a:prstGeom>
          <a:solidFill>
            <a:srgbClr val="BE7C18"/>
          </a:solidFill>
          <a:ln/>
        </p:spPr>
      </p:sp>
      <p:sp>
        <p:nvSpPr>
          <p:cNvPr id="61" name="Text 59"/>
          <p:cNvSpPr/>
          <p:nvPr/>
        </p:nvSpPr>
        <p:spPr>
          <a:xfrm>
            <a:off x="9322079" y="2679192"/>
            <a:ext cx="206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E7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322079" y="2852928"/>
            <a:ext cx="206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Paper2X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9322079" y="3063240"/>
            <a:ext cx="204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Posters, slides, videos, project pages, and interactive paper agents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029471" y="57607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new audiences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40080" y="60533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temporally ordered, the lifecycle is not strictly linear — reviewer critiques can send work back to earlier phases, and dissemination can expose errors that trigger revision.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1F7A7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recurring methodological families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stage, AI research systems reuse a small set of patterns — most practical systems combine several of them.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977481" cy="324612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57400"/>
            <a:ext cx="1977481" cy="82296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95144"/>
            <a:ext cx="15751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41248" y="2825496"/>
            <a:ext cx="15751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3538728"/>
            <a:ext cx="157514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prompting, chain-of-thought, role assignment, structured templates. No training; widely used but sensitive to wording.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73593" y="2057400"/>
            <a:ext cx="1977481" cy="324612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3593" y="2057400"/>
            <a:ext cx="1977481" cy="82296"/>
          </a:xfrm>
          <a:prstGeom prst="rect">
            <a:avLst/>
          </a:prstGeom>
          <a:solidFill>
            <a:srgbClr val="2D63A6"/>
          </a:solidFill>
          <a:ln/>
        </p:spPr>
      </p:sp>
      <p:sp>
        <p:nvSpPr>
          <p:cNvPr id="13" name="Text 11"/>
          <p:cNvSpPr/>
          <p:nvPr/>
        </p:nvSpPr>
        <p:spPr>
          <a:xfrm>
            <a:off x="3074761" y="2295144"/>
            <a:ext cx="15751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074761" y="2825496"/>
            <a:ext cx="15751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Retrieval-Augmented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74761" y="3538728"/>
            <a:ext cx="157514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outputs in paper corpora, citation graphs, and logs. Reduces hallucination — but not source correctness.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07107" y="2057400"/>
            <a:ext cx="1977481" cy="324612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07107" y="2057400"/>
            <a:ext cx="1977481" cy="82296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18" name="Text 16"/>
          <p:cNvSpPr/>
          <p:nvPr/>
        </p:nvSpPr>
        <p:spPr>
          <a:xfrm>
            <a:off x="5308275" y="2295144"/>
            <a:ext cx="15751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4A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08275" y="2825496"/>
            <a:ext cx="15751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Training-Free Agentic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08275" y="3538728"/>
            <a:ext cx="157514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tool use, memory, self-reflection, iterative execution. Strong at orchestration; risks error propagation.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40620" y="2057400"/>
            <a:ext cx="1977481" cy="324612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40620" y="2057400"/>
            <a:ext cx="1977481" cy="82296"/>
          </a:xfrm>
          <a:prstGeom prst="rect">
            <a:avLst/>
          </a:prstGeom>
          <a:solidFill>
            <a:srgbClr val="BE7C18"/>
          </a:solidFill>
          <a:ln/>
        </p:spPr>
      </p:sp>
      <p:sp>
        <p:nvSpPr>
          <p:cNvPr id="23" name="Text 21"/>
          <p:cNvSpPr/>
          <p:nvPr/>
        </p:nvSpPr>
        <p:spPr>
          <a:xfrm>
            <a:off x="7541788" y="2295144"/>
            <a:ext cx="15751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7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541788" y="2825496"/>
            <a:ext cx="15751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Training-Based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541788" y="3538728"/>
            <a:ext cx="157514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Fine-tuning, instruction tuning, RL, domain adaptation. Improves consistency; may overfit narrow distributions.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74134" y="2057400"/>
            <a:ext cx="1977481" cy="324612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74134" y="2057400"/>
            <a:ext cx="1977481" cy="82296"/>
          </a:xfrm>
          <a:prstGeom prst="rect">
            <a:avLst/>
          </a:prstGeom>
          <a:solidFill>
            <a:srgbClr val="BC4730"/>
          </a:solidFill>
          <a:ln/>
        </p:spPr>
      </p:sp>
      <p:sp>
        <p:nvSpPr>
          <p:cNvPr id="28" name="Text 26"/>
          <p:cNvSpPr/>
          <p:nvPr/>
        </p:nvSpPr>
        <p:spPr>
          <a:xfrm>
            <a:off x="9775302" y="2295144"/>
            <a:ext cx="15751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C4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775302" y="2825496"/>
            <a:ext cx="15751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Approaches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775302" y="3538728"/>
            <a:ext cx="157514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families into integrated systems. Increasingly dominant — research needs generation, grounding, and verification.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have evolved from prompt-based assistance toward retrieval-augmented, agentic, fine-tuned, and hybrid workflows.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1F7A7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isolated tools to lifecycle automation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301898" cy="320040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322576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36192" y="2377440"/>
            <a:ext cx="2204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2024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2971800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Stage-specific assistance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703320"/>
            <a:ext cx="27166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tools for literature search, scientific QA, and code generation. Coscientist plans lab workflows; AlphaFold 3 transforms specialized discovery.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96258" y="2011680"/>
            <a:ext cx="594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44898" y="2011680"/>
            <a:ext cx="3301898" cy="320040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7506" y="2322576"/>
            <a:ext cx="457200" cy="457200"/>
          </a:xfrm>
          <a:prstGeom prst="ellipse">
            <a:avLst/>
          </a:prstGeom>
          <a:solidFill>
            <a:srgbClr val="2D63A6"/>
          </a:solidFill>
          <a:ln/>
        </p:spPr>
      </p:sp>
      <p:sp>
        <p:nvSpPr>
          <p:cNvPr id="14" name="Text 12"/>
          <p:cNvSpPr/>
          <p:nvPr/>
        </p:nvSpPr>
        <p:spPr>
          <a:xfrm>
            <a:off x="4737506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1010" y="2377440"/>
            <a:ext cx="2204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D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37506" y="2971800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agents emerge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37506" y="3703320"/>
            <a:ext cx="27166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Scientist demonstrates a full pipeline — ideation, experiments, writing, review-style evaluation — assembled into one workflow.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01077" y="2011680"/>
            <a:ext cx="594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249717" y="2011680"/>
            <a:ext cx="3301898" cy="320040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322576"/>
            <a:ext cx="457200" cy="457200"/>
          </a:xfrm>
          <a:prstGeom prst="ellipse">
            <a:avLst/>
          </a:prstGeom>
          <a:solidFill>
            <a:srgbClr val="BE7C18"/>
          </a:solidFill>
          <a:ln/>
        </p:spPr>
      </p:sp>
      <p:sp>
        <p:nvSpPr>
          <p:cNvPr id="21" name="Text 19"/>
          <p:cNvSpPr/>
          <p:nvPr/>
        </p:nvSpPr>
        <p:spPr>
          <a:xfrm>
            <a:off x="8542325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5829" y="2377440"/>
            <a:ext cx="2204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BE7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EARLY 2026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42325" y="2971800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Specialization &amp; benchmarking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42325" y="3703320"/>
            <a:ext cx="27166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systems for nearly every stage: OpenScholar, AI Scientist v2, FARS, RebuttalAgent, AutoFigure-Edit, and dense benchmark coverage.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is no longer bottlenecked by model capability alone — but by orchestration, evaluation, reliability, and governance.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C3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108960" y="2395728"/>
            <a:ext cx="7253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127248" y="361188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an idea, situating it in prior work, producing empirical evidence, and constructing scientific visuals.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180015" y="2788920"/>
            <a:ext cx="1371600" cy="137160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6631" y="3145536"/>
            <a:ext cx="658368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5074920"/>
            <a:ext cx="256032" cy="914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" y="5074920"/>
            <a:ext cx="256032" cy="91440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0" y="5074920"/>
            <a:ext cx="256032" cy="91440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11" name="Shape 8"/>
          <p:cNvSpPr/>
          <p:nvPr/>
        </p:nvSpPr>
        <p:spPr>
          <a:xfrm>
            <a:off x="1737360" y="5074920"/>
            <a:ext cx="256032" cy="91440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CREATION — STAGE S1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637215" y="384048"/>
            <a:ext cx="914400" cy="91440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959" y="62179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Generation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96313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Generating, refining, and evaluating research hypotheses — from direct prompting to retrieval grounding, multi-agent collaboration, and learned quality signals.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250028" cy="2542032"/>
          </a:xfrm>
          <a:prstGeom prst="rect">
            <a:avLst/>
          </a:prstGeom>
          <a:solidFill>
            <a:srgbClr val="E7F0E9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473452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PROGRESS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50976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tool-rich stages: prompting, RAG, multi-agent, learned scoring, and test-time search.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capability progression — prompting → RAG → multi-agent → RL-trained.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grounding (retrieval, knowledge graphs) better connects ideas to the research frontier.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301588" y="2240280"/>
            <a:ext cx="5250028" cy="2542032"/>
          </a:xfrm>
          <a:prstGeom prst="rect">
            <a:avLst/>
          </a:prstGeom>
          <a:solidFill>
            <a:srgbClr val="F7E7E3"/>
          </a:solidFill>
          <a:ln w="12700">
            <a:solidFill>
              <a:srgbClr val="BC47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94196" y="2473452"/>
            <a:ext cx="146304" cy="146304"/>
          </a:xfrm>
          <a:prstGeom prst="ellipse">
            <a:avLst/>
          </a:prstGeom>
          <a:solidFill>
            <a:srgbClr val="BC473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0228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C4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&amp; LIMITATIONS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2484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degrade after execution: Δ = -1.98 for AI ideas vs -0.63 for human ideas.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novelty–feasibility tradeoff; diversity collapse appears structural, not solved by scale.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can reward apparent novelty — novelty scores negatively correlate with real impact.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40080" y="4956048"/>
            <a:ext cx="10911535" cy="1005840"/>
          </a:xfrm>
          <a:prstGeom prst="rect">
            <a:avLst/>
          </a:prstGeom>
          <a:solidFill>
            <a:srgbClr val="2024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4956048"/>
            <a:ext cx="109728" cy="10058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95604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0.6  vs  &lt; 0.5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4526280" y="5157216"/>
            <a:ext cx="0" cy="603504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4956048"/>
            <a:ext cx="6476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LLMs score above 0.6 on idea novelty but below 0.5 on feasibility — plausible ideas remain easier to generate than executable ones.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CREATION — STAGE S2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637215" y="384048"/>
            <a:ext cx="914400" cy="91440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959" y="62179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96313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Retrieving, synthesizing, and organizing prior work — spanning semantic retrieval, citation-aware synthesis, and long-horizon deep research agents.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250028" cy="2542032"/>
          </a:xfrm>
          <a:prstGeom prst="rect">
            <a:avLst/>
          </a:prstGeom>
          <a:solidFill>
            <a:srgbClr val="E7F0E9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473452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PROGRESS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50976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Fastest-maturing stage: four generations in two years across 35+ surveyed systems.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and open systems converge on one loop: plan → retrieve → read → update → synthesize.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data and tool-use supervision can matter as much as raw model scale.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301588" y="2240280"/>
            <a:ext cx="5250028" cy="2542032"/>
          </a:xfrm>
          <a:prstGeom prst="rect">
            <a:avLst/>
          </a:prstGeom>
          <a:solidFill>
            <a:srgbClr val="F7E7E3"/>
          </a:solidFill>
          <a:ln w="12700">
            <a:solidFill>
              <a:srgbClr val="BC47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94196" y="2473452"/>
            <a:ext cx="146304" cy="146304"/>
          </a:xfrm>
          <a:prstGeom prst="ellipse">
            <a:avLst/>
          </a:prstGeom>
          <a:solidFill>
            <a:srgbClr val="BC473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0228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C4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&amp; LIMITATIONS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2484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Multi-paper relational reasoning is a core bottleneck; citation top-1 accuracy stays limited.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has shifted from obvious fabrication to subtle misgrounding of well-cited claims.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systems target ML/NLP — cross-domain synthesis remains largely untested.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40080" y="4956048"/>
            <a:ext cx="10911535" cy="1005840"/>
          </a:xfrm>
          <a:prstGeom prst="rect">
            <a:avLst/>
          </a:prstGeom>
          <a:solidFill>
            <a:srgbClr val="2024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4956048"/>
            <a:ext cx="109728" cy="10058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95604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40.1%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4526280" y="5157216"/>
            <a:ext cx="0" cy="603504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4956048"/>
            <a:ext cx="6476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citation accuracy reported by a leading writing-and-citation system — generating plausible related work is still easier than grounding each claim correctly.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CREATION — STAGE S3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637215" y="384048"/>
            <a:ext cx="914400" cy="91440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959" y="62179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&amp; Experiments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96313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ideas into executable implementations, running experiments, and interpreting evidence — the stage with the sharpest capability boundary in the survey.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250028" cy="2542032"/>
          </a:xfrm>
          <a:prstGeom prst="rect">
            <a:avLst/>
          </a:prstGeom>
          <a:solidFill>
            <a:srgbClr val="E7F0E9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473452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PROGRESS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50976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infrastructure is no longer the bottleneck — closed-loop systems sustain ~12 experiments/hour.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generation with search (evolutionary, tree, RL) consistently beats raw code generation.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code generation is mature: frontier systems exceed 76% on SWE-bench Verified.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301588" y="2240280"/>
            <a:ext cx="5250028" cy="2542032"/>
          </a:xfrm>
          <a:prstGeom prst="rect">
            <a:avLst/>
          </a:prstGeom>
          <a:solidFill>
            <a:srgbClr val="F7E7E3"/>
          </a:solidFill>
          <a:ln w="12700">
            <a:solidFill>
              <a:srgbClr val="BC47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94196" y="2473452"/>
            <a:ext cx="146304" cy="146304"/>
          </a:xfrm>
          <a:prstGeom prst="ellipse">
            <a:avLst/>
          </a:prstGeom>
          <a:solidFill>
            <a:srgbClr val="BC473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0228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C4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&amp; LIMITATIONS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2484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failures dominate: code executes successfully while implementing the wrong algorithm.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planning still depends heavily on human scientific judgment.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fully autonomous results are fabricated; downstream review catches only half of issues.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40080" y="4956048"/>
            <a:ext cx="10911535" cy="1005840"/>
          </a:xfrm>
          <a:prstGeom prst="rect">
            <a:avLst/>
          </a:prstGeom>
          <a:solidFill>
            <a:srgbClr val="2024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4956048"/>
            <a:ext cx="109728" cy="10058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95604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  vs  37–39%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4526280" y="5157216"/>
            <a:ext cx="0" cy="603504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4956048"/>
            <a:ext cx="6476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familiar pattern-matching code versus genuinely novel research code — the sharpest capability cliff observed across all eight stages.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CREATION — STAGE S4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637215" y="384048"/>
            <a:ext cx="914400" cy="91440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959" y="62179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Tables &amp; Figures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96313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experimental outputs into publication-ready artifacts — scientific figures, data plots, comparison tables, formulas, and algorithm pseudocode.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250028" cy="2542032"/>
          </a:xfrm>
          <a:prstGeom prst="rect">
            <a:avLst/>
          </a:prstGeom>
          <a:solidFill>
            <a:srgbClr val="E7F0E9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473452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PROGRESS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50976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stage from zero: 20+ systems appeared within roughly a year.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data visualization is increasingly tractable — 90%+ execution pass rates.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training makes small specialized models competitive (e.g. for TikZ).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301588" y="2240280"/>
            <a:ext cx="5250028" cy="2542032"/>
          </a:xfrm>
          <a:prstGeom prst="rect">
            <a:avLst/>
          </a:prstGeom>
          <a:solidFill>
            <a:srgbClr val="F7E7E3"/>
          </a:solidFill>
          <a:ln w="12700">
            <a:solidFill>
              <a:srgbClr val="BC47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94196" y="2473452"/>
            <a:ext cx="146304" cy="146304"/>
          </a:xfrm>
          <a:prstGeom prst="ellipse">
            <a:avLst/>
          </a:prstGeom>
          <a:solidFill>
            <a:srgbClr val="BC473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0228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C4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&amp; LIMITATIONS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2484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plausibility ≠ scientific correctness: polished artifacts can misrepresent data or structure.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is uneven — figures lead, tables lag, formulas remain fragile.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Formula, TikZ, and pseudocode generation stay brittle — small syntactic errors change the meaning.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40080" y="4956048"/>
            <a:ext cx="10911535" cy="1005840"/>
          </a:xfrm>
          <a:prstGeom prst="rect">
            <a:avLst/>
          </a:prstGeom>
          <a:solidFill>
            <a:srgbClr val="2024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4956048"/>
            <a:ext cx="109728" cy="10058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95604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78.8% → 15%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4526280" y="5157216"/>
            <a:ext cx="0" cy="603504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4956048"/>
            <a:ext cx="6476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Formula-generation accuracy collapses as LaTeX complexity rises — AI visual tools remain assistants requiring human verification, not autonomous producers.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TWO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C3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108960" y="2395728"/>
            <a:ext cx="7253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127248" y="361188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the artifacts of creation into a coherent scholarly argument — rhetorical and evidential organization, not mere formatting.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180015" y="2788920"/>
            <a:ext cx="1371600" cy="1371600"/>
          </a:xfrm>
          <a:prstGeom prst="ellipse">
            <a:avLst/>
          </a:prstGeom>
          <a:solidFill>
            <a:srgbClr val="2D63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6631" y="3145536"/>
            <a:ext cx="658368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5074920"/>
            <a:ext cx="256032" cy="91440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" y="5074920"/>
            <a:ext cx="256032" cy="91440"/>
          </a:xfrm>
          <a:prstGeom prst="rect">
            <a:avLst/>
          </a:prstGeom>
          <a:solidFill>
            <a:srgbClr val="2D63A6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0" y="5074920"/>
            <a:ext cx="256032" cy="91440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11" name="Shape 8"/>
          <p:cNvSpPr/>
          <p:nvPr/>
        </p:nvSpPr>
        <p:spPr>
          <a:xfrm>
            <a:off x="1737360" y="5074920"/>
            <a:ext cx="256032" cy="91440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2D63A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D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WRITING — STAGE S5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637215" y="384048"/>
            <a:ext cx="914400" cy="914400"/>
          </a:xfrm>
          <a:prstGeom prst="ellipse">
            <a:avLst/>
          </a:prstGeom>
          <a:solidFill>
            <a:srgbClr val="2D63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959" y="62179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Writing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96313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Drafting, polishing, and structuring manuscripts — from grammar and citation support to section-level drafting and fully automated paper generation.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250028" cy="2542032"/>
          </a:xfrm>
          <a:prstGeom prst="rect">
            <a:avLst/>
          </a:prstGeom>
          <a:solidFill>
            <a:srgbClr val="E4EAF2"/>
          </a:solidFill>
          <a:ln w="12700">
            <a:solidFill>
              <a:srgbClr val="2D63A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473452"/>
            <a:ext cx="146304" cy="146304"/>
          </a:xfrm>
          <a:prstGeom prst="ellipse">
            <a:avLst/>
          </a:prstGeom>
          <a:solidFill>
            <a:srgbClr val="2D63A6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D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PROGRESS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50976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most widely adopted AI-assisted research stages, end to end.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automated systems score 5.36 on the ICLR scale (accepted average: 5.69).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Rubric-guided revision reaches 79% expert preference; transparency tools are emerging.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301588" y="2240280"/>
            <a:ext cx="5250028" cy="2542032"/>
          </a:xfrm>
          <a:prstGeom prst="rect">
            <a:avLst/>
          </a:prstGeom>
          <a:solidFill>
            <a:srgbClr val="F7E7E3"/>
          </a:solidFill>
          <a:ln w="12700">
            <a:solidFill>
              <a:srgbClr val="BC47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94196" y="2473452"/>
            <a:ext cx="146304" cy="146304"/>
          </a:xfrm>
          <a:prstGeom prst="ellipse">
            <a:avLst/>
          </a:prstGeom>
          <a:solidFill>
            <a:srgbClr val="BC473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0228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C4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&amp; LIMITATIONS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2484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'valley of mediocrity' — fluent enough to look real, but lacking argumentative depth.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and quality diverge: more output does not mean stronger acceptance outcomes.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have high false-positive rates, forcing a shift from 'detect' to 'declare' policies.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40080" y="4956048"/>
            <a:ext cx="10911535" cy="1005840"/>
          </a:xfrm>
          <a:prstGeom prst="rect">
            <a:avLst/>
          </a:prstGeom>
          <a:solidFill>
            <a:srgbClr val="2024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4956048"/>
            <a:ext cx="109728" cy="1005840"/>
          </a:xfrm>
          <a:prstGeom prst="rect">
            <a:avLst/>
          </a:prstGeom>
          <a:solidFill>
            <a:srgbClr val="2D63A6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95604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17.5%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4526280" y="5157216"/>
            <a:ext cx="0" cy="603504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4956048"/>
            <a:ext cx="6476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share of computer-science abstracts already carrying detectable AI modification — AI writing assistance is now embedded in everyday practice.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THREE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C3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108960" y="2395728"/>
            <a:ext cx="7253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127248" y="361188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scrutiny by the community — peer review and the rebuttal loop through which claims are challenged, defended, and revised.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180015" y="2788920"/>
            <a:ext cx="1371600" cy="1371600"/>
          </a:xfrm>
          <a:prstGeom prst="ellipse">
            <a:avLst/>
          </a:prstGeom>
          <a:solidFill>
            <a:srgbClr val="6B4A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6631" y="3145536"/>
            <a:ext cx="658368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5074920"/>
            <a:ext cx="256032" cy="91440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" y="5074920"/>
            <a:ext cx="256032" cy="91440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0" y="5074920"/>
            <a:ext cx="256032" cy="91440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11" name="Shape 8"/>
          <p:cNvSpPr/>
          <p:nvPr/>
        </p:nvSpPr>
        <p:spPr>
          <a:xfrm>
            <a:off x="1737360" y="5074920"/>
            <a:ext cx="256032" cy="91440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6B4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VALIDATION — STAGE S6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637215" y="384048"/>
            <a:ext cx="914400" cy="914400"/>
          </a:xfrm>
          <a:prstGeom prst="ellipse">
            <a:avLst/>
          </a:prstGeom>
          <a:solidFill>
            <a:srgbClr val="6B4A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959" y="62179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Review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96313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structured critiques, synthesizing meta-reviews, and matching reviewers — systems meant to assist, not replace, the community's evaluative process.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250028" cy="2542032"/>
          </a:xfrm>
          <a:prstGeom prst="rect">
            <a:avLst/>
          </a:prstGeom>
          <a:solidFill>
            <a:srgbClr val="ECE7F1"/>
          </a:solidFill>
          <a:ln w="12700">
            <a:solidFill>
              <a:srgbClr val="6B4A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473452"/>
            <a:ext cx="146304" cy="146304"/>
          </a:xfrm>
          <a:prstGeom prst="ellipse">
            <a:avLst/>
          </a:prstGeom>
          <a:solidFill>
            <a:srgbClr val="6B4A93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B4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PROGRESS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50976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validated mode: LLM feedback on human reviews improved quality in 89% of ICLR 2025 cases.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reviewers approach human-level consistency (ρ = 0.42 vs human ρ = 0.41).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matching and meta-review are promising — they assist coordination, not judgment.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301588" y="2240280"/>
            <a:ext cx="5250028" cy="2542032"/>
          </a:xfrm>
          <a:prstGeom prst="rect">
            <a:avLst/>
          </a:prstGeom>
          <a:solidFill>
            <a:srgbClr val="F7E7E3"/>
          </a:solidFill>
          <a:ln w="12700">
            <a:solidFill>
              <a:srgbClr val="BC47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94196" y="2473452"/>
            <a:ext cx="146304" cy="146304"/>
          </a:xfrm>
          <a:prstGeom prst="ellipse">
            <a:avLst/>
          </a:prstGeom>
          <a:solidFill>
            <a:srgbClr val="BC473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0228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C4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&amp; LIMITATIONS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2484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AI review is unsafe: inflated scores (6.86 vs human 5.70); 95.8% of rejects misjudged.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fragility — prompt injection, benign-adjective triggers, ranking manipulation.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reviewing is already prevalent, yet detectors fail on polished reviews.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40080" y="4956048"/>
            <a:ext cx="10911535" cy="1005840"/>
          </a:xfrm>
          <a:prstGeom prst="rect">
            <a:avLst/>
          </a:prstGeom>
          <a:solidFill>
            <a:srgbClr val="2024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4956048"/>
            <a:ext cx="109728" cy="1005840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95604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4526280" y="5157216"/>
            <a:ext cx="0" cy="603504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4956048"/>
            <a:ext cx="6476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reviews improved when LLMs gave feedback on human reviews — without affecting acceptance rates. AI improving review beats AI replacing the reviewer.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6B4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VALIDATION — STAGE S7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637215" y="384048"/>
            <a:ext cx="914400" cy="914400"/>
          </a:xfrm>
          <a:prstGeom prst="ellipse">
            <a:avLst/>
          </a:prstGeom>
          <a:solidFill>
            <a:srgbClr val="6B4A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959" y="62179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Rebuttal &amp; Revision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96313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point where authors engage directly with reviewer objections — analyzing comments, drafting evidence-grounded responses, and tracking revisions.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250028" cy="2542032"/>
          </a:xfrm>
          <a:prstGeom prst="rect">
            <a:avLst/>
          </a:prstGeom>
          <a:solidFill>
            <a:srgbClr val="ECE7F1"/>
          </a:solidFill>
          <a:ln w="12700">
            <a:solidFill>
              <a:srgbClr val="6B4A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473452"/>
            <a:ext cx="146304" cy="146304"/>
          </a:xfrm>
          <a:prstGeom prst="ellipse">
            <a:avLst/>
          </a:prstGeom>
          <a:solidFill>
            <a:srgbClr val="6B4A93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B4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PROGRESS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50976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emerging distinct stage — moving toward decomposition, retrieval, and author-aware generation.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 for borderline papers: 17–23% of ICLR 2024–25 submissions improve scores.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Evidence-centric planning addresses missed concerns and generic, unsupported responses.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301588" y="2240280"/>
            <a:ext cx="5250028" cy="2542032"/>
          </a:xfrm>
          <a:prstGeom prst="rect">
            <a:avLst/>
          </a:prstGeom>
          <a:solidFill>
            <a:srgbClr val="F7E7E3"/>
          </a:solidFill>
          <a:ln w="12700">
            <a:solidFill>
              <a:srgbClr val="BC47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94196" y="2473452"/>
            <a:ext cx="146304" cy="146304"/>
          </a:xfrm>
          <a:prstGeom prst="ellipse">
            <a:avLst/>
          </a:prstGeom>
          <a:solidFill>
            <a:srgbClr val="BC473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0228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C4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&amp; LIMITATIONS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2484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cannot generate new experimental evidence — the rebuttal → coding loop stays unautomated.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gap: ~25% of ICLR 2025 rebuttal commitments are never fulfilled.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remains under-served relative to its real influence on final decisions.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40080" y="4956048"/>
            <a:ext cx="10911535" cy="1005840"/>
          </a:xfrm>
          <a:prstGeom prst="rect">
            <a:avLst/>
          </a:prstGeom>
          <a:solidFill>
            <a:srgbClr val="2024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4956048"/>
            <a:ext cx="109728" cy="1005840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95604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4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4526280" y="5157216"/>
            <a:ext cx="0" cy="603504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4956048"/>
            <a:ext cx="6476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one in four rebuttal commitments at ICLR 2025 went unfulfilled in the camera-ready version — persuasive text is no substitute for delivered promises.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FOUR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C3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108960" y="2395728"/>
            <a:ext cx="7253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Dissemination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127248" y="361188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validated research for posters, slides, videos, project pages, social media, and interactive paper agents.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180015" y="2788920"/>
            <a:ext cx="1371600" cy="1371600"/>
          </a:xfrm>
          <a:prstGeom prst="ellipse">
            <a:avLst/>
          </a:prstGeom>
          <a:solidFill>
            <a:srgbClr val="BE7C1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6631" y="3145536"/>
            <a:ext cx="658368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5074920"/>
            <a:ext cx="256032" cy="91440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" y="5074920"/>
            <a:ext cx="256032" cy="91440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0" y="5074920"/>
            <a:ext cx="256032" cy="91440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11" name="Shape 8"/>
          <p:cNvSpPr/>
          <p:nvPr/>
        </p:nvSpPr>
        <p:spPr>
          <a:xfrm>
            <a:off x="1737360" y="5074920"/>
            <a:ext cx="256032" cy="91440"/>
          </a:xfrm>
          <a:prstGeom prst="rect">
            <a:avLst/>
          </a:prstGeom>
          <a:solidFill>
            <a:srgbClr val="BE7C18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BE7C1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BE7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DISSEMINATION — STAGE S8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637215" y="384048"/>
            <a:ext cx="914400" cy="914400"/>
          </a:xfrm>
          <a:prstGeom prst="ellipse">
            <a:avLst/>
          </a:prstGeom>
          <a:solidFill>
            <a:srgbClr val="BE7C1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959" y="62179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Paper2X — Research Dissemination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96313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finished paper into audience-adaptive artifacts — posters, slides, narrated videos, web pages, social posts, and interactive agents.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250028" cy="2542032"/>
          </a:xfrm>
          <a:prstGeom prst="rect">
            <a:avLst/>
          </a:prstGeom>
          <a:solidFill>
            <a:srgbClr val="F5ECD8"/>
          </a:solidFill>
          <a:ln w="12700">
            <a:solidFill>
              <a:srgbClr val="BE7C1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473452"/>
            <a:ext cx="146304" cy="146304"/>
          </a:xfrm>
          <a:prstGeom prst="ellipse">
            <a:avLst/>
          </a:prstGeom>
          <a:solidFill>
            <a:srgbClr val="BE7C18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E7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PROGRESS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50976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barrier effectively eliminated — poster generation at ~$0.005 each.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and slide generation lead — moving toward editable, feedback-aware workflows.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Paper-to-agent systems extend dissemination from explanation to interactive reuse.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301588" y="2240280"/>
            <a:ext cx="5250028" cy="2542032"/>
          </a:xfrm>
          <a:prstGeom prst="rect">
            <a:avLst/>
          </a:prstGeom>
          <a:solidFill>
            <a:srgbClr val="F7E7E3"/>
          </a:solidFill>
          <a:ln w="12700">
            <a:solidFill>
              <a:srgbClr val="BC47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94196" y="2473452"/>
            <a:ext cx="146304" cy="146304"/>
          </a:xfrm>
          <a:prstGeom prst="ellipse">
            <a:avLst/>
          </a:prstGeom>
          <a:solidFill>
            <a:srgbClr val="BC473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0228" y="2414016"/>
            <a:ext cx="4427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C4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&amp; LIMITATIONS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2484" y="2807208"/>
            <a:ext cx="46465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— not cost — is the bottleneck: artifacts must preserve claims, caveats, and limitations.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remains hard: it must coordinate slides, narration, pacing, and timing together.</a:t>
            </a:r>
            <a:endParaRPr lang="en-US" sz="118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Social-media dissemination is limited by audience modeling — simplifying without distorting.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40080" y="4956048"/>
            <a:ext cx="10911535" cy="1005840"/>
          </a:xfrm>
          <a:prstGeom prst="rect">
            <a:avLst/>
          </a:prstGeom>
          <a:solidFill>
            <a:srgbClr val="2024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4956048"/>
            <a:ext cx="109728" cy="1005840"/>
          </a:xfrm>
          <a:prstGeom prst="rect">
            <a:avLst/>
          </a:prstGeom>
          <a:solidFill>
            <a:srgbClr val="BE7C18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95604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$0.005 / poster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4526280" y="5157216"/>
            <a:ext cx="0" cy="603504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4956048"/>
            <a:ext cx="6476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cost is no longer the constraint; whether researchers trust AI artifacts enough to publish them is the open question.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1F7A7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systems: four architectures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Lifecycle-scale systems differ in how they connect stages — and where the hand-offs between phases remain fragile.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72888" cy="187452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91440" cy="187452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216712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 Pipelines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50976" y="2569464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run in linear order — simple and interpretable, but each weak artifact propagates downstream.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" y="3410712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 Scientist · Agent Laboratory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78728" y="1965960"/>
            <a:ext cx="5272888" cy="187452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965960"/>
            <a:ext cx="91440" cy="1874520"/>
          </a:xfrm>
          <a:prstGeom prst="rect">
            <a:avLst/>
          </a:prstGeom>
          <a:solidFill>
            <a:srgbClr val="2D63A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9624" y="216712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Search-Based &amp; Self-Improving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89624" y="2569464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search and evolution explore research trajectories — better matching the iterative structure of science.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9624" y="3410712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Scientist v2 · AlphaEvolve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5272888" cy="187452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114800"/>
            <a:ext cx="91440" cy="1874520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431596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Skill-Based &amp; Tool-Integrated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0976" y="4718304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packaged as composable, inspectable skills — modular, but needs reliable shared state.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" y="5559552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ARIS · Biomni · SciSciGPT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78728" y="4114800"/>
            <a:ext cx="5272888" cy="187452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4114800"/>
            <a:ext cx="91440" cy="1874520"/>
          </a:xfrm>
          <a:prstGeom prst="rect">
            <a:avLst/>
          </a:prstGeom>
          <a:solidFill>
            <a:srgbClr val="BE7C18"/>
          </a:solidFill>
          <a:ln/>
        </p:spPr>
      </p:sp>
      <p:sp>
        <p:nvSpPr>
          <p:cNvPr id="23" name="Text 21"/>
          <p:cNvSpPr/>
          <p:nvPr/>
        </p:nvSpPr>
        <p:spPr>
          <a:xfrm>
            <a:off x="6589624" y="431596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&amp; Community-Scale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589624" y="4718304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and simulated communities reduce self-confirmation — at the cost of coordination overhead.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9624" y="5559552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7C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VirSci · ResearchTown · FARS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coverage is uneven: most systems cover Creation and Writing, fewer Validation, none mature Dissemination. The main risk is unverified hand-off, not isolated stage failure.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BC473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BC4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capability cliff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reliable on structured, retrieval-grounded, tool-mediated tasks — and fragile the moment a task demands genuine novelty or scientific judgment.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4028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360920" y="2240280"/>
            <a:ext cx="4190695" cy="1691640"/>
          </a:xfrm>
          <a:prstGeom prst="rect">
            <a:avLst/>
          </a:prstGeom>
          <a:solidFill>
            <a:srgbClr val="F7E7E3"/>
          </a:solidFill>
          <a:ln w="12700">
            <a:solidFill>
              <a:srgbClr val="BC47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16952" y="2432304"/>
            <a:ext cx="3678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C4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16952" y="2724912"/>
            <a:ext cx="367863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research-code errors are semantic — the program runs while implementing the wrong algorithm. High benchmark scores can mask this when tasks are familiar or well-scaffolded.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60920" y="4069080"/>
            <a:ext cx="4190695" cy="1828800"/>
          </a:xfrm>
          <a:prstGeom prst="rect">
            <a:avLst/>
          </a:prstGeom>
          <a:solidFill>
            <a:srgbClr val="20242E"/>
          </a:solidFill>
          <a:ln/>
        </p:spPr>
      </p:sp>
      <p:sp>
        <p:nvSpPr>
          <p:cNvPr id="11" name="Text 8"/>
          <p:cNvSpPr/>
          <p:nvPr/>
        </p:nvSpPr>
        <p:spPr>
          <a:xfrm>
            <a:off x="7616952" y="4261104"/>
            <a:ext cx="3678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16952" y="4553712"/>
            <a:ext cx="367863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drops sharply whenever a task requires implicit domain knowledge, causal reasoning, long-horizon feedback, or expert judgment — none solvable by pattern matching alone.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1F7A7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is the central bottleneck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metric captures research quality. Evaluation has evolved from isolated task scores toward multi-dimensional, process-aware, and execution-grounded protocols.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EVALUATION METHODOLOGIES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0704" y="248716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evaluation 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credible for novelty &amp; contribution — but slow, costly, and noisy.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60704" y="3090672"/>
            <a:ext cx="5212080" cy="0"/>
          </a:xfrm>
          <a:prstGeom prst="line">
            <a:avLst/>
          </a:prstGeom>
          <a:noFill/>
          <a:ln w="9525">
            <a:solidFill>
              <a:srgbClr val="E2E1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455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60704" y="314553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 &amp; Agent-as-Judge 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proxies; prone to positivity, length, and authority bias.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60704" y="3749040"/>
            <a:ext cx="5212080" cy="0"/>
          </a:xfrm>
          <a:prstGeom prst="line">
            <a:avLst/>
          </a:prstGeom>
          <a:noFill/>
          <a:ln w="9525">
            <a:solidFill>
              <a:srgbClr val="E2E1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039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60704" y="380390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metrics 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but narrow — code execution, citation accuracy, BLEU / ROUGE.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60704" y="4407408"/>
            <a:ext cx="5212080" cy="0"/>
          </a:xfrm>
          <a:prstGeom prst="line">
            <a:avLst/>
          </a:prstGeom>
          <a:noFill/>
          <a:ln w="9525">
            <a:solidFill>
              <a:srgbClr val="E2E1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622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60704" y="446227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Execution-grounded 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claims by running code and reproducing experiments.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60704" y="5065776"/>
            <a:ext cx="5212080" cy="0"/>
          </a:xfrm>
          <a:prstGeom prst="line">
            <a:avLst/>
          </a:prstGeom>
          <a:noFill/>
          <a:ln w="9525">
            <a:solidFill>
              <a:srgbClr val="E2E1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120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60704" y="512064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 &amp; trace-based 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how a system reaches an output, not just the final artifact.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29400" y="2148840"/>
            <a:ext cx="4922215" cy="2148840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340864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4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PARADIGMS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651760"/>
            <a:ext cx="43735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8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Execution-grounded — </a:t>
            </a:r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8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checked against runnable artifacts</a:t>
            </a:r>
            <a:endParaRPr lang="en-US" sz="118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8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— </a:t>
            </a:r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8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manipulation as a metric</a:t>
            </a:r>
            <a:endParaRPr lang="en-US" sz="118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8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— </a:t>
            </a:r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8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spanning weeks, not minutes</a:t>
            </a:r>
            <a:endParaRPr lang="en-US" sz="118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8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Lifecycle-level — </a:t>
            </a:r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8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traced across all phase boundaries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629400" y="4434840"/>
            <a:ext cx="4922215" cy="1463040"/>
          </a:xfrm>
          <a:prstGeom prst="rect">
            <a:avLst/>
          </a:prstGeom>
          <a:solidFill>
            <a:srgbClr val="20242E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461772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UNRESOLVED GAP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4919472"/>
            <a:ext cx="4373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yet evaluates the complete research lifecycle with human-equivalent rigor — systems can look strong per-stage while losing fidelity across the process.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1F7A7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cross-cutting insights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46504"/>
            <a:ext cx="10911535" cy="859536"/>
          </a:xfrm>
          <a:prstGeom prst="rect">
            <a:avLst/>
          </a:prstGeom>
          <a:solidFill>
            <a:srgbClr val="F1F2F4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828800"/>
            <a:ext cx="585216" cy="585216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828" y="1980956"/>
            <a:ext cx="280904" cy="280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8308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267712" y="1783080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Artifact generation outpaces verification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40880" y="1783080"/>
            <a:ext cx="45107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stage, AI produces plausible outputs faster than it can prove them correct or meaningful.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" y="2688336"/>
            <a:ext cx="585216" cy="585216"/>
          </a:xfrm>
          <a:prstGeom prst="ellipse">
            <a:avLst/>
          </a:prstGeom>
          <a:solidFill>
            <a:srgbClr val="2D63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828" y="2840492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642616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6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267712" y="2642616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Human-governed collaboration is most reliable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040880" y="2642616"/>
            <a:ext cx="45107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full autonomy — AI reduces friction while researchers retain judgment and accountability.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465576"/>
            <a:ext cx="10911535" cy="859536"/>
          </a:xfrm>
          <a:prstGeom prst="rect">
            <a:avLst/>
          </a:prstGeom>
          <a:solidFill>
            <a:srgbClr val="F1F2F4"/>
          </a:solidFill>
          <a:ln/>
        </p:spPr>
      </p:sp>
      <p:sp>
        <p:nvSpPr>
          <p:cNvPr id="17" name="Shape 13"/>
          <p:cNvSpPr/>
          <p:nvPr/>
        </p:nvSpPr>
        <p:spPr>
          <a:xfrm>
            <a:off x="804672" y="3547872"/>
            <a:ext cx="585216" cy="585216"/>
          </a:xfrm>
          <a:prstGeom prst="ellipse">
            <a:avLst/>
          </a:prstGeom>
          <a:solidFill>
            <a:srgbClr val="6B4A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28" y="3700028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502152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A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2267712" y="3502152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boundaries emerge in open-ended tasks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040880" y="3502152"/>
            <a:ext cx="45107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falls sharply when tasks demand novelty, implicit knowledge, or long-horizon reasoning.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04672" y="4407408"/>
            <a:ext cx="585216" cy="585216"/>
          </a:xfrm>
          <a:prstGeom prst="ellipse">
            <a:avLst/>
          </a:prstGeom>
          <a:solidFill>
            <a:srgbClr val="BE7C1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828" y="4559564"/>
            <a:ext cx="280904" cy="2809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436168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E7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2267712" y="4361688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Effective systems converge on layered architectures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040880" y="4361688"/>
            <a:ext cx="45107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Exploration, tool-based execution, and verification combined — design rivals raw model scale.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40080" y="5184648"/>
            <a:ext cx="10911535" cy="859536"/>
          </a:xfrm>
          <a:prstGeom prst="rect">
            <a:avLst/>
          </a:prstGeom>
          <a:solidFill>
            <a:srgbClr val="F1F2F4"/>
          </a:solidFill>
          <a:ln/>
        </p:spPr>
      </p:sp>
      <p:sp>
        <p:nvSpPr>
          <p:cNvPr id="28" name="Shape 22"/>
          <p:cNvSpPr/>
          <p:nvPr/>
        </p:nvSpPr>
        <p:spPr>
          <a:xfrm>
            <a:off x="804672" y="5266944"/>
            <a:ext cx="585216" cy="585216"/>
          </a:xfrm>
          <a:prstGeom prst="ellipse">
            <a:avLst/>
          </a:prstGeom>
          <a:solidFill>
            <a:srgbClr val="BC4730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828" y="5419100"/>
            <a:ext cx="280904" cy="28090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54480" y="5221224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C4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 24"/>
          <p:cNvSpPr/>
          <p:nvPr/>
        </p:nvSpPr>
        <p:spPr>
          <a:xfrm>
            <a:off x="2267712" y="5221224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use is a governance problem, not a detection problem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7040880" y="5221224"/>
            <a:ext cx="45107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assistance becomes routine, what matters is disclosure, attribution, and responsibility.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9728" cy="109728"/>
          </a:xfrm>
          <a:prstGeom prst="rect">
            <a:avLst/>
          </a:prstGeom>
          <a:solidFill>
            <a:srgbClr val="1F7A7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710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challenges &amp; future directions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barriers to reliable AI-assisted research are not missing tools — they are the hard problems of faithfulness, judgment, and accountability.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423818" cy="1755648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249424"/>
            <a:ext cx="548640" cy="54864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392070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2231136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Phase-boundary faithfulness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96112" y="2907792"/>
            <a:ext cx="291175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3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traceable links as artifacts move from one stage to the next.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4383938" y="2011680"/>
            <a:ext cx="3423818" cy="1755648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21682" y="2249424"/>
            <a:ext cx="548640" cy="548640"/>
          </a:xfrm>
          <a:prstGeom prst="ellipse">
            <a:avLst/>
          </a:prstGeom>
          <a:solidFill>
            <a:srgbClr val="2D63A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329" y="239207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0050" y="2231136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judgment &amp; novelty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39970" y="2907792"/>
            <a:ext cx="291175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3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significance and contribution beyond surface novelty or benchmark score.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8127797" y="2011680"/>
            <a:ext cx="3423818" cy="1755648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5541" y="2249424"/>
            <a:ext cx="548640" cy="548640"/>
          </a:xfrm>
          <a:prstGeom prst="ellipse">
            <a:avLst/>
          </a:prstGeom>
          <a:solidFill>
            <a:srgbClr val="6B4A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187" y="239207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23909" y="2231136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&amp; reproducibility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83829" y="2907792"/>
            <a:ext cx="291175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3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claim auditable through evidence ledgers and revision tracking.</a:t>
            </a:r>
            <a:endParaRPr lang="en-US" sz="1130" dirty="0"/>
          </a:p>
        </p:txBody>
      </p:sp>
      <p:sp>
        <p:nvSpPr>
          <p:cNvPr id="21" name="Shape 16"/>
          <p:cNvSpPr/>
          <p:nvPr/>
        </p:nvSpPr>
        <p:spPr>
          <a:xfrm>
            <a:off x="640080" y="4041648"/>
            <a:ext cx="3423818" cy="1755648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77824" y="4279392"/>
            <a:ext cx="548640" cy="548640"/>
          </a:xfrm>
          <a:prstGeom prst="ellipse">
            <a:avLst/>
          </a:prstGeom>
          <a:solidFill>
            <a:srgbClr val="BE7C1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4422038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36192" y="4261104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 &amp; source provenance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896112" y="4937760"/>
            <a:ext cx="291175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3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citation as versioned source-grounding, not a formatting step.</a:t>
            </a:r>
            <a:endParaRPr lang="en-US" sz="1130" dirty="0"/>
          </a:p>
        </p:txBody>
      </p:sp>
      <p:sp>
        <p:nvSpPr>
          <p:cNvPr id="26" name="Shape 20"/>
          <p:cNvSpPr/>
          <p:nvPr/>
        </p:nvSpPr>
        <p:spPr>
          <a:xfrm>
            <a:off x="4383938" y="4041648"/>
            <a:ext cx="3423818" cy="1755648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621682" y="4279392"/>
            <a:ext cx="548640" cy="548640"/>
          </a:xfrm>
          <a:prstGeom prst="ellipse">
            <a:avLst/>
          </a:prstGeom>
          <a:solidFill>
            <a:srgbClr val="BC473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329" y="4422038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80050" y="4261104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disclosure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639970" y="4937760"/>
            <a:ext cx="291175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3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responsible use — distinguish low-risk assistance from high-risk substitution.</a:t>
            </a:r>
            <a:endParaRPr lang="en-US" sz="1130" dirty="0"/>
          </a:p>
        </p:txBody>
      </p:sp>
      <p:sp>
        <p:nvSpPr>
          <p:cNvPr id="31" name="Shape 24"/>
          <p:cNvSpPr/>
          <p:nvPr/>
        </p:nvSpPr>
        <p:spPr>
          <a:xfrm>
            <a:off x="8127797" y="4041648"/>
            <a:ext cx="3423818" cy="1755648"/>
          </a:xfrm>
          <a:prstGeom prst="rect">
            <a:avLst/>
          </a:prstGeom>
          <a:solidFill>
            <a:srgbClr val="F1F2F4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65541" y="4279392"/>
            <a:ext cx="548640" cy="548640"/>
          </a:xfrm>
          <a:prstGeom prst="ellipse">
            <a:avLst/>
          </a:prstGeom>
          <a:solidFill>
            <a:srgbClr val="1F7A74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8187" y="4422038"/>
            <a:ext cx="263347" cy="26334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23909" y="4261104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32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expertise &amp; ownership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8383829" y="4937760"/>
            <a:ext cx="291175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30" dirty="0">
                <a:solidFill>
                  <a:srgbClr val="5E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cognitive engagement so AI does not erode the skills that define expertise.</a:t>
            </a:r>
            <a:endParaRPr lang="en-US" sz="1130" dirty="0"/>
          </a:p>
        </p:txBody>
      </p:sp>
      <p:sp>
        <p:nvSpPr>
          <p:cNvPr id="36" name="Text 28"/>
          <p:cNvSpPr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Auto-Research  ·  A Survey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0820095" y="6437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2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produces research artifacts —</a:t>
            </a:r>
            <a:endParaRPr lang="en-US" sz="33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verifying their meaning is the hard part.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39572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6C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lifecycle, plausible outputs can conceal deeper failures. The core bottleneck is not generation, but maintaining novelty, faithfulness, reproducibility, and accountability.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6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DESIGN PRINCIPLES FOR RELIABLE AI-ASSISTED RESEARCH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2508428" cy="1691640"/>
          </a:xfrm>
          <a:prstGeom prst="rect">
            <a:avLst/>
          </a:prstGeom>
          <a:solidFill>
            <a:srgbClr val="2A2F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611880"/>
            <a:ext cx="2508428" cy="73152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3776472"/>
            <a:ext cx="206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4233672"/>
            <a:ext cx="20695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Maintain provenance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9536" y="4562856"/>
            <a:ext cx="20695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ideas, evidence, code, claims, reviews, and rebuttals across the full lifecycle.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41116" y="3611880"/>
            <a:ext cx="2508428" cy="1691640"/>
          </a:xfrm>
          <a:prstGeom prst="rect">
            <a:avLst/>
          </a:prstGeom>
          <a:solidFill>
            <a:srgbClr val="2A2F3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41116" y="3611880"/>
            <a:ext cx="2508428" cy="73152"/>
          </a:xfrm>
          <a:prstGeom prst="rect">
            <a:avLst/>
          </a:prstGeom>
          <a:solidFill>
            <a:srgbClr val="2D63A6"/>
          </a:solidFill>
          <a:ln/>
        </p:spPr>
      </p:sp>
      <p:sp>
        <p:nvSpPr>
          <p:cNvPr id="13" name="Text 11"/>
          <p:cNvSpPr/>
          <p:nvPr/>
        </p:nvSpPr>
        <p:spPr>
          <a:xfrm>
            <a:off x="3660572" y="3776472"/>
            <a:ext cx="206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60572" y="4233672"/>
            <a:ext cx="20695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 in execution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60572" y="4562856"/>
            <a:ext cx="20695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purely textual self-judgment with retrieval and execution-verified signals.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42152" y="3611880"/>
            <a:ext cx="2508428" cy="1691640"/>
          </a:xfrm>
          <a:prstGeom prst="rect">
            <a:avLst/>
          </a:prstGeom>
          <a:solidFill>
            <a:srgbClr val="2A2F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2152" y="3611880"/>
            <a:ext cx="2508428" cy="73152"/>
          </a:xfrm>
          <a:prstGeom prst="rect">
            <a:avLst/>
          </a:prstGeom>
          <a:solidFill>
            <a:srgbClr val="6B4A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61608" y="3776472"/>
            <a:ext cx="206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4A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61608" y="4233672"/>
            <a:ext cx="20695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Checkpoint the boundaries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61608" y="4562856"/>
            <a:ext cx="20695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human review at phase hand-offs, where errors are most likely to propagate.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43187" y="3611880"/>
            <a:ext cx="2508428" cy="1691640"/>
          </a:xfrm>
          <a:prstGeom prst="rect">
            <a:avLst/>
          </a:prstGeom>
          <a:solidFill>
            <a:srgbClr val="2A2F3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43187" y="3611880"/>
            <a:ext cx="2508428" cy="73152"/>
          </a:xfrm>
          <a:prstGeom prst="rect">
            <a:avLst/>
          </a:prstGeom>
          <a:solidFill>
            <a:srgbClr val="BE7C18"/>
          </a:solidFill>
          <a:ln/>
        </p:spPr>
      </p:sp>
      <p:sp>
        <p:nvSpPr>
          <p:cNvPr id="23" name="Text 21"/>
          <p:cNvSpPr/>
          <p:nvPr/>
        </p:nvSpPr>
        <p:spPr>
          <a:xfrm>
            <a:off x="9262643" y="3776472"/>
            <a:ext cx="206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7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62643" y="4233672"/>
            <a:ext cx="20695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AI use transparent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62643" y="4562856"/>
            <a:ext cx="20695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involvement so readers and institutions can assess how work was produced.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577840"/>
            <a:ext cx="10911535" cy="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705856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E7E7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credible path forward is human-governed AI-assisted research — amplifying human creativity and rigor, not scaling the production of plausible but unreliable artifacts.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808415" y="56875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68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worldbench.github.io/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68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awesome-ai-auto-research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Auto-Research — A Survey</dc:title>
  <dc:subject>PptxGenJS Presentation</dc:subject>
  <dc:creator>Awesome AI Auto-Research Team</dc:creator>
  <cp:lastModifiedBy>Awesome AI Auto-Research Team</cp:lastModifiedBy>
  <cp:revision>1</cp:revision>
  <dcterms:created xsi:type="dcterms:W3CDTF">2026-05-18T23:19:40Z</dcterms:created>
  <dcterms:modified xsi:type="dcterms:W3CDTF">2026-05-18T23:19:40Z</dcterms:modified>
</cp:coreProperties>
</file>